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charts/chart2.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0f70bf9b-16fa-e0f9-7ad0-2879c9de8702}">
          <p14:sldIdLst>
            <p14:sldId id="256"/>
            <p14:sldId id="257"/>
            <p14:sldId id="258"/>
          </p14:sldIdLst>
        </p14:section>
        <p14:section name="All 30 papers" id="{70dd98b9-1677-6089-5b00-eeeb87bf3037}">
          <p14:sldIdLst>
            <p14:sldId id="259"/>
            <p14:sldId id="260"/>
            <p14:sldId id="261"/>
          </p14:sldIdLst>
        </p14:section>
        <p14:section name="Base papers" id="{44f3d136-a4db-aada-272c-a3fa8eea78f1}">
          <p14:sldIdLst>
            <p14:sldId id="262"/>
            <p14:sldId id="263"/>
            <p14:sldId id="264"/>
            <p14:sldId id="265"/>
            <p14:sldId id="266"/>
            <p14:sldId id="267"/>
            <p14:sldId id="268"/>
            <p14:sldId id="269"/>
          </p14:sldIdLst>
        </p14:section>
        <p14:section name="Findings and objectives" id="{9f0ebeeb-5c7c-12df-6db3-17b9c6f18a67}">
          <p14:sldIdLst>
            <p14:sldId id="270"/>
            <p14:sldId id="271"/>
            <p14:sldId id="272"/>
            <p14:sldId id="2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5295A"/>
                </a:solidFill>
                <a:latin typeface="+mn-lt"/>
              </a:defRPr>
            </a:pPr>
            <a:r>
              <a:rPr sz="1400" b="0" i="0" u="none" strike="noStrike">
                <a:solidFill>
                  <a:srgbClr val="15295A"/>
                </a:solidFill>
                <a:latin typeface="+mn-lt"/>
              </a:rPr>
              <a:t>What kind of paper</a:t>
            </a:r>
          </a:p>
        </c:rich>
      </c:tx>
      <c:layout/>
      <c:overlay val="0"/>
    </c:title>
    <c:autoTitleDeleted val="0"/>
    <c:plotArea>
      <c:layout/>
      <c:barChart>
        <c:barDir val="bar"/>
        <c:grouping val="clustered"/>
        <c:varyColors val="0"/>
        <c:ser>
          <c:idx val="0"/>
          <c:order val="0"/>
          <c:tx>
            <c:strRef>
              <c:f>Sheet1!$B$1</c:f>
              <c:strCache>
                <c:ptCount val="1"/>
                <c:pt idx="0">
                  <c:v>Papers</c:v>
                </c:pt>
              </c:strCache>
            </c:strRef>
          </c:tx>
          <c:spPr>
            <a:solidFill>
              <a:srgbClr val="2F63A8"/>
            </a:solidFill>
            <a:effectLst/>
          </c:spPr>
          <c:invertIfNegative val="0"/>
          <c:dLbls>
            <c:numFmt formatCode="#,##0" sourceLinked="0"/>
            <c:txPr>
              <a:bodyPr/>
              <a:lstStyle/>
              <a:p>
                <a:pPr>
                  <a:defRPr b="0" i="0" strike="noStrike" sz="1200" u="none">
                    <a:solidFill>
                      <a:srgbClr val="1B2944"/>
                    </a:solidFill>
                    <a:latin typeface="+mn-lt"/>
                  </a:defRPr>
                </a:pPr>
              </a:p>
            </c:txPr>
            <c:showLegendKey val="0"/>
            <c:showVal val="1"/>
            <c:showCatName val="0"/>
            <c:showSerName val="0"/>
            <c:showPercent val="0"/>
            <c:showBubbleSize val="0"/>
            <c:showLeaderLines val="0"/>
          </c:dLbls>
          <c:cat>
            <c:multiLvlStrRef>
              <c:f>Sheet1!$A$2:$A$6</c:f>
              <c:multiLvlStrCache>
                <c:ptCount val="5"/>
                <c:lvl>
                  <c:pt idx="0">
                    <c:v>Experimental</c:v>
                  </c:pt>
                  <c:pt idx="1">
                    <c:v>Review</c:v>
                  </c:pt>
                  <c:pt idx="2">
                    <c:v>Conceptual</c:v>
                  </c:pt>
                  <c:pt idx="3">
                    <c:v>Tool</c:v>
                  </c:pt>
                  <c:pt idx="4">
                    <c:v>Standard</c:v>
                  </c:pt>
                </c:lvl>
              </c:multiLvlStrCache>
            </c:multiLvlStrRef>
          </c:cat>
          <c:val>
            <c:numRef>
              <c:f>Sheet1!$B$2:$B$6</c:f>
              <c:numCache>
                <c:formatCode>General</c:formatCode>
                <c:ptCount val="5"/>
                <c:pt idx="0">
                  <c:v>16</c:v>
                </c:pt>
                <c:pt idx="1">
                  <c:v>8</c:v>
                </c:pt>
                <c:pt idx="2">
                  <c:v>3</c:v>
                </c:pt>
                <c:pt idx="3">
                  <c:v>2</c:v>
                </c:pt>
                <c:pt idx="4">
                  <c:v>1</c:v>
                </c:pt>
              </c:numCache>
            </c:numRef>
          </c:val>
        </c:ser>
        <c:dLbls>
          <c:numFmt formatCode="#,##0" sourceLinked="0"/>
          <c:txPr>
            <a:bodyPr/>
            <a:lstStyle/>
            <a:p>
              <a:pPr>
                <a:defRPr b="0" i="0" strike="noStrike" sz="1200" u="none">
                  <a:solidFill>
                    <a:srgbClr val="1B2944"/>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B2944"/>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Best reported accuracy (%)</c:v>
                </c:pt>
              </c:strCache>
            </c:strRef>
          </c:tx>
          <c:spPr>
            <a:solidFill>
              <a:srgbClr val="6F97C8"/>
            </a:solidFill>
            <a:effectLst/>
          </c:spPr>
          <c:invertIfNegative val="0"/>
          <c:dLbls>
            <c:numFmt formatCode="0.0" sourceLinked="0"/>
            <c:txPr>
              <a:bodyPr/>
              <a:lstStyle/>
              <a:p>
                <a:pPr>
                  <a:defRPr b="0" i="0" strike="noStrike" sz="1100" u="none">
                    <a:solidFill>
                      <a:srgbClr val="1B2944"/>
                    </a:solidFill>
                    <a:latin typeface="+mn-lt"/>
                  </a:defRPr>
                </a:pPr>
              </a:p>
            </c:txPr>
            <c:showLegendKey val="0"/>
            <c:showVal val="1"/>
            <c:showCatName val="0"/>
            <c:showSerName val="0"/>
            <c:showPercent val="0"/>
            <c:showBubbleSize val="0"/>
            <c:showLeaderLines val="0"/>
          </c:dLbls>
          <c:cat>
            <c:multiLvlStrRef>
              <c:f>Sheet1!$A$2:$A$14</c:f>
              <c:multiLvlStrCache>
                <c:ptCount val="13"/>
                <c:lvl>
                  <c:pt idx="0">
                    <c:v>Bhong &amp; Kulkarni, 2025 (#4)</c:v>
                  </c:pt>
                  <c:pt idx="1">
                    <c:v>Kolte &amp; Gupta, 2025 (#6)</c:v>
                  </c:pt>
                  <c:pt idx="2">
                    <c:v>Chandankhede et al., 2025 (#7)</c:v>
                  </c:pt>
                  <c:pt idx="3">
                    <c:v>Sonavane et al., 2024 (#11)</c:v>
                  </c:pt>
                  <c:pt idx="4">
                    <c:v>Joseph &amp; George, 2024 (#12)</c:v>
                  </c:pt>
                  <c:pt idx="5">
                    <c:v>Kundaikar et al., 2024 (#13)</c:v>
                  </c:pt>
                  <c:pt idx="6">
                    <c:v>Mandke et al., 2024 (#14)</c:v>
                  </c:pt>
                  <c:pt idx="7">
                    <c:v>Varpe &amp; Sakhare, 2023 (#17)</c:v>
                  </c:pt>
                  <c:pt idx="8">
                    <c:v>Lohkare et al., 2023 (#18)</c:v>
                  </c:pt>
                  <c:pt idx="9">
                    <c:v>Unknown authors, 2023 (#19)</c:v>
                  </c:pt>
                  <c:pt idx="10">
                    <c:v>Ekbote et al., 2022 (#21)</c:v>
                  </c:pt>
                  <c:pt idx="11">
                    <c:v>Anam &amp; Gupta, 2015 (#26)</c:v>
                  </c:pt>
                  <c:pt idx="12">
                    <c:v>Kulkarni et al., 2014 (#28)</c:v>
                  </c:pt>
                </c:lvl>
              </c:multiLvlStrCache>
            </c:multiLvlStrRef>
          </c:cat>
          <c:val>
            <c:numRef>
              <c:f>Sheet1!$B$2:$B$14</c:f>
              <c:numCache>
                <c:formatCode>General</c:formatCode>
                <c:ptCount val="13"/>
                <c:pt idx="0">
                  <c:v>89.5</c:v>
                </c:pt>
                <c:pt idx="1">
                  <c:v>94.6</c:v>
                </c:pt>
                <c:pt idx="2">
                  <c:v>97.4</c:v>
                </c:pt>
                <c:pt idx="3">
                  <c:v>90.4</c:v>
                </c:pt>
                <c:pt idx="4">
                  <c:v>88.1</c:v>
                </c:pt>
                <c:pt idx="5">
                  <c:v>94.7</c:v>
                </c:pt>
                <c:pt idx="6">
                  <c:v>96</c:v>
                </c:pt>
                <c:pt idx="7">
                  <c:v>88</c:v>
                </c:pt>
                <c:pt idx="8">
                  <c:v>87.3</c:v>
                </c:pt>
                <c:pt idx="9">
                  <c:v>96.6</c:v>
                </c:pt>
                <c:pt idx="10">
                  <c:v>92</c:v>
                </c:pt>
                <c:pt idx="11">
                  <c:v>72.6</c:v>
                </c:pt>
                <c:pt idx="12">
                  <c:v>86.7</c:v>
                </c:pt>
              </c:numCache>
            </c:numRef>
          </c:val>
        </c:ser>
        <c:dLbls>
          <c:numFmt formatCode="0.0" sourceLinked="0"/>
          <c:txPr>
            <a:bodyPr/>
            <a:lstStyle/>
            <a:p>
              <a:pPr>
                <a:defRPr b="0" i="0" strike="noStrike" sz="1100" u="none">
                  <a:solidFill>
                    <a:srgbClr val="1B2944"/>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1B2944"/>
                </a:solidFill>
                <a:latin typeface="+mn-lt"/>
              </a:defRPr>
            </a:pPr>
            <a:endParaRPr lang="en-US"/>
          </a:p>
        </c:txPr>
        <c:crossAx val="2094734552"/>
        <c:crosses val="autoZero"/>
        <c:auto val="1"/>
        <c:lblAlgn val="ctr"/>
        <c:noMultiLvlLbl val="1"/>
      </c:catAx>
      <c:valAx>
        <c:axId val="2094734552"/>
        <c:scaling>
          <c:orientation val="minMax"/>
          <c:max val="110"/>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read 30 papers on Modi script recognition. In this talk we go through all of them quickly, then spend more time on the 7 base papers our objectives come from.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Modi was used for Marathi for centuries, mostly for land records and letters. Very few people can read it now. These three things are why automatic reading is still hard.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of the papers are experiments, about a third are reviews, and a few are proposals or tools. We only counted papers we could read in full.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and the next two cover every paper in one line each. The highlighted ones are our base papers, which we go through in detail after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Notice how many papers report numbers that don't match each other, or use data nobody else can get.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older papers, from 2011 to 2015, used classical methods on tiny datasets. Paper 28 is where we got the idea to use Zernike moments.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picked these 7 because each one either does something we build on, or leaves a gap we try to fill.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Trained a small CNN and VGG16 on the public set of 46 Modi letters, 90 images each, plus some of their own handwriting. VGG16 scores 8 points higher on training data than on validation data, so it is partly memorising. The conclusion also says 94.3%, which doesn't match the results table. This benchmark size (about 72 training images per letter) is the first point in our CNN comparison.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Added an attention layer to a CNN so it focuses on the strokes that tell similar letters apart. They say look-alike letters are the hardest part but never list which ones. The abstract and conclusion give different accuracies. Look-alike letters are the real problem, so we list the most confused pairs and use SHAP to see what separates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Tried to recognise all 360 letter and vowel combinations with ResNet152, using about 21 images per class. Both numbers can't be right at the same time. The authors themselves say the model overfits badly. Deep models need a lot of data, so we test a CNN at different data sizes instead of trusting one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Compared KNN, SVM, CNN, VGG16 and ResNet on the same 4,140 Modi images. KNN and SVM were given raw pixels with no features at all, so they never had a fair chance against the CNN. Give the classical models proper features first, then compare them with a CNN.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Took features from a VGG16 network and classified them with Random Forest and XGBoost. The features come from a deep network, so nobody can explain the decisions. Each model is also used on its own. We use Random Forest and XGBoost too, but on handcrafted features, add SVM, and try stacking all three.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Cleaned the images with Otsu thresholding and recognised them with a Kohonen neural network. The data is tiny and private. Letters with similar shapes got the worst results. Otsu thresholding is the main cleaning step in our pipeline, and look-alike letters need special attention.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Compared two shape features on handwritten Modi digits, using a simple distance-based classifier. Only 100 images and 30 test samples, and digits only, no letters. Zernike moments are one of our three features, tested on all 57 characters.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best numbers each paper reports. They look high, but they are measured in very different ways, so a 96% in one paper and an 89% in another don't tell us which method is better.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of these gaps turns into one of our objectives on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four objectives in our synopsis. Each one comes straight from a gap in the base papers.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Questions are welcome. The PDFs and the survey sheet are both in the shared Drive folder.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377440"/>
            <a:ext cx="10698480" cy="1097280"/>
          </a:xfrm>
          <a:prstGeom prst="rect">
            <a:avLst/>
          </a:prstGeom>
          <a:noFill/>
          <a:ln/>
        </p:spPr>
        <p:txBody>
          <a:bodyPr wrap="square" rtlCol="0"/>
          <a:lstStyle>
            <a:lvl1pPr indent="0" marL="0">
              <a:buNone/>
              <a:defRPr lang="en-US" sz="4000" b="1" dirty="0">
                <a:solidFill>
                  <a:schemeClr val="bg1"/>
                </a:solidFill>
                <a:latin typeface="Cambria" pitchFamily="34" charset="0"/>
                <a:ea typeface="Cambria" pitchFamily="34" charset="-122"/>
                <a:cs typeface="Cambria" pitchFamily="34" charset="-120"/>
              </a:defRPr>
            </a:lvl1pPr>
          </a:lstStyle>
          <a:p>
            <a:pPr indent="0" marL="0">
              <a:buNone/>
            </a:pPr>
            <a:endParaRPr lang="en-US" sz="4000" dirty="0"/>
          </a:p>
        </p:txBody>
      </p:sp>
      <p:sp>
        <p:nvSpPr>
          <p:cNvPr id="3" name="Text 0"/>
          <p:cNvSpPr/>
          <p:nvPr>
            <p:ph idx="101" type="body" hasCustomPrompt="1"/>
          </p:nvPr>
        </p:nvSpPr>
        <p:spPr>
          <a:xfrm>
            <a:off x="731520" y="3566160"/>
            <a:ext cx="10698480" cy="914400"/>
          </a:xfrm>
          <a:prstGeom prst="rect">
            <a:avLst/>
          </a:prstGeom>
          <a:noFill/>
          <a:ln/>
        </p:spPr>
        <p:txBody>
          <a:bodyPr wrap="square" rtlCol="0"/>
          <a:lstStyle>
            <a:lvl1pPr indent="0" marL="0">
              <a:buNone/>
              <a:defRPr lang="en-US" sz="1800" dirty="0">
                <a:solidFill>
                  <a:schemeClr val="accent6"/>
                </a:solidFill>
              </a:defRPr>
            </a:lvl1pPr>
          </a:lstStyle>
          <a:p>
            <a:pPr indent="0" marL="0">
              <a:buNone/>
            </a:pPr>
            <a:endParaRPr lang="en-US" sz="18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nvSpPr>
        <p:spPr>
          <a:xfrm>
            <a:off x="548640" y="6400800"/>
            <a:ext cx="8229600" cy="274320"/>
          </a:xfrm>
          <a:prstGeom prst="rect">
            <a:avLst/>
          </a:prstGeom>
          <a:noFill/>
          <a:ln/>
        </p:spPr>
        <p:txBody>
          <a:bodyPr wrap="square" rtlCol="0" anchor="ctr"/>
          <a:lstStyle/>
          <a:p>
            <a:pPr indent="0" marL="0">
              <a:buNone/>
            </a:pPr>
            <a:r>
              <a:rPr lang="en-US" sz="1000" dirty="0">
                <a:solidFill>
                  <a:schemeClr val="tx2"/>
                </a:solidFill>
              </a:rPr>
              <a:t>TY-A2  |  Literature review: handwritten Modi character recognition</a:t>
            </a:r>
            <a:endParaRPr lang="en-US" sz="1000" dirty="0"/>
          </a:p>
        </p:txBody>
      </p:sp>
      <p:sp>
        <p:nvSpPr>
          <p:cNvPr id="3" name="Text 1"/>
          <p:cNvSpPr/>
          <p:nvPr>
            <p:ph idx="101" type="title" hasCustomPrompt="1"/>
          </p:nvPr>
        </p:nvSpPr>
        <p:spPr>
          <a:xfrm>
            <a:off x="548640" y="320040"/>
            <a:ext cx="11064240" cy="731520"/>
          </a:xfrm>
          <a:prstGeom prst="rect">
            <a:avLst/>
          </a:prstGeom>
          <a:noFill/>
          <a:ln/>
        </p:spPr>
        <p:txBody>
          <a:bodyPr wrap="square" rtlCol="0"/>
          <a:lstStyle>
            <a:lvl1pPr indent="0" marL="0">
              <a:buNone/>
              <a:defRPr lang="en-US" sz="3000" b="1" dirty="0">
                <a:solidFill>
                  <a:schemeClr val="tx2"/>
                </a:solidFill>
                <a:latin typeface="Cambria" pitchFamily="34" charset="0"/>
                <a:ea typeface="Cambria" pitchFamily="34" charset="-122"/>
                <a:cs typeface="Cambria" pitchFamily="34" charset="-120"/>
              </a:defRPr>
            </a:lvl1pPr>
          </a:lstStyle>
          <a:p>
            <a:pPr indent="0" marL="0">
              <a:buNone/>
            </a:pPr>
            <a:endParaRPr lang="en-US" sz="30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4.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4.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hyperlink" Target="https://drive.google.com/file/d/1ox3mpfanF_30fHH-I44gOKh4O9uR79nD/view?usp=drive_link" TargetMode="External"/><Relationship Id="rId2" Type="http://schemas.openxmlformats.org/officeDocument/2006/relationships/hyperlink" Target="https://drive.google.com/file/d/1ZVtjOuP-HOT7TEMeMz_jOey3h0XXvhPD/view?usp=drive_link" TargetMode="External"/><Relationship Id="rId3" Type="http://schemas.openxmlformats.org/officeDocument/2006/relationships/hyperlink" Target="https://drive.google.com/file/d/1xIEbWyKXCiElwq_afIQJb3PV_aNpWrTe/view?usp=drive_link" TargetMode="External"/><Relationship Id="rId4" Type="http://schemas.openxmlformats.org/officeDocument/2006/relationships/hyperlink" Target="https://drive.google.com/file/d/1MVf2DNKJMDea1oef1b630xe91zuuPy4S/view?usp=drive_link" TargetMode="External"/><Relationship Id="rId5" Type="http://schemas.openxmlformats.org/officeDocument/2006/relationships/hyperlink" Target="https://drive.google.com/file/d/1iw2dTbi6mEMfse4VL3nj0N90Bz-JJIx8/view?usp=drive_link" TargetMode="External"/><Relationship Id="rId6" Type="http://schemas.openxmlformats.org/officeDocument/2006/relationships/hyperlink" Target="https://drive.google.com/file/d/1NZ3rY-qkA8b1TcicNiu0BjBTLWwEj1aM/view?usp=drive_link" TargetMode="External"/><Relationship Id="rId7" Type="http://schemas.openxmlformats.org/officeDocument/2006/relationships/hyperlink" Target="https://drive.google.com/file/d/1U7zROdFpBjG0FY2Cwzm5rczjE79BnuB-/view?usp=drive_link" TargetMode="External"/><Relationship Id="rId8" Type="http://schemas.openxmlformats.org/officeDocument/2006/relationships/hyperlink" Target="https://drive.google.com/file/d/1xxKCw6SugvxgJCTPpoMVlXFaSKJszheb/view?usp=drive_link" TargetMode="External"/><Relationship Id="rId9" Type="http://schemas.openxmlformats.org/officeDocument/2006/relationships/hyperlink" Target="https://drive.google.com/file/d/1WmC030_SR2mGc3kL_CkXISAltubP6Ic0/view?usp=drive_link" TargetMode="External"/><Relationship Id="rId10" Type="http://schemas.openxmlformats.org/officeDocument/2006/relationships/hyperlink" Target="https://drive.google.com/file/d/10dMtnT7thnLXyTBj8vXl-nIDGlebwvIX/view?usp=drive_link" TargetMode="External"/><Relationship Id="rId11" Type="http://schemas.openxmlformats.org/officeDocument/2006/relationships/slideLayout" Target="../slideLayouts/slideLayout4.xml"/><Relationship Id="rId1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hyperlink" Target="https://drive.google.com/file/d/1BETcTeetbXDFWz4UV2EuvH35sMSgej7w/view?usp=drive_link" TargetMode="External"/><Relationship Id="rId2" Type="http://schemas.openxmlformats.org/officeDocument/2006/relationships/hyperlink" Target="https://drive.google.com/file/d/1fDNVfyweJxC7wPTdlXCx4JyCZoj5rZGF/view?usp=drive_link" TargetMode="External"/><Relationship Id="rId3" Type="http://schemas.openxmlformats.org/officeDocument/2006/relationships/hyperlink" Target="https://drive.google.com/file/d/1W41qvKu5HWFhGkhjQ2kwVSAZblpRPJwB/view?usp=drive_link" TargetMode="External"/><Relationship Id="rId4" Type="http://schemas.openxmlformats.org/officeDocument/2006/relationships/hyperlink" Target="https://drive.google.com/file/d/1RWlQ9FzKuy8_4o90BnGnJfzd00b5r9Bx/view?usp=drive_link" TargetMode="External"/><Relationship Id="rId5" Type="http://schemas.openxmlformats.org/officeDocument/2006/relationships/hyperlink" Target="https://drive.google.com/file/d/1BGKX8H3aL7Sw_krJwguUXAKkZFcAxVMy/view?usp=drive_link" TargetMode="External"/><Relationship Id="rId6" Type="http://schemas.openxmlformats.org/officeDocument/2006/relationships/hyperlink" Target="https://drive.google.com/file/d/1KYidIq9ZBiFro8qS-aXFfofvZ7jRiBvc/view?usp=drive_link" TargetMode="External"/><Relationship Id="rId7" Type="http://schemas.openxmlformats.org/officeDocument/2006/relationships/hyperlink" Target="https://drive.google.com/file/d/1jyIuHDoBrZ-eMnBJoan1cfzL3lvOFTMy/view?usp=drive_link" TargetMode="External"/><Relationship Id="rId8" Type="http://schemas.openxmlformats.org/officeDocument/2006/relationships/hyperlink" Target="https://drive.google.com/file/d/1wEjFZNEQ9N2Sbsbn8loeTEZ6qpnvFRXq/view?usp=drive_link" TargetMode="External"/><Relationship Id="rId9" Type="http://schemas.openxmlformats.org/officeDocument/2006/relationships/hyperlink" Target="https://drive.google.com/file/d/1RLvXOOCp0C_BJXNY7kekxiVO60MmtwHF/view?usp=drive_link" TargetMode="External"/><Relationship Id="rId10" Type="http://schemas.openxmlformats.org/officeDocument/2006/relationships/hyperlink" Target="https://drive.google.com/file/d/1rsn5AJEjbEK3X__JxaAMJQ7pjc_gmNml/view?usp=drive_link" TargetMode="External"/><Relationship Id="rId11" Type="http://schemas.openxmlformats.org/officeDocument/2006/relationships/slideLayout" Target="../slideLayouts/slideLayout4.xml"/><Relationship Id="rId1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hyperlink" Target="https://drive.google.com/file/d/1qXUwvijQoq5t8v2GfDWO3HT7S6EInmi2/view?usp=drive_link" TargetMode="External"/><Relationship Id="rId2" Type="http://schemas.openxmlformats.org/officeDocument/2006/relationships/hyperlink" Target="https://drive.google.com/file/d/1cCfWcWeVsl3ZzsYOooU6iVNLQZSVs3my/view?usp=drive_link" TargetMode="External"/><Relationship Id="rId3" Type="http://schemas.openxmlformats.org/officeDocument/2006/relationships/hyperlink" Target="https://drive.google.com/file/d/17rYD5HrNgsWyqdh1eSPmAymZss1AHW5B/view?usp=drive_link" TargetMode="External"/><Relationship Id="rId4" Type="http://schemas.openxmlformats.org/officeDocument/2006/relationships/hyperlink" Target="https://drive.google.com/file/d/1RBR1pdz762jXLJpUxWNKjcxLFLml24w1/view?usp=drive_link" TargetMode="External"/><Relationship Id="rId5" Type="http://schemas.openxmlformats.org/officeDocument/2006/relationships/hyperlink" Target="https://drive.google.com/file/d/1I-rKZfMdEExDbdStqdfwJ8x5GxTFQiMq/view?usp=drive_link" TargetMode="External"/><Relationship Id="rId6" Type="http://schemas.openxmlformats.org/officeDocument/2006/relationships/hyperlink" Target="https://drive.google.com/file/d/1QXS084xRD2H1IKdQHM_8haOl41oQI_RI/view?usp=drive_link" TargetMode="External"/><Relationship Id="rId7" Type="http://schemas.openxmlformats.org/officeDocument/2006/relationships/hyperlink" Target="https://drive.google.com/file/d/16FVa_e7ow40qmgYiSuPNy_l4AirV_f3t/view?usp=drive_link" TargetMode="External"/><Relationship Id="rId8" Type="http://schemas.openxmlformats.org/officeDocument/2006/relationships/hyperlink" Target="https://drive.google.com/file/d/15-3xfLp2ngTmFOScLksUdC8gKVkXtDZt/view?usp=drive_link" TargetMode="External"/><Relationship Id="rId9" Type="http://schemas.openxmlformats.org/officeDocument/2006/relationships/hyperlink" Target="https://drive.google.com/file/d/1f3Gaj1ieAtriVhlhyTw7GfypydWs6iU6/view?usp=drive_link" TargetMode="External"/><Relationship Id="rId10" Type="http://schemas.openxmlformats.org/officeDocument/2006/relationships/hyperlink" Target="https://drive.google.com/file/d/1SImTX6CKRNwoPteMuyNksRmhEvGWHv3_/view?usp=drive_link" TargetMode="External"/><Relationship Id="rId11" Type="http://schemas.openxmlformats.org/officeDocument/2006/relationships/slideLayout" Target="../slideLayouts/slideLayout4.xml"/><Relationship Id="rId1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hyperlink" Target="https://drive.google.com/file/d/1MVf2DNKJMDea1oef1b630xe91zuuPy4S/view?usp=drive_link" TargetMode="External"/><Relationship Id="rId2" Type="http://schemas.openxmlformats.org/officeDocument/2006/relationships/slideLayout" Target="../slideLayouts/slideLayout4.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hyperlink" Target="https://drive.google.com/file/d/1NZ3rY-qkA8b1TcicNiu0BjBTLWwEj1aM/view?usp=drive_link" TargetMode="External"/><Relationship Id="rId2" Type="http://schemas.openxmlformats.org/officeDocument/2006/relationships/slideLayout" Target="../slideLayouts/slideLayout4.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hyperlink" Target="https://drive.google.com/file/d/1U7zROdFpBjG0FY2Cwzm5rczjE79BnuB-/view?usp=drive_link" TargetMode="External"/><Relationship Id="rId2" Type="http://schemas.openxmlformats.org/officeDocument/2006/relationships/slideLayout" Target="../slideLayouts/slideLayout4.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hyperlink" Target="https://drive.google.com/file/d/1RWlQ9FzKuy8_4o90BnGnJfzd00b5r9Bx/view?usp=drive_link" TargetMode="External"/><Relationship Id="rId2" Type="http://schemas.openxmlformats.org/officeDocument/2006/relationships/slideLayout" Target="../slideLayouts/slideLayout4.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hyperlink" Target="https://drive.google.com/file/d/1qXUwvijQoq5t8v2GfDWO3HT7S6EInmi2/view?usp=drive_link" TargetMode="External"/><Relationship Id="rId2" Type="http://schemas.openxmlformats.org/officeDocument/2006/relationships/slideLayout" Target="../slideLayouts/slideLayout4.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hyperlink" Target="https://drive.google.com/file/d/1QXS084xRD2H1IKdQHM_8haOl41oQI_RI/view?usp=drive_link" TargetMode="External"/><Relationship Id="rId2" Type="http://schemas.openxmlformats.org/officeDocument/2006/relationships/slideLayout" Target="../slideLayouts/slideLayout4.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hyperlink" Target="https://drive.google.com/file/d/15-3xfLp2ngTmFOScLksUdC8gKVkXtDZt/view?usp=drive_link" TargetMode="External"/><Relationship Id="rId2" Type="http://schemas.openxmlformats.org/officeDocument/2006/relationships/slideLayout" Target="../slideLayouts/slideLayout4.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4.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hyperlink" Target="https://drive.google.com/drive/folders/11c3iSFF7fEyqKr5DA83TK4kfm_kQNG54" TargetMode="External"/><Relationship Id="rId2" Type="http://schemas.openxmlformats.org/officeDocument/2006/relationships/image" Target="../media/image-18-1.png"/><Relationship Id="rId3" Type="http://schemas.openxmlformats.org/officeDocument/2006/relationships/slideLayout" Target="../slideLayouts/slideLayout2.xml"/><Relationship Id="rId4"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731520" y="822960"/>
            <a:ext cx="10698480" cy="548640"/>
          </a:xfrm>
          <a:prstGeom prst="rect">
            <a:avLst/>
          </a:prstGeom>
          <a:noFill/>
          <a:ln/>
        </p:spPr>
        <p:txBody>
          <a:bodyPr wrap="square" lIns="0" tIns="0" rIns="0" bIns="0" rtlCol="0" anchor="ctr"/>
          <a:lstStyle/>
          <a:p>
            <a:pPr indent="0" marL="0">
              <a:buNone/>
            </a:pPr>
            <a:r>
              <a:rPr lang="en-US" sz="2000" dirty="0">
                <a:solidFill>
                  <a:schemeClr val="accent6"/>
                </a:solidFill>
              </a:rPr>
              <a:t>Literature Review</a:t>
            </a:r>
            <a:endParaRPr lang="en-US" sz="2000" dirty="0"/>
          </a:p>
        </p:txBody>
      </p:sp>
      <p:sp>
        <p:nvSpPr>
          <p:cNvPr id="3" name="Text 1"/>
          <p:cNvSpPr txBox="1"/>
          <p:nvPr/>
        </p:nvSpPr>
        <p:spPr>
          <a:xfrm>
            <a:off x="731520" y="1371600"/>
            <a:ext cx="10698480" cy="914400"/>
          </a:xfrm>
          <a:prstGeom prst="rect">
            <a:avLst/>
          </a:prstGeom>
          <a:noFill/>
          <a:ln/>
        </p:spPr>
        <p:txBody>
          <a:bodyPr wrap="square" lIns="0" tIns="0" rIns="0" bIns="0" rtlCol="0" anchor="ctr"/>
          <a:lstStyle/>
          <a:p>
            <a:pPr indent="0" marL="0">
              <a:buNone/>
            </a:pPr>
            <a:r>
              <a:rPr lang="en-US" sz="4000" b="1" dirty="0">
                <a:solidFill>
                  <a:schemeClr val="bg1"/>
                </a:solidFill>
                <a:latin typeface="Cambria" pitchFamily="34" charset="0"/>
                <a:ea typeface="Cambria" pitchFamily="34" charset="-122"/>
                <a:cs typeface="Cambria" pitchFamily="34" charset="-120"/>
              </a:rPr>
              <a:t>Handwritten Modi Character Recognition</a:t>
            </a:r>
            <a:endParaRPr lang="en-US" sz="4000" dirty="0"/>
          </a:p>
        </p:txBody>
      </p:sp>
      <p:sp>
        <p:nvSpPr>
          <p:cNvPr id="4" name="Text 2"/>
          <p:cNvSpPr txBox="1"/>
          <p:nvPr/>
        </p:nvSpPr>
        <p:spPr>
          <a:xfrm>
            <a:off x="731520" y="2286000"/>
            <a:ext cx="10698480" cy="457200"/>
          </a:xfrm>
          <a:prstGeom prst="rect">
            <a:avLst/>
          </a:prstGeom>
          <a:noFill/>
          <a:ln/>
        </p:spPr>
        <p:txBody>
          <a:bodyPr wrap="square" lIns="0" tIns="0" rIns="0" bIns="0" rtlCol="0" anchor="ctr"/>
          <a:lstStyle/>
          <a:p>
            <a:pPr indent="0" marL="0">
              <a:buNone/>
            </a:pPr>
            <a:r>
              <a:rPr lang="en-US" sz="1800" dirty="0">
                <a:solidFill>
                  <a:schemeClr val="accent5"/>
                </a:solidFill>
              </a:rPr>
              <a:t>What 30 papers did, what went wrong, and what we decided to do about it</a:t>
            </a:r>
            <a:endParaRPr lang="en-US" sz="1800" dirty="0"/>
          </a:p>
        </p:txBody>
      </p:sp>
      <p:pic>
        <p:nvPicPr>
          <p:cNvPr id="5" name="Handwritten Modi characters" descr="Eight handwritten Modi characters from the MODI-HChar dataset">    </p:cNvPr>
          <p:cNvPicPr>
            <a:picLocks noChangeAspect="1"/>
          </p:cNvPicPr>
          <p:nvPr/>
        </p:nvPicPr>
        <p:blipFill>
          <a:blip r:embed="rId1"/>
          <a:stretch>
            <a:fillRect/>
          </a:stretch>
        </p:blipFill>
        <p:spPr>
          <a:xfrm>
            <a:off x="731520" y="3154680"/>
            <a:ext cx="10698480" cy="1335024"/>
          </a:xfrm>
          <a:prstGeom prst="rect">
            <a:avLst/>
          </a:prstGeom>
        </p:spPr>
      </p:pic>
      <p:sp>
        <p:nvSpPr>
          <p:cNvPr id="6" name="Text 3"/>
          <p:cNvSpPr txBox="1"/>
          <p:nvPr/>
        </p:nvSpPr>
        <p:spPr>
          <a:xfrm>
            <a:off x="731520" y="5029200"/>
            <a:ext cx="10698480" cy="822960"/>
          </a:xfrm>
          <a:prstGeom prst="rect">
            <a:avLst/>
          </a:prstGeom>
          <a:noFill/>
          <a:ln/>
        </p:spPr>
        <p:txBody>
          <a:bodyPr wrap="square" lIns="0" tIns="0" rIns="0" bIns="0" rtlCol="0" anchor="ctr"/>
          <a:lstStyle/>
          <a:p>
            <a:pPr indent="0" marL="0">
              <a:spcAft>
                <a:spcPts val="400"/>
              </a:spcAft>
              <a:buNone/>
            </a:pPr>
            <a:r>
              <a:rPr lang="en-US" sz="1600" dirty="0">
                <a:solidFill>
                  <a:schemeClr val="bg1"/>
                </a:solidFill>
              </a:rPr>
              <a:t>Group TY-A2  |  Ananya Viraj Choudhari, Arya Bharat Patil</a:t>
            </a:r>
            <a:endParaRPr lang="en-US" sz="1600" dirty="0"/>
          </a:p>
          <a:p>
            <a:pPr indent="0" marL="0">
              <a:spcAft>
                <a:spcPts val="400"/>
              </a:spcAft>
              <a:buNone/>
            </a:pPr>
            <a:r>
              <a:rPr lang="en-US" sz="1600" dirty="0">
                <a:solidFill>
                  <a:schemeClr val="bg1"/>
                </a:solidFill>
              </a:rPr>
              <a:t>Guide: Prof. Nilam Honmane  |  Department of Computer Engineering, VIT Pune</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731520"/>
          </a:xfrm>
          <a:prstGeom prst="rect">
            <a:avLst/>
          </a:prstGeom>
          <a:noFill/>
          <a:ln/>
        </p:spPr>
        <p:txBody>
          <a:bodyPr wrap="square" rtlCol="0" anchor="ctr"/>
          <a:lstStyle/>
          <a:p>
            <a:pPr indent="0" marL="0">
              <a:buNone/>
            </a:pPr>
            <a:r>
              <a:rPr lang="en-US" sz="3000" b="1" dirty="0">
                <a:solidFill>
                  <a:schemeClr val="tx2"/>
                </a:solidFill>
                <a:latin typeface="Cambria" pitchFamily="34" charset="0"/>
                <a:ea typeface="Cambria" pitchFamily="34" charset="-122"/>
                <a:cs typeface="Cambria" pitchFamily="34" charset="-120"/>
              </a:rPr>
              <a:t>Why Modi is hard for a computer to read</a:t>
            </a:r>
            <a:endParaRPr lang="en-US" sz="3000" dirty="0"/>
          </a:p>
        </p:txBody>
      </p:sp>
      <p:sp>
        <p:nvSpPr>
          <p:cNvPr id="3" name="Reason 1 marker"/>
          <p:cNvSpPr/>
          <p:nvPr/>
        </p:nvSpPr>
        <p:spPr>
          <a:xfrm>
            <a:off x="548640" y="1417320"/>
            <a:ext cx="548640" cy="548640"/>
          </a:xfrm>
          <a:prstGeom prst="ellipse">
            <a:avLst/>
          </a:prstGeom>
          <a:solidFill>
            <a:schemeClr val="accent1"/>
          </a:solidFill>
          <a:ln/>
        </p:spPr>
      </p:sp>
      <p:sp>
        <p:nvSpPr>
          <p:cNvPr id="4" name="Reason 1 marker label"/>
          <p:cNvSpPr txBox="1"/>
          <p:nvPr/>
        </p:nvSpPr>
        <p:spPr>
          <a:xfrm>
            <a:off x="548640" y="141732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5" name="Text 3"/>
          <p:cNvSpPr txBox="1"/>
          <p:nvPr/>
        </p:nvSpPr>
        <p:spPr>
          <a:xfrm>
            <a:off x="1280160" y="1371600"/>
            <a:ext cx="4572000" cy="411480"/>
          </a:xfrm>
          <a:prstGeom prst="rect">
            <a:avLst/>
          </a:prstGeom>
          <a:noFill/>
          <a:ln/>
        </p:spPr>
        <p:txBody>
          <a:bodyPr wrap="square" lIns="0" tIns="0" rIns="0" bIns="0" rtlCol="0" anchor="ctr"/>
          <a:lstStyle/>
          <a:p>
            <a:pPr indent="0" marL="0">
              <a:buNone/>
            </a:pPr>
            <a:r>
              <a:rPr lang="en-US" sz="2000" b="1" dirty="0">
                <a:solidFill>
                  <a:schemeClr val="tx1"/>
                </a:solidFill>
              </a:rPr>
              <a:t>Written without lifting the pen</a:t>
            </a:r>
            <a:endParaRPr lang="en-US" sz="2000" dirty="0"/>
          </a:p>
        </p:txBody>
      </p:sp>
      <p:sp>
        <p:nvSpPr>
          <p:cNvPr id="6" name="Text 4"/>
          <p:cNvSpPr txBox="1"/>
          <p:nvPr/>
        </p:nvSpPr>
        <p:spPr>
          <a:xfrm>
            <a:off x="1280160" y="1810512"/>
            <a:ext cx="4572000" cy="822960"/>
          </a:xfrm>
          <a:prstGeom prst="rect">
            <a:avLst/>
          </a:prstGeom>
          <a:noFill/>
          <a:ln/>
        </p:spPr>
        <p:txBody>
          <a:bodyPr wrap="square" lIns="0" tIns="0" rIns="0" bIns="0" rtlCol="0" anchor="t"/>
          <a:lstStyle/>
          <a:p>
            <a:pPr indent="0" marL="0">
              <a:buNone/>
            </a:pPr>
            <a:r>
              <a:rPr lang="en-US" sz="1500" dirty="0">
                <a:solidFill>
                  <a:schemeClr val="tx1"/>
                </a:solidFill>
              </a:rPr>
              <a:t>Letters hang from one top line and often run into each other, so it is hard to tell where one ends.</a:t>
            </a:r>
            <a:endParaRPr lang="en-US" sz="1500" dirty="0"/>
          </a:p>
        </p:txBody>
      </p:sp>
      <p:sp>
        <p:nvSpPr>
          <p:cNvPr id="7" name="Reason 2 marker"/>
          <p:cNvSpPr/>
          <p:nvPr/>
        </p:nvSpPr>
        <p:spPr>
          <a:xfrm>
            <a:off x="548640" y="2926080"/>
            <a:ext cx="548640" cy="548640"/>
          </a:xfrm>
          <a:prstGeom prst="ellipse">
            <a:avLst/>
          </a:prstGeom>
          <a:solidFill>
            <a:schemeClr val="accent2"/>
          </a:solidFill>
          <a:ln/>
        </p:spPr>
      </p:sp>
      <p:sp>
        <p:nvSpPr>
          <p:cNvPr id="8" name="Reason 2 marker label"/>
          <p:cNvSpPr txBox="1"/>
          <p:nvPr/>
        </p:nvSpPr>
        <p:spPr>
          <a:xfrm>
            <a:off x="548640" y="292608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9" name="Text 7"/>
          <p:cNvSpPr txBox="1"/>
          <p:nvPr/>
        </p:nvSpPr>
        <p:spPr>
          <a:xfrm>
            <a:off x="1280160" y="2880360"/>
            <a:ext cx="4572000" cy="411480"/>
          </a:xfrm>
          <a:prstGeom prst="rect">
            <a:avLst/>
          </a:prstGeom>
          <a:noFill/>
          <a:ln/>
        </p:spPr>
        <p:txBody>
          <a:bodyPr wrap="square" lIns="0" tIns="0" rIns="0" bIns="0" rtlCol="0" anchor="ctr"/>
          <a:lstStyle/>
          <a:p>
            <a:pPr indent="0" marL="0">
              <a:buNone/>
            </a:pPr>
            <a:r>
              <a:rPr lang="en-US" sz="2000" b="1" dirty="0">
                <a:solidFill>
                  <a:schemeClr val="tx1"/>
                </a:solidFill>
              </a:rPr>
              <a:t>Many look-alike letters</a:t>
            </a:r>
            <a:endParaRPr lang="en-US" sz="2000" dirty="0"/>
          </a:p>
        </p:txBody>
      </p:sp>
      <p:sp>
        <p:nvSpPr>
          <p:cNvPr id="10" name="Text 8"/>
          <p:cNvSpPr txBox="1"/>
          <p:nvPr/>
        </p:nvSpPr>
        <p:spPr>
          <a:xfrm>
            <a:off x="1280160" y="3319272"/>
            <a:ext cx="4572000" cy="822960"/>
          </a:xfrm>
          <a:prstGeom prst="rect">
            <a:avLst/>
          </a:prstGeom>
          <a:noFill/>
          <a:ln/>
        </p:spPr>
        <p:txBody>
          <a:bodyPr wrap="square" lIns="0" tIns="0" rIns="0" bIns="0" rtlCol="0" anchor="t"/>
          <a:lstStyle/>
          <a:p>
            <a:pPr indent="0" marL="0">
              <a:buNone/>
            </a:pPr>
            <a:r>
              <a:rPr lang="en-US" sz="1500" dirty="0">
                <a:solidFill>
                  <a:schemeClr val="tx1"/>
                </a:solidFill>
              </a:rPr>
              <a:t>Pairs like i and ii, or h and thha, differ by one small stroke.</a:t>
            </a:r>
            <a:endParaRPr lang="en-US" sz="1500" dirty="0"/>
          </a:p>
        </p:txBody>
      </p:sp>
      <p:sp>
        <p:nvSpPr>
          <p:cNvPr id="11" name="Reason 3 marker"/>
          <p:cNvSpPr/>
          <p:nvPr/>
        </p:nvSpPr>
        <p:spPr>
          <a:xfrm>
            <a:off x="548640" y="4434840"/>
            <a:ext cx="548640" cy="548640"/>
          </a:xfrm>
          <a:prstGeom prst="ellipse">
            <a:avLst/>
          </a:prstGeom>
          <a:solidFill>
            <a:schemeClr val="accent3"/>
          </a:solidFill>
          <a:ln/>
        </p:spPr>
      </p:sp>
      <p:sp>
        <p:nvSpPr>
          <p:cNvPr id="12" name="Reason 3 marker label"/>
          <p:cNvSpPr txBox="1"/>
          <p:nvPr/>
        </p:nvSpPr>
        <p:spPr>
          <a:xfrm>
            <a:off x="548640" y="443484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3" name="Text 11"/>
          <p:cNvSpPr txBox="1"/>
          <p:nvPr/>
        </p:nvSpPr>
        <p:spPr>
          <a:xfrm>
            <a:off x="1280160" y="4389120"/>
            <a:ext cx="4572000" cy="411480"/>
          </a:xfrm>
          <a:prstGeom prst="rect">
            <a:avLst/>
          </a:prstGeom>
          <a:noFill/>
          <a:ln/>
        </p:spPr>
        <p:txBody>
          <a:bodyPr wrap="square" lIns="0" tIns="0" rIns="0" bIns="0" rtlCol="0" anchor="ctr"/>
          <a:lstStyle/>
          <a:p>
            <a:pPr indent="0" marL="0">
              <a:buNone/>
            </a:pPr>
            <a:r>
              <a:rPr lang="en-US" sz="2000" b="1" dirty="0">
                <a:solidFill>
                  <a:schemeClr val="tx1"/>
                </a:solidFill>
              </a:rPr>
              <a:t>Very little labelled data</a:t>
            </a:r>
            <a:endParaRPr lang="en-US" sz="2000" dirty="0"/>
          </a:p>
        </p:txBody>
      </p:sp>
      <p:sp>
        <p:nvSpPr>
          <p:cNvPr id="14" name="Text 12"/>
          <p:cNvSpPr txBox="1"/>
          <p:nvPr/>
        </p:nvSpPr>
        <p:spPr>
          <a:xfrm>
            <a:off x="1280160" y="4828032"/>
            <a:ext cx="4572000" cy="822960"/>
          </a:xfrm>
          <a:prstGeom prst="rect">
            <a:avLst/>
          </a:prstGeom>
          <a:noFill/>
          <a:ln/>
        </p:spPr>
        <p:txBody>
          <a:bodyPr wrap="square" lIns="0" tIns="0" rIns="0" bIns="0" rtlCol="0" anchor="t"/>
          <a:lstStyle/>
          <a:p>
            <a:pPr indent="0" marL="0">
              <a:buNone/>
            </a:pPr>
            <a:r>
              <a:rPr lang="en-US" sz="1500" dirty="0">
                <a:solidFill>
                  <a:schemeClr val="tx1"/>
                </a:solidFill>
              </a:rPr>
              <a:t>Most papers work with about 90 images per letter, which is small for deep learning.</a:t>
            </a:r>
            <a:endParaRPr lang="en-US" sz="1500" dirty="0"/>
          </a:p>
        </p:txBody>
      </p:sp>
      <p:sp>
        <p:nvSpPr>
          <p:cNvPr id="15" name="Manuscript frame"/>
          <p:cNvSpPr/>
          <p:nvPr/>
        </p:nvSpPr>
        <p:spPr>
          <a:xfrm>
            <a:off x="6309360" y="1280160"/>
            <a:ext cx="5303520" cy="4480560"/>
          </a:xfrm>
          <a:prstGeom prst="roundRect">
            <a:avLst>
              <a:gd name="adj" fmla="val 2449"/>
            </a:avLst>
          </a:prstGeom>
          <a:solidFill>
            <a:schemeClr val="bg2"/>
          </a:solidFill>
          <a:ln/>
        </p:spPr>
      </p:sp>
      <p:pic>
        <p:nvPicPr>
          <p:cNvPr id="16" name="Real Modi manuscript" descr="Crop of a real handwritten Modi manuscript">    </p:cNvPr>
          <p:cNvPicPr>
            <a:picLocks noChangeAspect="1"/>
          </p:cNvPicPr>
          <p:nvPr/>
        </p:nvPicPr>
        <p:blipFill>
          <a:blip r:embed="rId1"/>
          <a:srcRect l="0" r="0" t="0" b="0"/>
          <a:stretch/>
        </p:blipFill>
        <p:spPr>
          <a:xfrm>
            <a:off x="6492240" y="1463040"/>
            <a:ext cx="4937760" cy="3566160"/>
          </a:xfrm>
          <a:prstGeom prst="rect">
            <a:avLst/>
          </a:prstGeom>
        </p:spPr>
      </p:pic>
      <p:sp>
        <p:nvSpPr>
          <p:cNvPr id="17" name="Text 14"/>
          <p:cNvSpPr txBox="1"/>
          <p:nvPr/>
        </p:nvSpPr>
        <p:spPr>
          <a:xfrm>
            <a:off x="6492240" y="5120640"/>
            <a:ext cx="4937760" cy="548640"/>
          </a:xfrm>
          <a:prstGeom prst="rect">
            <a:avLst/>
          </a:prstGeom>
          <a:noFill/>
          <a:ln/>
        </p:spPr>
        <p:txBody>
          <a:bodyPr wrap="square" lIns="0" tIns="0" rIns="0" bIns="0" rtlCol="0" anchor="ctr"/>
          <a:lstStyle/>
          <a:p>
            <a:pPr indent="0" marL="0">
              <a:buNone/>
            </a:pPr>
            <a:r>
              <a:rPr lang="en-US" sz="1200" i="1" dirty="0">
                <a:solidFill>
                  <a:schemeClr val="tx2"/>
                </a:solidFill>
              </a:rPr>
              <a:t>A real Modi manuscript (MODI-HHDoc). The letters are joined along the top line.</a:t>
            </a:r>
            <a:endParaRPr lang="en-US" sz="12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731520"/>
          </a:xfrm>
          <a:prstGeom prst="rect">
            <a:avLst/>
          </a:prstGeom>
          <a:noFill/>
          <a:ln/>
        </p:spPr>
        <p:txBody>
          <a:bodyPr wrap="square" rtlCol="0" anchor="ctr"/>
          <a:lstStyle/>
          <a:p>
            <a:pPr indent="0" marL="0">
              <a:buNone/>
            </a:pPr>
            <a:r>
              <a:rPr lang="en-US" sz="3000" b="1" dirty="0">
                <a:solidFill>
                  <a:schemeClr val="tx2"/>
                </a:solidFill>
                <a:latin typeface="Cambria" pitchFamily="34" charset="0"/>
                <a:ea typeface="Cambria" pitchFamily="34" charset="-122"/>
                <a:cs typeface="Cambria" pitchFamily="34" charset="-120"/>
              </a:rPr>
              <a:t>How we picked the papers</a:t>
            </a:r>
            <a:endParaRPr lang="en-US" sz="3000" dirty="0"/>
          </a:p>
        </p:txBody>
      </p:sp>
      <p:sp>
        <p:nvSpPr>
          <p:cNvPr id="3" name="Stat papers read"/>
          <p:cNvSpPr/>
          <p:nvPr/>
        </p:nvSpPr>
        <p:spPr>
          <a:xfrm>
            <a:off x="548640" y="1325880"/>
            <a:ext cx="1783080" cy="1463040"/>
          </a:xfrm>
          <a:prstGeom prst="roundRect">
            <a:avLst>
              <a:gd name="adj" fmla="val 7500"/>
            </a:avLst>
          </a:prstGeom>
          <a:solidFill>
            <a:schemeClr val="bg2"/>
          </a:solidFill>
          <a:ln/>
        </p:spPr>
      </p:sp>
      <p:sp>
        <p:nvSpPr>
          <p:cNvPr id="4" name="Text 2"/>
          <p:cNvSpPr txBox="1"/>
          <p:nvPr/>
        </p:nvSpPr>
        <p:spPr>
          <a:xfrm>
            <a:off x="548640" y="1417320"/>
            <a:ext cx="1783080" cy="777240"/>
          </a:xfrm>
          <a:prstGeom prst="rect">
            <a:avLst/>
          </a:prstGeom>
          <a:noFill/>
          <a:ln/>
        </p:spPr>
        <p:txBody>
          <a:bodyPr wrap="square" lIns="0" tIns="0" rIns="0" bIns="0" rtlCol="0" anchor="ctr"/>
          <a:lstStyle/>
          <a:p>
            <a:pPr algn="ctr" indent="0" marL="0">
              <a:buNone/>
            </a:pPr>
            <a:r>
              <a:rPr lang="en-US" sz="4000" b="1" dirty="0">
                <a:solidFill>
                  <a:schemeClr val="accent1"/>
                </a:solidFill>
              </a:rPr>
              <a:t>30</a:t>
            </a:r>
            <a:endParaRPr lang="en-US" sz="4000" dirty="0"/>
          </a:p>
        </p:txBody>
      </p:sp>
      <p:sp>
        <p:nvSpPr>
          <p:cNvPr id="5" name="Text 3"/>
          <p:cNvSpPr txBox="1"/>
          <p:nvPr/>
        </p:nvSpPr>
        <p:spPr>
          <a:xfrm>
            <a:off x="548640" y="2194560"/>
            <a:ext cx="1783080" cy="457200"/>
          </a:xfrm>
          <a:prstGeom prst="rect">
            <a:avLst/>
          </a:prstGeom>
          <a:noFill/>
          <a:ln/>
        </p:spPr>
        <p:txBody>
          <a:bodyPr wrap="square" lIns="0" tIns="0" rIns="0" bIns="0" rtlCol="0" anchor="ctr"/>
          <a:lstStyle/>
          <a:p>
            <a:pPr algn="ctr" indent="0" marL="0">
              <a:buNone/>
            </a:pPr>
            <a:r>
              <a:rPr lang="en-US" sz="1300" dirty="0">
                <a:solidFill>
                  <a:schemeClr val="tx1"/>
                </a:solidFill>
              </a:rPr>
              <a:t>papers read</a:t>
            </a:r>
            <a:endParaRPr lang="en-US" sz="1300" dirty="0"/>
          </a:p>
        </p:txBody>
      </p:sp>
      <p:sp>
        <p:nvSpPr>
          <p:cNvPr id="6" name="Stat years covered"/>
          <p:cNvSpPr/>
          <p:nvPr/>
        </p:nvSpPr>
        <p:spPr>
          <a:xfrm>
            <a:off x="2514600" y="1325880"/>
            <a:ext cx="1783080" cy="1463040"/>
          </a:xfrm>
          <a:prstGeom prst="roundRect">
            <a:avLst>
              <a:gd name="adj" fmla="val 7500"/>
            </a:avLst>
          </a:prstGeom>
          <a:solidFill>
            <a:schemeClr val="bg2"/>
          </a:solidFill>
          <a:ln/>
        </p:spPr>
      </p:sp>
      <p:sp>
        <p:nvSpPr>
          <p:cNvPr id="7" name="Text 5"/>
          <p:cNvSpPr txBox="1"/>
          <p:nvPr/>
        </p:nvSpPr>
        <p:spPr>
          <a:xfrm>
            <a:off x="2514600" y="1417320"/>
            <a:ext cx="1783080" cy="777240"/>
          </a:xfrm>
          <a:prstGeom prst="rect">
            <a:avLst/>
          </a:prstGeom>
          <a:noFill/>
          <a:ln/>
        </p:spPr>
        <p:txBody>
          <a:bodyPr wrap="square" lIns="0" tIns="0" rIns="0" bIns="0" rtlCol="0" anchor="ctr"/>
          <a:lstStyle/>
          <a:p>
            <a:pPr algn="ctr" indent="0" marL="0">
              <a:buNone/>
            </a:pPr>
            <a:r>
              <a:rPr lang="en-US" sz="2200" b="1" dirty="0">
                <a:solidFill>
                  <a:schemeClr val="accent1"/>
                </a:solidFill>
              </a:rPr>
              <a:t>2011 to 2026</a:t>
            </a:r>
            <a:endParaRPr lang="en-US" sz="2200" dirty="0"/>
          </a:p>
        </p:txBody>
      </p:sp>
      <p:sp>
        <p:nvSpPr>
          <p:cNvPr id="8" name="Text 6"/>
          <p:cNvSpPr txBox="1"/>
          <p:nvPr/>
        </p:nvSpPr>
        <p:spPr>
          <a:xfrm>
            <a:off x="2514600" y="2194560"/>
            <a:ext cx="1783080" cy="457200"/>
          </a:xfrm>
          <a:prstGeom prst="rect">
            <a:avLst/>
          </a:prstGeom>
          <a:noFill/>
          <a:ln/>
        </p:spPr>
        <p:txBody>
          <a:bodyPr wrap="square" lIns="0" tIns="0" rIns="0" bIns="0" rtlCol="0" anchor="ctr"/>
          <a:lstStyle/>
          <a:p>
            <a:pPr algn="ctr" indent="0" marL="0">
              <a:buNone/>
            </a:pPr>
            <a:r>
              <a:rPr lang="en-US" sz="1300" dirty="0">
                <a:solidFill>
                  <a:schemeClr val="tx1"/>
                </a:solidFill>
              </a:rPr>
              <a:t>years covered</a:t>
            </a:r>
            <a:endParaRPr lang="en-US" sz="1300" dirty="0"/>
          </a:p>
        </p:txBody>
      </p:sp>
      <p:sp>
        <p:nvSpPr>
          <p:cNvPr id="9" name="Stat base papers chosen"/>
          <p:cNvSpPr/>
          <p:nvPr/>
        </p:nvSpPr>
        <p:spPr>
          <a:xfrm>
            <a:off x="4480560" y="1325880"/>
            <a:ext cx="1783080" cy="1463040"/>
          </a:xfrm>
          <a:prstGeom prst="roundRect">
            <a:avLst>
              <a:gd name="adj" fmla="val 7500"/>
            </a:avLst>
          </a:prstGeom>
          <a:solidFill>
            <a:schemeClr val="bg2"/>
          </a:solidFill>
          <a:ln/>
        </p:spPr>
      </p:sp>
      <p:sp>
        <p:nvSpPr>
          <p:cNvPr id="10" name="Text 8"/>
          <p:cNvSpPr txBox="1"/>
          <p:nvPr/>
        </p:nvSpPr>
        <p:spPr>
          <a:xfrm>
            <a:off x="4480560" y="1417320"/>
            <a:ext cx="1783080" cy="777240"/>
          </a:xfrm>
          <a:prstGeom prst="rect">
            <a:avLst/>
          </a:prstGeom>
          <a:noFill/>
          <a:ln/>
        </p:spPr>
        <p:txBody>
          <a:bodyPr wrap="square" lIns="0" tIns="0" rIns="0" bIns="0" rtlCol="0" anchor="ctr"/>
          <a:lstStyle/>
          <a:p>
            <a:pPr algn="ctr" indent="0" marL="0">
              <a:buNone/>
            </a:pPr>
            <a:r>
              <a:rPr lang="en-US" sz="4000" b="1" dirty="0">
                <a:solidFill>
                  <a:schemeClr val="accent1"/>
                </a:solidFill>
              </a:rPr>
              <a:t>7</a:t>
            </a:r>
            <a:endParaRPr lang="en-US" sz="4000" dirty="0"/>
          </a:p>
        </p:txBody>
      </p:sp>
      <p:sp>
        <p:nvSpPr>
          <p:cNvPr id="11" name="Text 9"/>
          <p:cNvSpPr txBox="1"/>
          <p:nvPr/>
        </p:nvSpPr>
        <p:spPr>
          <a:xfrm>
            <a:off x="4480560" y="2194560"/>
            <a:ext cx="1783080" cy="457200"/>
          </a:xfrm>
          <a:prstGeom prst="rect">
            <a:avLst/>
          </a:prstGeom>
          <a:noFill/>
          <a:ln/>
        </p:spPr>
        <p:txBody>
          <a:bodyPr wrap="square" lIns="0" tIns="0" rIns="0" bIns="0" rtlCol="0" anchor="ctr"/>
          <a:lstStyle/>
          <a:p>
            <a:pPr algn="ctr" indent="0" marL="0">
              <a:buNone/>
            </a:pPr>
            <a:r>
              <a:rPr lang="en-US" sz="1300" dirty="0">
                <a:solidFill>
                  <a:schemeClr val="tx1"/>
                </a:solidFill>
              </a:rPr>
              <a:t>base papers chosen</a:t>
            </a:r>
            <a:endParaRPr lang="en-US" sz="1300" dirty="0"/>
          </a:p>
        </p:txBody>
      </p:sp>
      <p:sp>
        <p:nvSpPr>
          <p:cNvPr id="12" name="Text 10"/>
          <p:cNvSpPr txBox="1"/>
          <p:nvPr/>
        </p:nvSpPr>
        <p:spPr>
          <a:xfrm>
            <a:off x="548640" y="3108960"/>
            <a:ext cx="5669280" cy="2560320"/>
          </a:xfrm>
          <a:prstGeom prst="rect">
            <a:avLst/>
          </a:prstGeom>
          <a:noFill/>
          <a:ln/>
        </p:spPr>
        <p:txBody>
          <a:bodyPr wrap="square" rtlCol="0" anchor="t"/>
          <a:lstStyle/>
          <a:p>
            <a:pPr marL="342900" indent="-342900">
              <a:spcAft>
                <a:spcPts val="1000"/>
              </a:spcAft>
              <a:buSzPct val="100000"/>
              <a:buChar char="•"/>
            </a:pPr>
            <a:r>
              <a:rPr lang="en-US" sz="1500" dirty="0">
                <a:solidFill>
                  <a:schemeClr val="tx1"/>
                </a:solidFill>
              </a:rPr>
              <a:t>We searched Google Scholar, IEEE, arXiv and open-access journals for Modi character recognition and transliteration.</a:t>
            </a:r>
            <a:endParaRPr lang="en-US" sz="1500" dirty="0"/>
          </a:p>
          <a:p>
            <a:pPr marL="342900" indent="-342900">
              <a:spcAft>
                <a:spcPts val="1000"/>
              </a:spcAft>
              <a:buSzPct val="100000"/>
              <a:buChar char="•"/>
            </a:pPr>
            <a:r>
              <a:rPr lang="en-US" sz="1500" dirty="0">
                <a:solidFill>
                  <a:schemeClr val="tx1"/>
                </a:solidFill>
              </a:rPr>
              <a:t>We kept papers we could actually download and read in full, so every number we quote can be checked.</a:t>
            </a:r>
            <a:endParaRPr lang="en-US" sz="1500" dirty="0"/>
          </a:p>
          <a:p>
            <a:pPr marL="342900" indent="-342900">
              <a:spcAft>
                <a:spcPts val="1000"/>
              </a:spcAft>
              <a:buSzPct val="100000"/>
              <a:buChar char="•"/>
            </a:pPr>
            <a:r>
              <a:rPr lang="en-US" sz="1500" dirty="0">
                <a:solidFill>
                  <a:schemeClr val="tx1"/>
                </a:solidFill>
              </a:rPr>
              <a:t>All 30 PDFs are in our shared Drive folder, linked from each paper's name in the next slides.</a:t>
            </a:r>
            <a:endParaRPr lang="en-US" sz="1500" dirty="0"/>
          </a:p>
        </p:txBody>
      </p:sp>
      <p:graphicFrame>
        <p:nvGraphicFramePr>
          <p:cNvPr id="13" name="Papers by type chart" descr=""/>
          <p:cNvGraphicFramePr/>
          <p:nvPr/>
        </p:nvGraphicFramePr>
        <p:xfrm>
          <a:off x="6492240" y="1280160"/>
          <a:ext cx="5120640" cy="4480560"/>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731520"/>
          </a:xfrm>
          <a:prstGeom prst="rect">
            <a:avLst/>
          </a:prstGeom>
          <a:noFill/>
          <a:ln/>
        </p:spPr>
        <p:txBody>
          <a:bodyPr wrap="square" rtlCol="0" anchor="ctr"/>
          <a:lstStyle/>
          <a:p>
            <a:pPr indent="0" marL="0">
              <a:buNone/>
            </a:pPr>
            <a:r>
              <a:rPr lang="en-US" sz="3000" b="1" dirty="0">
                <a:solidFill>
                  <a:schemeClr val="tx2"/>
                </a:solidFill>
                <a:latin typeface="Cambria" pitchFamily="34" charset="0"/>
                <a:ea typeface="Cambria" pitchFamily="34" charset="-122"/>
                <a:cs typeface="Cambria" pitchFamily="34" charset="-120"/>
              </a:rPr>
              <a:t>All 30 papers at a glance (1 of 3)</a:t>
            </a:r>
            <a:endParaRPr lang="en-US" sz="3000" dirty="0"/>
          </a:p>
        </p:txBody>
      </p:sp>
      <p:graphicFrame>
        <p:nvGraphicFramePr>
          <p:cNvPr id="5" name="Paper table part 1"/>
          <p:cNvGraphicFramePr>
            <a:graphicFrameLocks noGrp="1"/>
          </p:cNvGraphicFramePr>
          <p:nvPr>
            <p:extLst>
              <p:ext uri="{D42A27DB-BD31-4B8C-83A1-F6EECF244321}">
                <p14:modId xmlns:p14="http://schemas.microsoft.com/office/powerpoint/2010/main" val="1579011935"/>
              </p:ext>
            </p:extLst>
          </p:nvPr>
        </p:nvGraphicFramePr>
        <p:xfrm>
          <a:off x="548640" y="1234440"/>
          <a:ext cx="11064240" cy="914400"/>
        </p:xfrm>
        <a:graphic>
          <a:graphicData uri="http://schemas.openxmlformats.org/drawingml/2006/table">
            <a:tbl>
              <a:tblPr/>
              <a:tblGrid>
                <a:gridCol w="457200"/>
                <a:gridCol w="2377440"/>
                <a:gridCol w="3383280"/>
                <a:gridCol w="2194560"/>
                <a:gridCol w="2651760"/>
              </a:tblGrid>
              <a:tr h="429768">
                <a:tc>
                  <a:txBody>
                    <a:bodyPr/>
                    <a:lstStyle/>
                    <a:p>
                      <a:pPr indent="0" marL="0">
                        <a:buNone/>
                      </a:pPr>
                      <a:r>
                        <a:rPr lang="en-US" sz="1300" b="1" dirty="0">
                          <a:solidFill>
                            <a:schemeClr val="bg1"/>
                          </a:solidFill>
                        </a:rPr>
                        <a:t>#</a:t>
                      </a:r>
                      <a:endParaRPr lang="en-US" sz="1300" dirty="0"/>
                    </a:p>
                  </a:txBody>
                  <a:tcPr marL="76200" marR="76200" marT="38100" marB="38100">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Paper</a:t>
                      </a:r>
                      <a:endParaRPr lang="en-US" sz="1300" dirty="0"/>
                    </a:p>
                  </a:txBody>
                  <a:tcPr marL="76200" marR="76200" marT="38100" marB="38100">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What they did</a:t>
                      </a:r>
                      <a:endParaRPr lang="en-US" sz="1300" dirty="0"/>
                    </a:p>
                  </a:txBody>
                  <a:tcPr marL="76200" marR="76200" marT="38100" marB="38100">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Result</a:t>
                      </a:r>
                      <a:endParaRPr lang="en-US" sz="1300" dirty="0"/>
                    </a:p>
                  </a:txBody>
                  <a:tcPr marL="76200" marR="76200" marT="38100" marB="38100">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Main problem</a:t>
                      </a:r>
                      <a:endParaRPr lang="en-US" sz="1300" dirty="0"/>
                    </a:p>
                  </a:txBody>
                  <a:tcPr marL="76200" marR="76200" marT="38100" marB="38100">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solidFill>
                      <a:schemeClr val="tx2"/>
                    </a:solidFill>
                  </a:tcPr>
                </a:tc>
              </a:tr>
              <a:tr h="429768">
                <a:tc>
                  <a:txBody>
                    <a:bodyPr/>
                    <a:lstStyle/>
                    <a:p>
                      <a:pPr algn="ctr" indent="0" marL="0">
                        <a:buNone/>
                      </a:pPr>
                      <a:r>
                        <a:rPr lang="en-US" sz="1200" dirty="0">
                          <a:solidFill>
                            <a:schemeClr val="tx1"/>
                          </a:solidFill>
                        </a:rPr>
                        <a:t>1</a:t>
                      </a:r>
                      <a:endParaRPr lang="en-US" sz="1200" dirty="0"/>
                    </a:p>
                  </a:txBody>
                  <a:tcPr marL="76200" marR="76200" marT="38100" marB="3810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solidFill>
                      <a:schemeClr val="bg1"/>
                    </a:solidFill>
                  </a:tcPr>
                </a:tc>
                <a:tc>
                  <a:txBody>
                    <a:bodyPr/>
                    <a:lstStyle/>
                    <a:p>
                      <a:pPr indent="0" marL="0">
                        <a:buNone/>
                      </a:pPr>
                      <a:r>
                        <a:rPr lang="en-US" sz="1200" u="sng" dirty="0">
                          <a:solidFill>
                            <a:schemeClr val="accent1"/>
                          </a:solidFill>
                          <a:hlinkClick r:id="rId1" invalidUrl="" action="" tgtFrame="" tooltip="A Framework for Modi-Lipi Script Based On CAPTCHA" history="1" highlightClick="0" endSnd="0">
                            <a:extLst>
                              <a:ext uri="{A12FA001-AC4F-418D-AE19-62706E023703}">
                                <ahyp:hlinkClr xmlns:ahyp="http://schemas.microsoft.com/office/drawing/2018/hyperlinkcolor" val="tx"/>
                              </a:ext>
                            </a:extLst>
                          </a:hlinkClick>
                        </a:rPr>
                        <a:t>Mahajan, 2026</a:t>
                      </a:r>
                      <a:endParaRPr lang="en-US" sz="1200" dirty="0"/>
                    </a:p>
                  </a:txBody>
                  <a:tcPr marL="76200" marR="76200" marT="38100" marB="3810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Uses Modi as a CAPTCHA</a:t>
                      </a:r>
                      <a:endParaRPr lang="en-US" sz="1200" dirty="0"/>
                    </a:p>
                  </a:txBody>
                  <a:tcPr marL="76200" marR="76200" marT="38100" marB="3810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No numbers</a:t>
                      </a:r>
                      <a:endParaRPr lang="en-US" sz="1200" dirty="0"/>
                    </a:p>
                  </a:txBody>
                  <a:tcPr marL="76200" marR="76200" marT="38100" marB="3810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Idea only, never tested</a:t>
                      </a:r>
                      <a:endParaRPr lang="en-US" sz="1200" dirty="0"/>
                    </a:p>
                  </a:txBody>
                  <a:tcPr marL="76200" marR="76200" marT="38100" marB="3810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solidFill>
                      <a:schemeClr val="bg1"/>
                    </a:solidFill>
                  </a:tcPr>
                </a:tc>
              </a:tr>
              <a:tr h="429768">
                <a:tc>
                  <a:txBody>
                    <a:bodyPr/>
                    <a:lstStyle/>
                    <a:p>
                      <a:pPr algn="ctr" indent="0" marL="0">
                        <a:buNone/>
                      </a:pPr>
                      <a:r>
                        <a:rPr lang="en-US" sz="1200" dirty="0">
                          <a:solidFill>
                            <a:schemeClr val="tx1"/>
                          </a:solidFill>
                        </a:rPr>
                        <a:t>2</a:t>
                      </a:r>
                      <a:endParaRPr lang="en-US" sz="1200" dirty="0"/>
                    </a:p>
                  </a:txBody>
                  <a:tcPr marL="76200" marR="76200" marT="38100" marB="3810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solidFill>
                      <a:schemeClr val="bg2"/>
                    </a:solidFill>
                  </a:tcPr>
                </a:tc>
                <a:tc>
                  <a:txBody>
                    <a:bodyPr/>
                    <a:lstStyle/>
                    <a:p>
                      <a:pPr indent="0" marL="0">
                        <a:buNone/>
                      </a:pPr>
                      <a:r>
                        <a:rPr lang="en-US" sz="1200" u="sng" dirty="0">
                          <a:solidFill>
                            <a:schemeClr val="accent1"/>
                          </a:solidFill>
                          <a:hlinkClick r:id="rId2" invalidUrl="" action="" tgtFrame="" tooltip="A Novel Model For Transliterating MODI To Devanagari Script" history="1" highlightClick="0" endSnd="0">
                            <a:extLst>
                              <a:ext uri="{A12FA001-AC4F-418D-AE19-62706E023703}">
                                <ahyp:hlinkClr xmlns:ahyp="http://schemas.microsoft.com/office/drawing/2018/hyperlinkcolor" val="tx"/>
                              </a:ext>
                            </a:extLst>
                          </a:hlinkClick>
                        </a:rPr>
                        <a:t>Jain &amp; Ingle, 2026</a:t>
                      </a:r>
                      <a:endParaRPr lang="en-US" sz="1200" dirty="0"/>
                    </a:p>
                  </a:txBody>
                  <a:tcPr marL="76200" marR="76200" marT="38100" marB="3810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LSTM turns Modi sentences into Devanagari</a:t>
                      </a:r>
                      <a:endParaRPr lang="en-US" sz="1200" dirty="0"/>
                    </a:p>
                  </a:txBody>
                  <a:tcPr marL="76200" marR="76200" marT="38100" marB="3810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85% of characters</a:t>
                      </a:r>
                      <a:endParaRPr lang="en-US" sz="1200" dirty="0"/>
                    </a:p>
                  </a:txBody>
                  <a:tcPr marL="76200" marR="76200" marT="38100" marB="3810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Typed text, not handwriting</a:t>
                      </a:r>
                      <a:endParaRPr lang="en-US" sz="1200" dirty="0"/>
                    </a:p>
                  </a:txBody>
                  <a:tcPr marL="76200" marR="76200" marT="38100" marB="3810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solidFill>
                      <a:schemeClr val="bg2"/>
                    </a:solidFill>
                  </a:tcPr>
                </a:tc>
              </a:tr>
              <a:tr h="429768">
                <a:tc>
                  <a:txBody>
                    <a:bodyPr/>
                    <a:lstStyle/>
                    <a:p>
                      <a:pPr algn="ctr" indent="0" marL="0">
                        <a:buNone/>
                      </a:pPr>
                      <a:r>
                        <a:rPr lang="en-US" sz="1200" dirty="0">
                          <a:solidFill>
                            <a:schemeClr val="tx1"/>
                          </a:solidFill>
                        </a:rPr>
                        <a:t>3</a:t>
                      </a:r>
                      <a:endParaRPr lang="en-US" sz="1200" dirty="0"/>
                    </a:p>
                  </a:txBody>
                  <a:tcPr marL="76200" marR="76200" marT="38100" marB="3810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solidFill>
                      <a:schemeClr val="bg1"/>
                    </a:solidFill>
                  </a:tcPr>
                </a:tc>
                <a:tc>
                  <a:txBody>
                    <a:bodyPr/>
                    <a:lstStyle/>
                    <a:p>
                      <a:pPr indent="0" marL="0">
                        <a:buNone/>
                      </a:pPr>
                      <a:r>
                        <a:rPr lang="en-US" sz="1200" u="sng" dirty="0">
                          <a:solidFill>
                            <a:schemeClr val="accent1"/>
                          </a:solidFill>
                          <a:hlinkClick r:id="rId3" invalidUrl="" action="" tgtFrame="" tooltip="AI-Driven Model for Converting Modi Lipi Documents into the English Language" history="1" highlightClick="0" endSnd="0">
                            <a:extLst>
                              <a:ext uri="{A12FA001-AC4F-418D-AE19-62706E023703}">
                                <ahyp:hlinkClr xmlns:ahyp="http://schemas.microsoft.com/office/drawing/2018/hyperlinkcolor" val="tx"/>
                              </a:ext>
                            </a:extLst>
                          </a:hlinkClick>
                        </a:rPr>
                        <a:t>Govande, 2026</a:t>
                      </a:r>
                      <a:endParaRPr lang="en-US" sz="1200" dirty="0"/>
                    </a:p>
                  </a:txBody>
                  <a:tcPr marL="76200" marR="76200" marT="38100" marB="3810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Plan for a Modi to English system</a:t>
                      </a:r>
                      <a:endParaRPr lang="en-US" sz="1200" dirty="0"/>
                    </a:p>
                  </a:txBody>
                  <a:tcPr marL="76200" marR="76200" marT="38100" marB="3810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None</a:t>
                      </a:r>
                      <a:endParaRPr lang="en-US" sz="1200" dirty="0"/>
                    </a:p>
                  </a:txBody>
                  <a:tcPr marL="76200" marR="76200" marT="38100" marB="3810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Not built or tested</a:t>
                      </a:r>
                      <a:endParaRPr lang="en-US" sz="1200" dirty="0"/>
                    </a:p>
                  </a:txBody>
                  <a:tcPr marL="76200" marR="76200" marT="38100" marB="3810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solidFill>
                      <a:schemeClr val="bg1"/>
                    </a:solidFill>
                  </a:tcPr>
                </a:tc>
              </a:tr>
              <a:tr h="429768">
                <a:tc>
                  <a:txBody>
                    <a:bodyPr/>
                    <a:lstStyle/>
                    <a:p>
                      <a:pPr algn="ctr" indent="0" marL="0">
                        <a:buNone/>
                      </a:pPr>
                      <a:r>
                        <a:rPr lang="en-US" sz="1200" b="1" dirty="0">
                          <a:solidFill>
                            <a:schemeClr val="tx1"/>
                          </a:solidFill>
                        </a:rPr>
                        <a:t>4</a:t>
                      </a:r>
                      <a:endParaRPr lang="en-US" sz="1200" dirty="0"/>
                    </a:p>
                  </a:txBody>
                  <a:tcPr marL="76200" marR="76200" marT="38100" marB="3810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solidFill>
                      <a:schemeClr val="accent6"/>
                    </a:solidFill>
                  </a:tcPr>
                </a:tc>
                <a:tc>
                  <a:txBody>
                    <a:bodyPr/>
                    <a:lstStyle/>
                    <a:p>
                      <a:pPr indent="0" marL="0">
                        <a:buNone/>
                      </a:pPr>
                      <a:r>
                        <a:rPr lang="en-US" sz="1200" b="1" u="sng" dirty="0">
                          <a:solidFill>
                            <a:schemeClr val="accent1"/>
                          </a:solidFill>
                          <a:hlinkClick r:id="rId4" invalidUrl="" action="" tgtFrame="" tooltip="Handwritten Modi Script Character Recognition Using CNN and VGG16 Algorithms" history="1" highlightClick="0" endSnd="0">
                            <a:extLst>
                              <a:ext uri="{A12FA001-AC4F-418D-AE19-62706E023703}">
                                <ahyp:hlinkClr xmlns:ahyp="http://schemas.microsoft.com/office/drawing/2018/hyperlinkcolor" val="tx"/>
                              </a:ext>
                            </a:extLst>
                          </a:hlinkClick>
                        </a:rPr>
                        <a:t>Bhong &amp; Kulkarni, 2025</a:t>
                      </a:r>
                      <a:endParaRPr lang="en-US" sz="1200" dirty="0"/>
                    </a:p>
                  </a:txBody>
                  <a:tcPr marL="76200" marR="76200" marT="38100" marB="3810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solidFill>
                      <a:schemeClr val="accent6"/>
                    </a:solidFill>
                  </a:tcPr>
                </a:tc>
                <a:tc>
                  <a:txBody>
                    <a:bodyPr/>
                    <a:lstStyle/>
                    <a:p>
                      <a:pPr indent="0" marL="0">
                        <a:buNone/>
                      </a:pPr>
                      <a:r>
                        <a:rPr lang="en-US" sz="1200" dirty="0">
                          <a:solidFill>
                            <a:schemeClr val="tx1"/>
                          </a:solidFill>
                        </a:rPr>
                        <a:t>CNN vs VGG16 on 46 letters</a:t>
                      </a:r>
                      <a:endParaRPr lang="en-US" sz="1200" dirty="0"/>
                    </a:p>
                  </a:txBody>
                  <a:tcPr marL="76200" marR="76200" marT="38100" marB="3810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solidFill>
                      <a:schemeClr val="accent6"/>
                    </a:solidFill>
                  </a:tcPr>
                </a:tc>
                <a:tc>
                  <a:txBody>
                    <a:bodyPr/>
                    <a:lstStyle/>
                    <a:p>
                      <a:pPr indent="0" marL="0">
                        <a:buNone/>
                      </a:pPr>
                      <a:r>
                        <a:rPr lang="en-US" sz="1200" dirty="0">
                          <a:solidFill>
                            <a:schemeClr val="tx1"/>
                          </a:solidFill>
                        </a:rPr>
                        <a:t>89.5% (VGG16)</a:t>
                      </a:r>
                      <a:endParaRPr lang="en-US" sz="1200" dirty="0"/>
                    </a:p>
                  </a:txBody>
                  <a:tcPr marL="76200" marR="76200" marT="38100" marB="3810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solidFill>
                      <a:schemeClr val="accent6"/>
                    </a:solidFill>
                  </a:tcPr>
                </a:tc>
                <a:tc>
                  <a:txBody>
                    <a:bodyPr/>
                    <a:lstStyle/>
                    <a:p>
                      <a:pPr indent="0" marL="0">
                        <a:buNone/>
                      </a:pPr>
                      <a:r>
                        <a:rPr lang="en-US" sz="1200" dirty="0">
                          <a:solidFill>
                            <a:schemeClr val="tx1"/>
                          </a:solidFill>
                        </a:rPr>
                        <a:t>Overfits; two different best scores</a:t>
                      </a:r>
                      <a:endParaRPr lang="en-US" sz="1200" dirty="0"/>
                    </a:p>
                  </a:txBody>
                  <a:tcPr marL="76200" marR="76200" marT="38100" marB="3810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solidFill>
                      <a:schemeClr val="accent6"/>
                    </a:solidFill>
                  </a:tcPr>
                </a:tc>
              </a:tr>
              <a:tr h="429768">
                <a:tc>
                  <a:txBody>
                    <a:bodyPr/>
                    <a:lstStyle/>
                    <a:p>
                      <a:pPr algn="ctr" indent="0" marL="0">
                        <a:buNone/>
                      </a:pPr>
                      <a:r>
                        <a:rPr lang="en-US" sz="1200" dirty="0">
                          <a:solidFill>
                            <a:schemeClr val="tx1"/>
                          </a:solidFill>
                        </a:rPr>
                        <a:t>5</a:t>
                      </a:r>
                      <a:endParaRPr lang="en-US" sz="1200" dirty="0"/>
                    </a:p>
                  </a:txBody>
                  <a:tcPr marL="76200" marR="76200" marT="38100" marB="3810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solidFill>
                      <a:schemeClr val="bg1"/>
                    </a:solidFill>
                  </a:tcPr>
                </a:tc>
                <a:tc>
                  <a:txBody>
                    <a:bodyPr/>
                    <a:lstStyle/>
                    <a:p>
                      <a:pPr indent="0" marL="0">
                        <a:buNone/>
                      </a:pPr>
                      <a:r>
                        <a:rPr lang="en-US" sz="1200" u="sng" dirty="0">
                          <a:solidFill>
                            <a:schemeClr val="accent1"/>
                          </a:solidFill>
                          <a:hlinkClick r:id="rId5" invalidUrl="" action="" tgtFrame="" tooltip="Historic Scripts to Modern Vision: A Novel Dataset and A VLM Framework for Transliteration of Modi Script to Devanagari" history="1" highlightClick="0" endSnd="0">
                            <a:extLst>
                              <a:ext uri="{A12FA001-AC4F-418D-AE19-62706E023703}">
                                <ahyp:hlinkClr xmlns:ahyp="http://schemas.microsoft.com/office/drawing/2018/hyperlinkcolor" val="tx"/>
                              </a:ext>
                            </a:extLst>
                          </a:hlinkClick>
                        </a:rPr>
                        <a:t>Kausadikar et al., 2025</a:t>
                      </a:r>
                      <a:endParaRPr lang="en-US" sz="1200" dirty="0"/>
                    </a:p>
                  </a:txBody>
                  <a:tcPr marL="76200" marR="76200" marT="38100" marB="3810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Dataset of 2,043 documents plus a big vision-language model</a:t>
                      </a:r>
                      <a:endParaRPr lang="en-US" sz="1200" dirty="0"/>
                    </a:p>
                  </a:txBody>
                  <a:tcPr marL="76200" marR="76200" marT="38100" marB="3810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BLEU 51</a:t>
                      </a:r>
                      <a:endParaRPr lang="en-US" sz="1200" dirty="0"/>
                    </a:p>
                  </a:txBody>
                  <a:tcPr marL="76200" marR="76200" marT="38100" marB="3810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Needs big GPUs, no letter-level detail</a:t>
                      </a:r>
                      <a:endParaRPr lang="en-US" sz="1200" dirty="0"/>
                    </a:p>
                  </a:txBody>
                  <a:tcPr marL="76200" marR="76200" marT="38100" marB="3810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solidFill>
                      <a:schemeClr val="bg1"/>
                    </a:solidFill>
                  </a:tcPr>
                </a:tc>
              </a:tr>
              <a:tr h="429768">
                <a:tc>
                  <a:txBody>
                    <a:bodyPr/>
                    <a:lstStyle/>
                    <a:p>
                      <a:pPr algn="ctr" indent="0" marL="0">
                        <a:buNone/>
                      </a:pPr>
                      <a:r>
                        <a:rPr lang="en-US" sz="1200" b="1" dirty="0">
                          <a:solidFill>
                            <a:schemeClr val="tx1"/>
                          </a:solidFill>
                        </a:rPr>
                        <a:t>6</a:t>
                      </a:r>
                      <a:endParaRPr lang="en-US" sz="1200" dirty="0"/>
                    </a:p>
                  </a:txBody>
                  <a:tcPr marL="76200" marR="76200" marT="38100" marB="3810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solidFill>
                      <a:schemeClr val="accent6"/>
                    </a:solidFill>
                  </a:tcPr>
                </a:tc>
                <a:tc>
                  <a:txBody>
                    <a:bodyPr/>
                    <a:lstStyle/>
                    <a:p>
                      <a:pPr indent="0" marL="0">
                        <a:buNone/>
                      </a:pPr>
                      <a:r>
                        <a:rPr lang="en-US" sz="1200" b="1" u="sng" dirty="0">
                          <a:solidFill>
                            <a:schemeClr val="accent1"/>
                          </a:solidFill>
                          <a:hlinkClick r:id="rId6" invalidUrl="" action="" tgtFrame="" tooltip="Modi Script Character Recognition Using Convolutional Neural Networks and Attention-Based CNN Architecture" history="1" highlightClick="0" endSnd="0">
                            <a:extLst>
                              <a:ext uri="{A12FA001-AC4F-418D-AE19-62706E023703}">
                                <ahyp:hlinkClr xmlns:ahyp="http://schemas.microsoft.com/office/drawing/2018/hyperlinkcolor" val="tx"/>
                              </a:ext>
                            </a:extLst>
                          </a:hlinkClick>
                        </a:rPr>
                        <a:t>Kolte &amp; Gupta, 2025</a:t>
                      </a:r>
                      <a:endParaRPr lang="en-US" sz="1200" dirty="0"/>
                    </a:p>
                  </a:txBody>
                  <a:tcPr marL="76200" marR="76200" marT="38100" marB="3810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solidFill>
                      <a:schemeClr val="accent6"/>
                    </a:solidFill>
                  </a:tcPr>
                </a:tc>
                <a:tc>
                  <a:txBody>
                    <a:bodyPr/>
                    <a:lstStyle/>
                    <a:p>
                      <a:pPr indent="0" marL="0">
                        <a:buNone/>
                      </a:pPr>
                      <a:r>
                        <a:rPr lang="en-US" sz="1200" dirty="0">
                          <a:solidFill>
                            <a:schemeClr val="tx1"/>
                          </a:solidFill>
                        </a:rPr>
                        <a:t>CNN with attention</a:t>
                      </a:r>
                      <a:endParaRPr lang="en-US" sz="1200" dirty="0"/>
                    </a:p>
                  </a:txBody>
                  <a:tcPr marL="76200" marR="76200" marT="38100" marB="3810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solidFill>
                      <a:schemeClr val="accent6"/>
                    </a:solidFill>
                  </a:tcPr>
                </a:tc>
                <a:tc>
                  <a:txBody>
                    <a:bodyPr/>
                    <a:lstStyle/>
                    <a:p>
                      <a:pPr indent="0" marL="0">
                        <a:buNone/>
                      </a:pPr>
                      <a:r>
                        <a:rPr lang="en-US" sz="1200" dirty="0">
                          <a:solidFill>
                            <a:schemeClr val="tx1"/>
                          </a:solidFill>
                        </a:rPr>
                        <a:t>94.6%</a:t>
                      </a:r>
                      <a:endParaRPr lang="en-US" sz="1200" dirty="0"/>
                    </a:p>
                  </a:txBody>
                  <a:tcPr marL="76200" marR="76200" marT="38100" marB="3810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solidFill>
                      <a:schemeClr val="accent6"/>
                    </a:solidFill>
                  </a:tcPr>
                </a:tc>
                <a:tc>
                  <a:txBody>
                    <a:bodyPr/>
                    <a:lstStyle/>
                    <a:p>
                      <a:pPr indent="0" marL="0">
                        <a:buNone/>
                      </a:pPr>
                      <a:r>
                        <a:rPr lang="en-US" sz="1200" dirty="0">
                          <a:solidFill>
                            <a:schemeClr val="tx1"/>
                          </a:solidFill>
                        </a:rPr>
                        <a:t>Summary and conclusion disagree</a:t>
                      </a:r>
                      <a:endParaRPr lang="en-US" sz="1200" dirty="0"/>
                    </a:p>
                  </a:txBody>
                  <a:tcPr marL="76200" marR="76200" marT="38100" marB="3810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solidFill>
                      <a:schemeClr val="accent6"/>
                    </a:solidFill>
                  </a:tcPr>
                </a:tc>
              </a:tr>
              <a:tr h="429768">
                <a:tc>
                  <a:txBody>
                    <a:bodyPr/>
                    <a:lstStyle/>
                    <a:p>
                      <a:pPr algn="ctr" indent="0" marL="0">
                        <a:buNone/>
                      </a:pPr>
                      <a:r>
                        <a:rPr lang="en-US" sz="1200" b="1" dirty="0">
                          <a:solidFill>
                            <a:schemeClr val="tx1"/>
                          </a:solidFill>
                        </a:rPr>
                        <a:t>7</a:t>
                      </a:r>
                      <a:endParaRPr lang="en-US" sz="1200" dirty="0"/>
                    </a:p>
                  </a:txBody>
                  <a:tcPr marL="76200" marR="76200" marT="38100" marB="3810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solidFill>
                      <a:schemeClr val="accent6"/>
                    </a:solidFill>
                  </a:tcPr>
                </a:tc>
                <a:tc>
                  <a:txBody>
                    <a:bodyPr/>
                    <a:lstStyle/>
                    <a:p>
                      <a:pPr indent="0" marL="0">
                        <a:buNone/>
                      </a:pPr>
                      <a:r>
                        <a:rPr lang="en-US" sz="1200" b="1" u="sng" dirty="0">
                          <a:solidFill>
                            <a:schemeClr val="accent1"/>
                          </a:solidFill>
                          <a:hlinkClick r:id="rId7" invalidUrl="" action="" tgtFrame="" tooltip="Modi Script Handwritten Character Classification using Drop-out Induced Incremental Learning Approach" history="1" highlightClick="0" endSnd="0">
                            <a:extLst>
                              <a:ext uri="{A12FA001-AC4F-418D-AE19-62706E023703}">
                                <ahyp:hlinkClr xmlns:ahyp="http://schemas.microsoft.com/office/drawing/2018/hyperlinkcolor" val="tx"/>
                              </a:ext>
                            </a:extLst>
                          </a:hlinkClick>
                        </a:rPr>
                        <a:t>Chandankhede et al., 2025</a:t>
                      </a:r>
                      <a:endParaRPr lang="en-US" sz="1200" dirty="0"/>
                    </a:p>
                  </a:txBody>
                  <a:tcPr marL="76200" marR="76200" marT="38100" marB="3810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solidFill>
                      <a:schemeClr val="accent6"/>
                    </a:solidFill>
                  </a:tcPr>
                </a:tc>
                <a:tc>
                  <a:txBody>
                    <a:bodyPr/>
                    <a:lstStyle/>
                    <a:p>
                      <a:pPr indent="0" marL="0">
                        <a:buNone/>
                      </a:pPr>
                      <a:r>
                        <a:rPr lang="en-US" sz="1200" dirty="0">
                          <a:solidFill>
                            <a:schemeClr val="tx1"/>
                          </a:solidFill>
                        </a:rPr>
                        <a:t>All 360 letter and vowel combinations</a:t>
                      </a:r>
                      <a:endParaRPr lang="en-US" sz="1200" dirty="0"/>
                    </a:p>
                  </a:txBody>
                  <a:tcPr marL="76200" marR="76200" marT="38100" marB="3810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solidFill>
                      <a:schemeClr val="accent6"/>
                    </a:solidFill>
                  </a:tcPr>
                </a:tc>
                <a:tc>
                  <a:txBody>
                    <a:bodyPr/>
                    <a:lstStyle/>
                    <a:p>
                      <a:pPr indent="0" marL="0">
                        <a:buNone/>
                      </a:pPr>
                      <a:r>
                        <a:rPr lang="en-US" sz="1200" dirty="0">
                          <a:solidFill>
                            <a:schemeClr val="tx1"/>
                          </a:solidFill>
                        </a:rPr>
                        <a:t>97% test, 45% validation</a:t>
                      </a:r>
                      <a:endParaRPr lang="en-US" sz="1200" dirty="0"/>
                    </a:p>
                  </a:txBody>
                  <a:tcPr marL="76200" marR="76200" marT="38100" marB="3810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solidFill>
                      <a:schemeClr val="accent6"/>
                    </a:solidFill>
                  </a:tcPr>
                </a:tc>
                <a:tc>
                  <a:txBody>
                    <a:bodyPr/>
                    <a:lstStyle/>
                    <a:p>
                      <a:pPr indent="0" marL="0">
                        <a:buNone/>
                      </a:pPr>
                      <a:r>
                        <a:rPr lang="en-US" sz="1200" dirty="0">
                          <a:solidFill>
                            <a:schemeClr val="tx1"/>
                          </a:solidFill>
                        </a:rPr>
                        <a:t>Results contradict each other</a:t>
                      </a:r>
                      <a:endParaRPr lang="en-US" sz="1200" dirty="0"/>
                    </a:p>
                  </a:txBody>
                  <a:tcPr marL="76200" marR="76200" marT="38100" marB="3810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solidFill>
                      <a:schemeClr val="accent6"/>
                    </a:solidFill>
                  </a:tcPr>
                </a:tc>
              </a:tr>
              <a:tr h="429768">
                <a:tc>
                  <a:txBody>
                    <a:bodyPr/>
                    <a:lstStyle/>
                    <a:p>
                      <a:pPr algn="ctr" indent="0" marL="0">
                        <a:buNone/>
                      </a:pPr>
                      <a:r>
                        <a:rPr lang="en-US" sz="1200" dirty="0">
                          <a:solidFill>
                            <a:schemeClr val="tx1"/>
                          </a:solidFill>
                        </a:rPr>
                        <a:t>8</a:t>
                      </a:r>
                      <a:endParaRPr lang="en-US" sz="1200" dirty="0"/>
                    </a:p>
                  </a:txBody>
                  <a:tcPr marL="76200" marR="76200" marT="38100" marB="3810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solidFill>
                      <a:schemeClr val="bg2"/>
                    </a:solidFill>
                  </a:tcPr>
                </a:tc>
                <a:tc>
                  <a:txBody>
                    <a:bodyPr/>
                    <a:lstStyle/>
                    <a:p>
                      <a:pPr indent="0" marL="0">
                        <a:buNone/>
                      </a:pPr>
                      <a:r>
                        <a:rPr lang="en-US" sz="1200" u="sng" dirty="0">
                          <a:solidFill>
                            <a:schemeClr val="accent1"/>
                          </a:solidFill>
                          <a:hlinkClick r:id="rId8" invalidUrl="" action="" tgtFrame="" tooltip="Review on MODI Script Character Recognition Using Deep Learning Techniques" history="1" highlightClick="0" endSnd="0">
                            <a:extLst>
                              <a:ext uri="{A12FA001-AC4F-418D-AE19-62706E023703}">
                                <ahyp:hlinkClr xmlns:ahyp="http://schemas.microsoft.com/office/drawing/2018/hyperlinkcolor" val="tx"/>
                              </a:ext>
                            </a:extLst>
                          </a:hlinkClick>
                        </a:rPr>
                        <a:t>Bhong &amp; Gupta, 2025</a:t>
                      </a:r>
                      <a:endParaRPr lang="en-US" sz="1200" dirty="0"/>
                    </a:p>
                  </a:txBody>
                  <a:tcPr marL="76200" marR="76200" marT="38100" marB="3810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Review of deep learning for Modi</a:t>
                      </a:r>
                      <a:endParaRPr lang="en-US" sz="1200" dirty="0"/>
                    </a:p>
                  </a:txBody>
                  <a:tcPr marL="76200" marR="76200" marT="38100" marB="3810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65 to 90%+ (cited)</a:t>
                      </a:r>
                      <a:endParaRPr lang="en-US" sz="1200" dirty="0"/>
                    </a:p>
                  </a:txBody>
                  <a:tcPr marL="76200" marR="76200" marT="38100" marB="3810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Some numbers can't be traced</a:t>
                      </a:r>
                      <a:endParaRPr lang="en-US" sz="1200" dirty="0"/>
                    </a:p>
                  </a:txBody>
                  <a:tcPr marL="76200" marR="76200" marT="38100" marB="3810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solidFill>
                      <a:schemeClr val="bg2"/>
                    </a:solidFill>
                  </a:tcPr>
                </a:tc>
              </a:tr>
              <a:tr h="429768">
                <a:tc>
                  <a:txBody>
                    <a:bodyPr/>
                    <a:lstStyle/>
                    <a:p>
                      <a:pPr algn="ctr" indent="0" marL="0">
                        <a:buNone/>
                      </a:pPr>
                      <a:r>
                        <a:rPr lang="en-US" sz="1200" dirty="0">
                          <a:solidFill>
                            <a:schemeClr val="tx1"/>
                          </a:solidFill>
                        </a:rPr>
                        <a:t>9</a:t>
                      </a:r>
                      <a:endParaRPr lang="en-US" sz="1200" dirty="0"/>
                    </a:p>
                  </a:txBody>
                  <a:tcPr marL="76200" marR="76200" marT="38100" marB="3810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solidFill>
                      <a:schemeClr val="bg1"/>
                    </a:solidFill>
                  </a:tcPr>
                </a:tc>
                <a:tc>
                  <a:txBody>
                    <a:bodyPr/>
                    <a:lstStyle/>
                    <a:p>
                      <a:pPr indent="0" marL="0">
                        <a:buNone/>
                      </a:pPr>
                      <a:r>
                        <a:rPr lang="en-US" sz="1200" u="sng" dirty="0">
                          <a:solidFill>
                            <a:schemeClr val="accent1"/>
                          </a:solidFill>
                          <a:hlinkClick r:id="rId9" invalidUrl="" action="" tgtFrame="" tooltip="Advancements in Modi Script Character Recognition: A Comprehensive Survey" history="1" highlightClick="0" endSnd="0">
                            <a:extLst>
                              <a:ext uri="{A12FA001-AC4F-418D-AE19-62706E023703}">
                                <ahyp:hlinkClr xmlns:ahyp="http://schemas.microsoft.com/office/drawing/2018/hyperlinkcolor" val="tx"/>
                              </a:ext>
                            </a:extLst>
                          </a:hlinkClick>
                        </a:rPr>
                        <a:t>Aher et al., 2024</a:t>
                      </a:r>
                      <a:endParaRPr lang="en-US" sz="1200" dirty="0"/>
                    </a:p>
                  </a:txBody>
                  <a:tcPr marL="76200" marR="76200" marT="38100" marB="3810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Survey of methods</a:t>
                      </a:r>
                      <a:endParaRPr lang="en-US" sz="1200" dirty="0"/>
                    </a:p>
                  </a:txBody>
                  <a:tcPr marL="76200" marR="76200" marT="38100" marB="3810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None</a:t>
                      </a:r>
                      <a:endParaRPr lang="en-US" sz="1200" dirty="0"/>
                    </a:p>
                  </a:txBody>
                  <a:tcPr marL="76200" marR="76200" marT="38100" marB="3810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No common test data</a:t>
                      </a:r>
                      <a:endParaRPr lang="en-US" sz="1200" dirty="0"/>
                    </a:p>
                  </a:txBody>
                  <a:tcPr marL="76200" marR="76200" marT="38100" marB="3810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solidFill>
                      <a:schemeClr val="bg1"/>
                    </a:solidFill>
                  </a:tcPr>
                </a:tc>
              </a:tr>
              <a:tr h="429768">
                <a:tc>
                  <a:txBody>
                    <a:bodyPr/>
                    <a:lstStyle/>
                    <a:p>
                      <a:pPr algn="ctr" indent="0" marL="0">
                        <a:buNone/>
                      </a:pPr>
                      <a:r>
                        <a:rPr lang="en-US" sz="1200" dirty="0">
                          <a:solidFill>
                            <a:schemeClr val="tx1"/>
                          </a:solidFill>
                        </a:rPr>
                        <a:t>10</a:t>
                      </a:r>
                      <a:endParaRPr lang="en-US" sz="1200" dirty="0"/>
                    </a:p>
                  </a:txBody>
                  <a:tcPr marL="76200" marR="76200" marT="38100" marB="3810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solidFill>
                      <a:schemeClr val="bg2"/>
                    </a:solidFill>
                  </a:tcPr>
                </a:tc>
                <a:tc>
                  <a:txBody>
                    <a:bodyPr/>
                    <a:lstStyle/>
                    <a:p>
                      <a:pPr indent="0" marL="0">
                        <a:buNone/>
                      </a:pPr>
                      <a:r>
                        <a:rPr lang="en-US" sz="1200" u="sng" dirty="0">
                          <a:solidFill>
                            <a:schemeClr val="accent1"/>
                          </a:solidFill>
                          <a:hlinkClick r:id="rId10" invalidUrl="" action="" tgtFrame="" tooltip="Bridging Heritage and Technology: A Review of Modi Script Character Recognition" history="1" highlightClick="0" endSnd="0">
                            <a:extLst>
                              <a:ext uri="{A12FA001-AC4F-418D-AE19-62706E023703}">
                                <ahyp:hlinkClr xmlns:ahyp="http://schemas.microsoft.com/office/drawing/2018/hyperlinkcolor" val="tx"/>
                              </a:ext>
                            </a:extLst>
                          </a:hlinkClick>
                        </a:rPr>
                        <a:t>Kolte &amp; Gupta, 2024</a:t>
                      </a:r>
                      <a:endParaRPr lang="en-US" sz="1200" dirty="0"/>
                    </a:p>
                  </a:txBody>
                  <a:tcPr marL="76200" marR="76200" marT="38100" marB="3810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Review with a comparison table</a:t>
                      </a:r>
                      <a:endParaRPr lang="en-US" sz="1200" dirty="0"/>
                    </a:p>
                  </a:txBody>
                  <a:tcPr marL="76200" marR="76200" marT="38100" marB="3810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Up to 94.6% (cited)</a:t>
                      </a:r>
                      <a:endParaRPr lang="en-US" sz="1200" dirty="0"/>
                    </a:p>
                  </a:txBody>
                  <a:tcPr marL="76200" marR="76200" marT="38100" marB="3810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Compares different datasets</a:t>
                      </a:r>
                      <a:endParaRPr lang="en-US" sz="1200" dirty="0"/>
                    </a:p>
                  </a:txBody>
                  <a:tcPr marL="76200" marR="76200" marT="38100" marB="3810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solidFill>
                      <a:schemeClr val="bg2"/>
                    </a:solidFill>
                  </a:tcPr>
                </a:tc>
              </a:tr>
            </a:tbl>
          </a:graphicData>
        </a:graphic>
      </p:graphicFrame>
      <p:sp>
        <p:nvSpPr>
          <p:cNvPr id="4" name="Text 1"/>
          <p:cNvSpPr txBox="1"/>
          <p:nvPr/>
        </p:nvSpPr>
        <p:spPr>
          <a:xfrm>
            <a:off x="548640" y="5989320"/>
            <a:ext cx="11064240" cy="320040"/>
          </a:xfrm>
          <a:prstGeom prst="rect">
            <a:avLst/>
          </a:prstGeom>
          <a:noFill/>
          <a:ln/>
        </p:spPr>
        <p:txBody>
          <a:bodyPr wrap="square" lIns="0" tIns="0" rIns="0" bIns="0" rtlCol="0" anchor="ctr"/>
          <a:lstStyle/>
          <a:p>
            <a:pPr indent="0" marL="0">
              <a:buNone/>
            </a:pPr>
            <a:r>
              <a:rPr lang="en-US" sz="1100" i="1" dirty="0">
                <a:solidFill>
                  <a:schemeClr val="tx2"/>
                </a:solidFill>
              </a:rPr>
              <a:t>Highlighted rows are our base papers. Click a paper's name to open the PDF.</a:t>
            </a:r>
            <a:endParaRPr lang="en-US" sz="11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731520"/>
          </a:xfrm>
          <a:prstGeom prst="rect">
            <a:avLst/>
          </a:prstGeom>
          <a:noFill/>
          <a:ln/>
        </p:spPr>
        <p:txBody>
          <a:bodyPr wrap="square" rtlCol="0" anchor="ctr"/>
          <a:lstStyle/>
          <a:p>
            <a:pPr indent="0" marL="0">
              <a:buNone/>
            </a:pPr>
            <a:r>
              <a:rPr lang="en-US" sz="3000" b="1" dirty="0">
                <a:solidFill>
                  <a:schemeClr val="tx2"/>
                </a:solidFill>
                <a:latin typeface="Cambria" pitchFamily="34" charset="0"/>
                <a:ea typeface="Cambria" pitchFamily="34" charset="-122"/>
                <a:cs typeface="Cambria" pitchFamily="34" charset="-120"/>
              </a:rPr>
              <a:t>All 30 papers at a glance (2 of 3)</a:t>
            </a:r>
            <a:endParaRPr lang="en-US" sz="3000" dirty="0"/>
          </a:p>
        </p:txBody>
      </p:sp>
      <p:graphicFrame>
        <p:nvGraphicFramePr>
          <p:cNvPr id="6" name="Paper table part 2"/>
          <p:cNvGraphicFramePr>
            <a:graphicFrameLocks noGrp="1"/>
          </p:cNvGraphicFramePr>
          <p:nvPr>
            <p:extLst>
              <p:ext uri="{D42A27DB-BD31-4B8C-83A1-F6EECF244321}">
                <p14:modId xmlns:p14="http://schemas.microsoft.com/office/powerpoint/2010/main" val="1579011935"/>
              </p:ext>
            </p:extLst>
          </p:nvPr>
        </p:nvGraphicFramePr>
        <p:xfrm>
          <a:off x="548640" y="1234440"/>
          <a:ext cx="11064240" cy="914400"/>
        </p:xfrm>
        <a:graphic>
          <a:graphicData uri="http://schemas.openxmlformats.org/drawingml/2006/table">
            <a:tbl>
              <a:tblPr/>
              <a:tblGrid>
                <a:gridCol w="457200"/>
                <a:gridCol w="2377440"/>
                <a:gridCol w="3383280"/>
                <a:gridCol w="2194560"/>
                <a:gridCol w="2651760"/>
              </a:tblGrid>
              <a:tr h="429768">
                <a:tc>
                  <a:txBody>
                    <a:bodyPr/>
                    <a:lstStyle/>
                    <a:p>
                      <a:pPr indent="0" marL="0">
                        <a:buNone/>
                      </a:pPr>
                      <a:r>
                        <a:rPr lang="en-US" sz="1300" b="1" dirty="0">
                          <a:solidFill>
                            <a:schemeClr val="bg1"/>
                          </a:solidFill>
                        </a:rPr>
                        <a:t>#</a:t>
                      </a:r>
                      <a:endParaRPr lang="en-US" sz="1300" dirty="0"/>
                    </a:p>
                  </a:txBody>
                  <a:tcPr marL="76200" marR="76200" marT="38100" marB="38100">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Paper</a:t>
                      </a:r>
                      <a:endParaRPr lang="en-US" sz="1300" dirty="0"/>
                    </a:p>
                  </a:txBody>
                  <a:tcPr marL="76200" marR="76200" marT="38100" marB="38100">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What they did</a:t>
                      </a:r>
                      <a:endParaRPr lang="en-US" sz="1300" dirty="0"/>
                    </a:p>
                  </a:txBody>
                  <a:tcPr marL="76200" marR="76200" marT="38100" marB="38100">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Result</a:t>
                      </a:r>
                      <a:endParaRPr lang="en-US" sz="1300" dirty="0"/>
                    </a:p>
                  </a:txBody>
                  <a:tcPr marL="76200" marR="76200" marT="38100" marB="38100">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Main problem</a:t>
                      </a:r>
                      <a:endParaRPr lang="en-US" sz="1300" dirty="0"/>
                    </a:p>
                  </a:txBody>
                  <a:tcPr marL="76200" marR="76200" marT="38100" marB="38100">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solidFill>
                      <a:schemeClr val="tx2"/>
                    </a:solidFill>
                  </a:tcPr>
                </a:tc>
              </a:tr>
              <a:tr h="429768">
                <a:tc>
                  <a:txBody>
                    <a:bodyPr/>
                    <a:lstStyle/>
                    <a:p>
                      <a:pPr algn="ctr" indent="0" marL="0">
                        <a:buNone/>
                      </a:pPr>
                      <a:r>
                        <a:rPr lang="en-US" sz="1200" dirty="0">
                          <a:solidFill>
                            <a:schemeClr val="tx1"/>
                          </a:solidFill>
                        </a:rPr>
                        <a:t>11</a:t>
                      </a:r>
                      <a:endParaRPr lang="en-US" sz="1200" dirty="0"/>
                    </a:p>
                  </a:txBody>
                  <a:tcPr marL="76200" marR="76200" marT="38100" marB="3810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solidFill>
                      <a:schemeClr val="bg1"/>
                    </a:solidFill>
                  </a:tcPr>
                </a:tc>
                <a:tc>
                  <a:txBody>
                    <a:bodyPr/>
                    <a:lstStyle/>
                    <a:p>
                      <a:pPr indent="0" marL="0">
                        <a:buNone/>
                      </a:pPr>
                      <a:r>
                        <a:rPr lang="en-US" sz="1200" u="sng" dirty="0">
                          <a:solidFill>
                            <a:schemeClr val="accent1"/>
                          </a:solidFill>
                          <a:hlinkClick r:id="rId1" invalidUrl="" action="" tgtFrame="" tooltip="Exploring ResNet101, InceptionV3, and Xception for Modi Script Character Classification" history="1" highlightClick="0" endSnd="0">
                            <a:extLst>
                              <a:ext uri="{A12FA001-AC4F-418D-AE19-62706E023703}">
                                <ahyp:hlinkClr xmlns:ahyp="http://schemas.microsoft.com/office/drawing/2018/hyperlinkcolor" val="tx"/>
                              </a:ext>
                            </a:extLst>
                          </a:hlinkClick>
                        </a:rPr>
                        <a:t>Sonavane et al., 2024</a:t>
                      </a:r>
                      <a:endParaRPr lang="en-US" sz="1200" dirty="0"/>
                    </a:p>
                  </a:txBody>
                  <a:tcPr marL="76200" marR="76200" marT="38100" marB="3810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ResNet, Inception and Xception</a:t>
                      </a:r>
                      <a:endParaRPr lang="en-US" sz="1200" dirty="0"/>
                    </a:p>
                  </a:txBody>
                  <a:tcPr marL="76200" marR="76200" marT="38100" marB="3810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90.4%</a:t>
                      </a:r>
                      <a:endParaRPr lang="en-US" sz="1200" dirty="0"/>
                    </a:p>
                  </a:txBody>
                  <a:tcPr marL="76200" marR="76200" marT="38100" marB="3810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Dataset not described</a:t>
                      </a:r>
                      <a:endParaRPr lang="en-US" sz="1200" dirty="0"/>
                    </a:p>
                  </a:txBody>
                  <a:tcPr marL="76200" marR="76200" marT="38100" marB="3810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solidFill>
                      <a:schemeClr val="bg1"/>
                    </a:solidFill>
                  </a:tcPr>
                </a:tc>
              </a:tr>
              <a:tr h="429768">
                <a:tc>
                  <a:txBody>
                    <a:bodyPr/>
                    <a:lstStyle/>
                    <a:p>
                      <a:pPr algn="ctr" indent="0" marL="0">
                        <a:buNone/>
                      </a:pPr>
                      <a:r>
                        <a:rPr lang="en-US" sz="1200" dirty="0">
                          <a:solidFill>
                            <a:schemeClr val="tx1"/>
                          </a:solidFill>
                        </a:rPr>
                        <a:t>12</a:t>
                      </a:r>
                      <a:endParaRPr lang="en-US" sz="1200" dirty="0"/>
                    </a:p>
                  </a:txBody>
                  <a:tcPr marL="76200" marR="76200" marT="38100" marB="3810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solidFill>
                      <a:schemeClr val="bg2"/>
                    </a:solidFill>
                  </a:tcPr>
                </a:tc>
                <a:tc>
                  <a:txBody>
                    <a:bodyPr/>
                    <a:lstStyle/>
                    <a:p>
                      <a:pPr indent="0" marL="0">
                        <a:buNone/>
                      </a:pPr>
                      <a:r>
                        <a:rPr lang="en-US" sz="1200" u="sng" dirty="0">
                          <a:solidFill>
                            <a:schemeClr val="accent1"/>
                          </a:solidFill>
                          <a:hlinkClick r:id="rId2" invalidUrl="" action="" tgtFrame="" tooltip="Machine Transliteration of Handwritten MODI Script to Devanagari using Deep Neural Networks" history="1" highlightClick="0" endSnd="0">
                            <a:extLst>
                              <a:ext uri="{A12FA001-AC4F-418D-AE19-62706E023703}">
                                <ahyp:hlinkClr xmlns:ahyp="http://schemas.microsoft.com/office/drawing/2018/hyperlinkcolor" val="tx"/>
                              </a:ext>
                            </a:extLst>
                          </a:hlinkClick>
                        </a:rPr>
                        <a:t>Joseph &amp; George, 2024</a:t>
                      </a:r>
                      <a:endParaRPr lang="en-US" sz="1200" dirty="0"/>
                    </a:p>
                  </a:txBody>
                  <a:tcPr marL="76200" marR="76200" marT="38100" marB="3810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OCR on Modi text lines</a:t>
                      </a:r>
                      <a:endParaRPr lang="en-US" sz="1200" dirty="0"/>
                    </a:p>
                  </a:txBody>
                  <a:tcPr marL="76200" marR="76200" marT="38100" marB="3810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88% characters, 61% words</a:t>
                      </a:r>
                      <a:endParaRPr lang="en-US" sz="1200" dirty="0"/>
                    </a:p>
                  </a:txBody>
                  <a:tcPr marL="76200" marR="76200" marT="38100" marB="3810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Private data</a:t>
                      </a:r>
                      <a:endParaRPr lang="en-US" sz="1200" dirty="0"/>
                    </a:p>
                  </a:txBody>
                  <a:tcPr marL="76200" marR="76200" marT="38100" marB="3810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solidFill>
                      <a:schemeClr val="bg2"/>
                    </a:solidFill>
                  </a:tcPr>
                </a:tc>
              </a:tr>
              <a:tr h="429768">
                <a:tc>
                  <a:txBody>
                    <a:bodyPr/>
                    <a:lstStyle/>
                    <a:p>
                      <a:pPr algn="ctr" indent="0" marL="0">
                        <a:buNone/>
                      </a:pPr>
                      <a:r>
                        <a:rPr lang="en-US" sz="1200" dirty="0">
                          <a:solidFill>
                            <a:schemeClr val="tx1"/>
                          </a:solidFill>
                        </a:rPr>
                        <a:t>13</a:t>
                      </a:r>
                      <a:endParaRPr lang="en-US" sz="1200" dirty="0"/>
                    </a:p>
                  </a:txBody>
                  <a:tcPr marL="76200" marR="76200" marT="38100" marB="3810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solidFill>
                      <a:schemeClr val="bg1"/>
                    </a:solidFill>
                  </a:tcPr>
                </a:tc>
                <a:tc>
                  <a:txBody>
                    <a:bodyPr/>
                    <a:lstStyle/>
                    <a:p>
                      <a:pPr indent="0" marL="0">
                        <a:buNone/>
                      </a:pPr>
                      <a:r>
                        <a:rPr lang="en-US" sz="1200" u="sng" dirty="0">
                          <a:solidFill>
                            <a:schemeClr val="accent1"/>
                          </a:solidFill>
                          <a:hlinkClick r:id="rId3" invalidUrl="" action="" tgtFrame="" tooltip="Modi Document Transcription to Devanagari" history="1" highlightClick="0" endSnd="0">
                            <a:extLst>
                              <a:ext uri="{A12FA001-AC4F-418D-AE19-62706E023703}">
                                <ahyp:hlinkClr xmlns:ahyp="http://schemas.microsoft.com/office/drawing/2018/hyperlinkcolor" val="tx"/>
                              </a:ext>
                            </a:extLst>
                          </a:hlinkClick>
                        </a:rPr>
                        <a:t>Kundaikar et al., 2024</a:t>
                      </a:r>
                      <a:endParaRPr lang="en-US" sz="1200" dirty="0"/>
                    </a:p>
                  </a:txBody>
                  <a:tcPr marL="76200" marR="76200" marT="38100" marB="3810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LSTM on font-made Modi text</a:t>
                      </a:r>
                      <a:endParaRPr lang="en-US" sz="1200" dirty="0"/>
                    </a:p>
                  </a:txBody>
                  <a:tcPr marL="76200" marR="76200" marT="38100" marB="3810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94.7%</a:t>
                      </a:r>
                      <a:endParaRPr lang="en-US" sz="1200" dirty="0"/>
                    </a:p>
                  </a:txBody>
                  <a:tcPr marL="76200" marR="76200" marT="38100" marB="3810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Never tested on handwriting</a:t>
                      </a:r>
                      <a:endParaRPr lang="en-US" sz="1200" dirty="0"/>
                    </a:p>
                  </a:txBody>
                  <a:tcPr marL="76200" marR="76200" marT="38100" marB="3810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solidFill>
                      <a:schemeClr val="bg1"/>
                    </a:solidFill>
                  </a:tcPr>
                </a:tc>
              </a:tr>
              <a:tr h="429768">
                <a:tc>
                  <a:txBody>
                    <a:bodyPr/>
                    <a:lstStyle/>
                    <a:p>
                      <a:pPr algn="ctr" indent="0" marL="0">
                        <a:buNone/>
                      </a:pPr>
                      <a:r>
                        <a:rPr lang="en-US" sz="1200" b="1" dirty="0">
                          <a:solidFill>
                            <a:schemeClr val="tx1"/>
                          </a:solidFill>
                        </a:rPr>
                        <a:t>14</a:t>
                      </a:r>
                      <a:endParaRPr lang="en-US" sz="1200" dirty="0"/>
                    </a:p>
                  </a:txBody>
                  <a:tcPr marL="76200" marR="76200" marT="38100" marB="3810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solidFill>
                      <a:schemeClr val="accent6"/>
                    </a:solidFill>
                  </a:tcPr>
                </a:tc>
                <a:tc>
                  <a:txBody>
                    <a:bodyPr/>
                    <a:lstStyle/>
                    <a:p>
                      <a:pPr indent="0" marL="0">
                        <a:buNone/>
                      </a:pPr>
                      <a:r>
                        <a:rPr lang="en-US" sz="1200" b="1" u="sng" dirty="0">
                          <a:solidFill>
                            <a:schemeClr val="accent1"/>
                          </a:solidFill>
                          <a:hlinkClick r:id="rId4" invalidUrl="" action="" tgtFrame="" tooltip="Offline MODI script character recognition using deep learning techniques" history="1" highlightClick="0" endSnd="0">
                            <a:extLst>
                              <a:ext uri="{A12FA001-AC4F-418D-AE19-62706E023703}">
                                <ahyp:hlinkClr xmlns:ahyp="http://schemas.microsoft.com/office/drawing/2018/hyperlinkcolor" val="tx"/>
                              </a:ext>
                            </a:extLst>
                          </a:hlinkClick>
                        </a:rPr>
                        <a:t>Mandke et al., 2024</a:t>
                      </a:r>
                      <a:endParaRPr lang="en-US" sz="1200" dirty="0"/>
                    </a:p>
                  </a:txBody>
                  <a:tcPr marL="76200" marR="76200" marT="38100" marB="3810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solidFill>
                      <a:schemeClr val="accent6"/>
                    </a:solidFill>
                  </a:tcPr>
                </a:tc>
                <a:tc>
                  <a:txBody>
                    <a:bodyPr/>
                    <a:lstStyle/>
                    <a:p>
                      <a:pPr indent="0" marL="0">
                        <a:buNone/>
                      </a:pPr>
                      <a:r>
                        <a:rPr lang="en-US" sz="1200" dirty="0">
                          <a:solidFill>
                            <a:schemeClr val="tx1"/>
                          </a:solidFill>
                        </a:rPr>
                        <a:t>KNN, SVM, CNN, VGG16, ResNet</a:t>
                      </a:r>
                      <a:endParaRPr lang="en-US" sz="1200" dirty="0"/>
                    </a:p>
                  </a:txBody>
                  <a:tcPr marL="76200" marR="76200" marT="38100" marB="3810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solidFill>
                      <a:schemeClr val="accent6"/>
                    </a:solidFill>
                  </a:tcPr>
                </a:tc>
                <a:tc>
                  <a:txBody>
                    <a:bodyPr/>
                    <a:lstStyle/>
                    <a:p>
                      <a:pPr indent="0" marL="0">
                        <a:buNone/>
                      </a:pPr>
                      <a:r>
                        <a:rPr lang="en-US" sz="1200" dirty="0">
                          <a:solidFill>
                            <a:schemeClr val="tx1"/>
                          </a:solidFill>
                        </a:rPr>
                        <a:t>CNN 96%, SVM 77%</a:t>
                      </a:r>
                      <a:endParaRPr lang="en-US" sz="1200" dirty="0"/>
                    </a:p>
                  </a:txBody>
                  <a:tcPr marL="76200" marR="76200" marT="38100" marB="3810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solidFill>
                      <a:schemeClr val="accent6"/>
                    </a:solidFill>
                  </a:tcPr>
                </a:tc>
                <a:tc>
                  <a:txBody>
                    <a:bodyPr/>
                    <a:lstStyle/>
                    <a:p>
                      <a:pPr indent="0" marL="0">
                        <a:buNone/>
                      </a:pPr>
                      <a:r>
                        <a:rPr lang="en-US" sz="1200" dirty="0">
                          <a:solidFill>
                            <a:schemeClr val="tx1"/>
                          </a:solidFill>
                        </a:rPr>
                        <a:t>SVM and KNN got raw pixels</a:t>
                      </a:r>
                      <a:endParaRPr lang="en-US" sz="1200" dirty="0"/>
                    </a:p>
                  </a:txBody>
                  <a:tcPr marL="76200" marR="76200" marT="38100" marB="3810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solidFill>
                      <a:schemeClr val="accent6"/>
                    </a:solidFill>
                  </a:tcPr>
                </a:tc>
              </a:tr>
              <a:tr h="429768">
                <a:tc>
                  <a:txBody>
                    <a:bodyPr/>
                    <a:lstStyle/>
                    <a:p>
                      <a:pPr algn="ctr" indent="0" marL="0">
                        <a:buNone/>
                      </a:pPr>
                      <a:r>
                        <a:rPr lang="en-US" sz="1200" dirty="0">
                          <a:solidFill>
                            <a:schemeClr val="tx1"/>
                          </a:solidFill>
                        </a:rPr>
                        <a:t>15</a:t>
                      </a:r>
                      <a:endParaRPr lang="en-US" sz="1200" dirty="0"/>
                    </a:p>
                  </a:txBody>
                  <a:tcPr marL="76200" marR="76200" marT="38100" marB="3810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solidFill>
                      <a:schemeClr val="bg1"/>
                    </a:solidFill>
                  </a:tcPr>
                </a:tc>
                <a:tc>
                  <a:txBody>
                    <a:bodyPr/>
                    <a:lstStyle/>
                    <a:p>
                      <a:pPr indent="0" marL="0">
                        <a:buNone/>
                      </a:pPr>
                      <a:r>
                        <a:rPr lang="en-US" sz="1200" u="sng" dirty="0">
                          <a:solidFill>
                            <a:schemeClr val="accent1"/>
                          </a:solidFill>
                          <a:hlinkClick r:id="rId5" invalidUrl="" action="" tgtFrame="" tooltip="Preserving Cultural Heritage: Mapping of Handwritten Modi Script to Devanagari Characters" history="1" highlightClick="0" endSnd="0">
                            <a:extLst>
                              <a:ext uri="{A12FA001-AC4F-418D-AE19-62706E023703}">
                                <ahyp:hlinkClr xmlns:ahyp="http://schemas.microsoft.com/office/drawing/2018/hyperlinkcolor" val="tx"/>
                              </a:ext>
                            </a:extLst>
                          </a:hlinkClick>
                        </a:rPr>
                        <a:t>Sayyed et al., 2024</a:t>
                      </a:r>
                      <a:endParaRPr lang="en-US" sz="1200" dirty="0"/>
                    </a:p>
                  </a:txBody>
                  <a:tcPr marL="76200" marR="76200" marT="38100" marB="3810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Modi to Devanagari mapping</a:t>
                      </a:r>
                      <a:endParaRPr lang="en-US" sz="1200" dirty="0"/>
                    </a:p>
                  </a:txBody>
                  <a:tcPr marL="76200" marR="76200" marT="38100" marB="3810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None</a:t>
                      </a:r>
                      <a:endParaRPr lang="en-US" sz="1200" dirty="0"/>
                    </a:p>
                  </a:txBody>
                  <a:tcPr marL="76200" marR="76200" marT="38100" marB="3810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No accuracy reported</a:t>
                      </a:r>
                      <a:endParaRPr lang="en-US" sz="1200" dirty="0"/>
                    </a:p>
                  </a:txBody>
                  <a:tcPr marL="76200" marR="76200" marT="38100" marB="3810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solidFill>
                      <a:schemeClr val="bg1"/>
                    </a:solidFill>
                  </a:tcPr>
                </a:tc>
              </a:tr>
              <a:tr h="429768">
                <a:tc>
                  <a:txBody>
                    <a:bodyPr/>
                    <a:lstStyle/>
                    <a:p>
                      <a:pPr algn="ctr" indent="0" marL="0">
                        <a:buNone/>
                      </a:pPr>
                      <a:r>
                        <a:rPr lang="en-US" sz="1200" dirty="0">
                          <a:solidFill>
                            <a:schemeClr val="tx1"/>
                          </a:solidFill>
                        </a:rPr>
                        <a:t>16</a:t>
                      </a:r>
                      <a:endParaRPr lang="en-US" sz="1200" dirty="0"/>
                    </a:p>
                  </a:txBody>
                  <a:tcPr marL="76200" marR="76200" marT="38100" marB="3810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solidFill>
                      <a:schemeClr val="bg2"/>
                    </a:solidFill>
                  </a:tcPr>
                </a:tc>
                <a:tc>
                  <a:txBody>
                    <a:bodyPr/>
                    <a:lstStyle/>
                    <a:p>
                      <a:pPr indent="0" marL="0">
                        <a:buNone/>
                      </a:pPr>
                      <a:r>
                        <a:rPr lang="en-US" sz="1200" u="sng" dirty="0">
                          <a:solidFill>
                            <a:schemeClr val="accent1"/>
                          </a:solidFill>
                          <a:hlinkClick r:id="rId6" invalidUrl="" action="" tgtFrame="" tooltip="A Review of Advances and Challenges in Modi Character Recognition" history="1" highlightClick="0" endSnd="0">
                            <a:extLst>
                              <a:ext uri="{A12FA001-AC4F-418D-AE19-62706E023703}">
                                <ahyp:hlinkClr xmlns:ahyp="http://schemas.microsoft.com/office/drawing/2018/hyperlinkcolor" val="tx"/>
                              </a:ext>
                            </a:extLst>
                          </a:hlinkClick>
                        </a:rPr>
                        <a:t>Laxman &amp; Joshi, 2023</a:t>
                      </a:r>
                      <a:endParaRPr lang="en-US" sz="1200" dirty="0"/>
                    </a:p>
                  </a:txBody>
                  <a:tcPr marL="76200" marR="76200" marT="38100" marB="3810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Review of earlier reviews</a:t>
                      </a:r>
                      <a:endParaRPr lang="en-US" sz="1200" dirty="0"/>
                    </a:p>
                  </a:txBody>
                  <a:tcPr marL="76200" marR="76200" marT="38100" marB="3810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Up to 95% (cited)</a:t>
                      </a:r>
                      <a:endParaRPr lang="en-US" sz="1200" dirty="0"/>
                    </a:p>
                  </a:txBody>
                  <a:tcPr marL="76200" marR="76200" marT="38100" marB="3810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Mostly repeats paper 10</a:t>
                      </a:r>
                      <a:endParaRPr lang="en-US" sz="1200" dirty="0"/>
                    </a:p>
                  </a:txBody>
                  <a:tcPr marL="76200" marR="76200" marT="38100" marB="3810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solidFill>
                      <a:schemeClr val="bg2"/>
                    </a:solidFill>
                  </a:tcPr>
                </a:tc>
              </a:tr>
              <a:tr h="429768">
                <a:tc>
                  <a:txBody>
                    <a:bodyPr/>
                    <a:lstStyle/>
                    <a:p>
                      <a:pPr algn="ctr" indent="0" marL="0">
                        <a:buNone/>
                      </a:pPr>
                      <a:r>
                        <a:rPr lang="en-US" sz="1200" dirty="0">
                          <a:solidFill>
                            <a:schemeClr val="tx1"/>
                          </a:solidFill>
                        </a:rPr>
                        <a:t>17</a:t>
                      </a:r>
                      <a:endParaRPr lang="en-US" sz="1200" dirty="0"/>
                    </a:p>
                  </a:txBody>
                  <a:tcPr marL="76200" marR="76200" marT="38100" marB="3810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solidFill>
                      <a:schemeClr val="bg1"/>
                    </a:solidFill>
                  </a:tcPr>
                </a:tc>
                <a:tc>
                  <a:txBody>
                    <a:bodyPr/>
                    <a:lstStyle/>
                    <a:p>
                      <a:pPr indent="0" marL="0">
                        <a:buNone/>
                      </a:pPr>
                      <a:r>
                        <a:rPr lang="en-US" sz="1200" u="sng" dirty="0">
                          <a:solidFill>
                            <a:schemeClr val="accent1"/>
                          </a:solidFill>
                          <a:hlinkClick r:id="rId7" invalidUrl="" action="" tgtFrame="" tooltip="Analyzing Different Techniques to Generate Image Datasets for MODI Script Handwritten Character Recognition" history="1" highlightClick="0" endSnd="0">
                            <a:extLst>
                              <a:ext uri="{A12FA001-AC4F-418D-AE19-62706E023703}">
                                <ahyp:hlinkClr xmlns:ahyp="http://schemas.microsoft.com/office/drawing/2018/hyperlinkcolor" val="tx"/>
                              </a:ext>
                            </a:extLst>
                          </a:hlinkClick>
                        </a:rPr>
                        <a:t>Varpe &amp; Sakhare, 2023</a:t>
                      </a:r>
                      <a:endParaRPr lang="en-US" sz="1200" dirty="0"/>
                    </a:p>
                  </a:txBody>
                  <a:tcPr marL="76200" marR="76200" marT="38100" marB="3810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Built a 5,245-letter dataset</a:t>
                      </a:r>
                      <a:endParaRPr lang="en-US" sz="1200" dirty="0"/>
                    </a:p>
                  </a:txBody>
                  <a:tcPr marL="76200" marR="76200" marT="38100" marB="3810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About 88%</a:t>
                      </a:r>
                      <a:endParaRPr lang="en-US" sz="1200" dirty="0"/>
                    </a:p>
                  </a:txBody>
                  <a:tcPr marL="76200" marR="76200" marT="38100" marB="3810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Data not public</a:t>
                      </a:r>
                      <a:endParaRPr lang="en-US" sz="1200" dirty="0"/>
                    </a:p>
                  </a:txBody>
                  <a:tcPr marL="76200" marR="76200" marT="38100" marB="3810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solidFill>
                      <a:schemeClr val="bg1"/>
                    </a:solidFill>
                  </a:tcPr>
                </a:tc>
              </a:tr>
              <a:tr h="429768">
                <a:tc>
                  <a:txBody>
                    <a:bodyPr/>
                    <a:lstStyle/>
                    <a:p>
                      <a:pPr algn="ctr" indent="0" marL="0">
                        <a:buNone/>
                      </a:pPr>
                      <a:r>
                        <a:rPr lang="en-US" sz="1200" dirty="0">
                          <a:solidFill>
                            <a:schemeClr val="tx1"/>
                          </a:solidFill>
                        </a:rPr>
                        <a:t>18</a:t>
                      </a:r>
                      <a:endParaRPr lang="en-US" sz="1200" dirty="0"/>
                    </a:p>
                  </a:txBody>
                  <a:tcPr marL="76200" marR="76200" marT="38100" marB="3810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solidFill>
                      <a:schemeClr val="bg2"/>
                    </a:solidFill>
                  </a:tcPr>
                </a:tc>
                <a:tc>
                  <a:txBody>
                    <a:bodyPr/>
                    <a:lstStyle/>
                    <a:p>
                      <a:pPr indent="0" marL="0">
                        <a:buNone/>
                      </a:pPr>
                      <a:r>
                        <a:rPr lang="en-US" sz="1200" u="sng" dirty="0">
                          <a:solidFill>
                            <a:schemeClr val="accent1"/>
                          </a:solidFill>
                          <a:hlinkClick r:id="rId8" invalidUrl="" action="" tgtFrame="" tooltip="Classification of Ancient Modi Script Characters using Convolutional Neural Network" history="1" highlightClick="0" endSnd="0">
                            <a:extLst>
                              <a:ext uri="{A12FA001-AC4F-418D-AE19-62706E023703}">
                                <ahyp:hlinkClr xmlns:ahyp="http://schemas.microsoft.com/office/drawing/2018/hyperlinkcolor" val="tx"/>
                              </a:ext>
                            </a:extLst>
                          </a:hlinkClick>
                        </a:rPr>
                        <a:t>Lohkare et al., 2023</a:t>
                      </a:r>
                      <a:endParaRPr lang="en-US" sz="1200" dirty="0"/>
                    </a:p>
                  </a:txBody>
                  <a:tcPr marL="76200" marR="76200" marT="38100" marB="3810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CNN and VGG16 on 48 letters</a:t>
                      </a:r>
                      <a:endParaRPr lang="en-US" sz="1200" dirty="0"/>
                    </a:p>
                  </a:txBody>
                  <a:tcPr marL="76200" marR="76200" marT="38100" marB="3810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87.3%</a:t>
                      </a:r>
                      <a:endParaRPr lang="en-US" sz="1200" dirty="0"/>
                    </a:p>
                  </a:txBody>
                  <a:tcPr marL="76200" marR="76200" marT="38100" marB="3810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Same numbers as paper 4</a:t>
                      </a:r>
                      <a:endParaRPr lang="en-US" sz="1200" dirty="0"/>
                    </a:p>
                  </a:txBody>
                  <a:tcPr marL="76200" marR="76200" marT="38100" marB="3810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solidFill>
                      <a:schemeClr val="bg2"/>
                    </a:solidFill>
                  </a:tcPr>
                </a:tc>
              </a:tr>
              <a:tr h="429768">
                <a:tc>
                  <a:txBody>
                    <a:bodyPr/>
                    <a:lstStyle/>
                    <a:p>
                      <a:pPr algn="ctr" indent="0" marL="0">
                        <a:buNone/>
                      </a:pPr>
                      <a:r>
                        <a:rPr lang="en-US" sz="1200" dirty="0">
                          <a:solidFill>
                            <a:schemeClr val="tx1"/>
                          </a:solidFill>
                        </a:rPr>
                        <a:t>19</a:t>
                      </a:r>
                      <a:endParaRPr lang="en-US" sz="1200" dirty="0"/>
                    </a:p>
                  </a:txBody>
                  <a:tcPr marL="76200" marR="76200" marT="38100" marB="3810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solidFill>
                      <a:schemeClr val="bg1"/>
                    </a:solidFill>
                  </a:tcPr>
                </a:tc>
                <a:tc>
                  <a:txBody>
                    <a:bodyPr/>
                    <a:lstStyle/>
                    <a:p>
                      <a:pPr indent="0" marL="0">
                        <a:buNone/>
                      </a:pPr>
                      <a:r>
                        <a:rPr lang="en-US" sz="1200" u="sng" dirty="0">
                          <a:solidFill>
                            <a:schemeClr val="accent1"/>
                          </a:solidFill>
                          <a:hlinkClick r:id="rId9" invalidUrl="" action="" tgtFrame="" tooltip="MODI Lipi Handwritten Character Recognition Using Convolutional Neural Networks (CNN)" history="1" highlightClick="0" endSnd="0">
                            <a:extLst>
                              <a:ext uri="{A12FA001-AC4F-418D-AE19-62706E023703}">
                                <ahyp:hlinkClr xmlns:ahyp="http://schemas.microsoft.com/office/drawing/2018/hyperlinkcolor" val="tx"/>
                              </a:ext>
                            </a:extLst>
                          </a:hlinkClick>
                        </a:rPr>
                        <a:t>Unknown authors, 2023</a:t>
                      </a:r>
                      <a:endParaRPr lang="en-US" sz="1200" dirty="0"/>
                    </a:p>
                  </a:txBody>
                  <a:tcPr marL="76200" marR="76200" marT="38100" marB="3810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CNN with flipped and noisy copies</a:t>
                      </a:r>
                      <a:endParaRPr lang="en-US" sz="1200" dirty="0"/>
                    </a:p>
                  </a:txBody>
                  <a:tcPr marL="76200" marR="76200" marT="38100" marB="3810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91.6% or 96.6%</a:t>
                      </a:r>
                      <a:endParaRPr lang="en-US" sz="1200" dirty="0"/>
                    </a:p>
                  </a:txBody>
                  <a:tcPr marL="76200" marR="76200" marT="38100" marB="3810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Two different numbers</a:t>
                      </a:r>
                      <a:endParaRPr lang="en-US" sz="1200" dirty="0"/>
                    </a:p>
                  </a:txBody>
                  <a:tcPr marL="76200" marR="76200" marT="38100" marB="3810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solidFill>
                      <a:schemeClr val="bg1"/>
                    </a:solidFill>
                  </a:tcPr>
                </a:tc>
              </a:tr>
              <a:tr h="429768">
                <a:tc>
                  <a:txBody>
                    <a:bodyPr/>
                    <a:lstStyle/>
                    <a:p>
                      <a:pPr algn="ctr" indent="0" marL="0">
                        <a:buNone/>
                      </a:pPr>
                      <a:r>
                        <a:rPr lang="en-US" sz="1200" dirty="0">
                          <a:solidFill>
                            <a:schemeClr val="tx1"/>
                          </a:solidFill>
                        </a:rPr>
                        <a:t>20</a:t>
                      </a:r>
                      <a:endParaRPr lang="en-US" sz="1200" dirty="0"/>
                    </a:p>
                  </a:txBody>
                  <a:tcPr marL="76200" marR="76200" marT="38100" marB="3810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solidFill>
                      <a:schemeClr val="bg2"/>
                    </a:solidFill>
                  </a:tcPr>
                </a:tc>
                <a:tc>
                  <a:txBody>
                    <a:bodyPr/>
                    <a:lstStyle/>
                    <a:p>
                      <a:pPr indent="0" marL="0">
                        <a:buNone/>
                      </a:pPr>
                      <a:r>
                        <a:rPr lang="en-US" sz="1200" u="sng" dirty="0">
                          <a:solidFill>
                            <a:schemeClr val="accent1"/>
                          </a:solidFill>
                          <a:hlinkClick r:id="rId10" invalidUrl="" action="" tgtFrame="" tooltip="Review of Character Recognition Techniques for MODI Script" history="1" highlightClick="0" endSnd="0">
                            <a:extLst>
                              <a:ext uri="{A12FA001-AC4F-418D-AE19-62706E023703}">
                                <ahyp:hlinkClr xmlns:ahyp="http://schemas.microsoft.com/office/drawing/2018/hyperlinkcolor" val="tx"/>
                              </a:ext>
                            </a:extLst>
                          </a:hlinkClick>
                        </a:rPr>
                        <a:t>Varpe &amp; Sakhare, 2023</a:t>
                      </a:r>
                      <a:endParaRPr lang="en-US" sz="1200" dirty="0"/>
                    </a:p>
                  </a:txBody>
                  <a:tcPr marL="76200" marR="76200" marT="38100" marB="3810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Review from 2010 to 2022</a:t>
                      </a:r>
                      <a:endParaRPr lang="en-US" sz="1200" dirty="0"/>
                    </a:p>
                  </a:txBody>
                  <a:tcPr marL="76200" marR="76200" marT="38100" marB="3810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Up to 99.8% (cited)</a:t>
                      </a:r>
                      <a:endParaRPr lang="en-US" sz="1200" dirty="0"/>
                    </a:p>
                  </a:txBody>
                  <a:tcPr marL="76200" marR="76200" marT="38100" marB="3810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Top numbers from private data</a:t>
                      </a:r>
                      <a:endParaRPr lang="en-US" sz="1200" dirty="0"/>
                    </a:p>
                  </a:txBody>
                  <a:tcPr marL="76200" marR="76200" marT="38100" marB="3810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solidFill>
                      <a:schemeClr val="bg2"/>
                    </a:solidFill>
                  </a:tcPr>
                </a:tc>
              </a:tr>
            </a:tbl>
          </a:graphicData>
        </a:graphic>
      </p:graphicFrame>
      <p:sp>
        <p:nvSpPr>
          <p:cNvPr id="4" name="Text 1"/>
          <p:cNvSpPr txBox="1"/>
          <p:nvPr/>
        </p:nvSpPr>
        <p:spPr>
          <a:xfrm>
            <a:off x="548640" y="5989320"/>
            <a:ext cx="11064240" cy="320040"/>
          </a:xfrm>
          <a:prstGeom prst="rect">
            <a:avLst/>
          </a:prstGeom>
          <a:noFill/>
          <a:ln/>
        </p:spPr>
        <p:txBody>
          <a:bodyPr wrap="square" lIns="0" tIns="0" rIns="0" bIns="0" rtlCol="0" anchor="ctr"/>
          <a:lstStyle/>
          <a:p>
            <a:pPr indent="0" marL="0">
              <a:buNone/>
            </a:pPr>
            <a:r>
              <a:rPr lang="en-US" sz="1100" i="1" dirty="0">
                <a:solidFill>
                  <a:schemeClr val="tx2"/>
                </a:solidFill>
              </a:rPr>
              <a:t>Highlighted rows are our base papers. Click a paper's name to open the PDF.</a:t>
            </a:r>
            <a:endParaRPr lang="en-US" sz="11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731520"/>
          </a:xfrm>
          <a:prstGeom prst="rect">
            <a:avLst/>
          </a:prstGeom>
          <a:noFill/>
          <a:ln/>
        </p:spPr>
        <p:txBody>
          <a:bodyPr wrap="square" rtlCol="0" anchor="ctr"/>
          <a:lstStyle/>
          <a:p>
            <a:pPr indent="0" marL="0">
              <a:buNone/>
            </a:pPr>
            <a:r>
              <a:rPr lang="en-US" sz="3000" b="1" dirty="0">
                <a:solidFill>
                  <a:schemeClr val="tx2"/>
                </a:solidFill>
                <a:latin typeface="Cambria" pitchFamily="34" charset="0"/>
                <a:ea typeface="Cambria" pitchFamily="34" charset="-122"/>
                <a:cs typeface="Cambria" pitchFamily="34" charset="-120"/>
              </a:rPr>
              <a:t>All 30 papers at a glance (3 of 3)</a:t>
            </a:r>
            <a:endParaRPr lang="en-US" sz="3000" dirty="0"/>
          </a:p>
        </p:txBody>
      </p:sp>
      <p:graphicFrame>
        <p:nvGraphicFramePr>
          <p:cNvPr id="7" name="Paper table part 3"/>
          <p:cNvGraphicFramePr>
            <a:graphicFrameLocks noGrp="1"/>
          </p:cNvGraphicFramePr>
          <p:nvPr>
            <p:extLst>
              <p:ext uri="{D42A27DB-BD31-4B8C-83A1-F6EECF244321}">
                <p14:modId xmlns:p14="http://schemas.microsoft.com/office/powerpoint/2010/main" val="1579011935"/>
              </p:ext>
            </p:extLst>
          </p:nvPr>
        </p:nvGraphicFramePr>
        <p:xfrm>
          <a:off x="548640" y="1234440"/>
          <a:ext cx="11064240" cy="914400"/>
        </p:xfrm>
        <a:graphic>
          <a:graphicData uri="http://schemas.openxmlformats.org/drawingml/2006/table">
            <a:tbl>
              <a:tblPr/>
              <a:tblGrid>
                <a:gridCol w="457200"/>
                <a:gridCol w="2377440"/>
                <a:gridCol w="3383280"/>
                <a:gridCol w="2194560"/>
                <a:gridCol w="2651760"/>
              </a:tblGrid>
              <a:tr h="429768">
                <a:tc>
                  <a:txBody>
                    <a:bodyPr/>
                    <a:lstStyle/>
                    <a:p>
                      <a:pPr indent="0" marL="0">
                        <a:buNone/>
                      </a:pPr>
                      <a:r>
                        <a:rPr lang="en-US" sz="1300" b="1" dirty="0">
                          <a:solidFill>
                            <a:schemeClr val="bg1"/>
                          </a:solidFill>
                        </a:rPr>
                        <a:t>#</a:t>
                      </a:r>
                      <a:endParaRPr lang="en-US" sz="1300" dirty="0"/>
                    </a:p>
                  </a:txBody>
                  <a:tcPr marL="76200" marR="76200" marT="38100" marB="38100">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Paper</a:t>
                      </a:r>
                      <a:endParaRPr lang="en-US" sz="1300" dirty="0"/>
                    </a:p>
                  </a:txBody>
                  <a:tcPr marL="76200" marR="76200" marT="38100" marB="38100">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What they did</a:t>
                      </a:r>
                      <a:endParaRPr lang="en-US" sz="1300" dirty="0"/>
                    </a:p>
                  </a:txBody>
                  <a:tcPr marL="76200" marR="76200" marT="38100" marB="38100">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Result</a:t>
                      </a:r>
                      <a:endParaRPr lang="en-US" sz="1300" dirty="0"/>
                    </a:p>
                  </a:txBody>
                  <a:tcPr marL="76200" marR="76200" marT="38100" marB="38100">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Main problem</a:t>
                      </a:r>
                      <a:endParaRPr lang="en-US" sz="1300" dirty="0"/>
                    </a:p>
                  </a:txBody>
                  <a:tcPr marL="76200" marR="76200" marT="38100" marB="38100">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solidFill>
                      <a:schemeClr val="tx2"/>
                    </a:solidFill>
                  </a:tcPr>
                </a:tc>
              </a:tr>
              <a:tr h="429768">
                <a:tc>
                  <a:txBody>
                    <a:bodyPr/>
                    <a:lstStyle/>
                    <a:p>
                      <a:pPr algn="ctr" indent="0" marL="0">
                        <a:buNone/>
                      </a:pPr>
                      <a:r>
                        <a:rPr lang="en-US" sz="1200" b="1" dirty="0">
                          <a:solidFill>
                            <a:schemeClr val="tx1"/>
                          </a:solidFill>
                        </a:rPr>
                        <a:t>21</a:t>
                      </a:r>
                      <a:endParaRPr lang="en-US" sz="1200" dirty="0"/>
                    </a:p>
                  </a:txBody>
                  <a:tcPr marL="76200" marR="76200" marT="38100" marB="3810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solidFill>
                      <a:schemeClr val="accent6"/>
                    </a:solidFill>
                  </a:tcPr>
                </a:tc>
                <a:tc>
                  <a:txBody>
                    <a:bodyPr/>
                    <a:lstStyle/>
                    <a:p>
                      <a:pPr indent="0" marL="0">
                        <a:buNone/>
                      </a:pPr>
                      <a:r>
                        <a:rPr lang="en-US" sz="1200" b="1" u="sng" dirty="0">
                          <a:solidFill>
                            <a:schemeClr val="accent1"/>
                          </a:solidFill>
                          <a:hlinkClick r:id="rId1" invalidUrl="" action="" tgtFrame="" tooltip="Implementing a Hybrid Deep Learning Approach to Achieve Classic Handwritten Alphanumeric MODI Recognition" history="1" highlightClick="0" endSnd="0">
                            <a:extLst>
                              <a:ext uri="{A12FA001-AC4F-418D-AE19-62706E023703}">
                                <ahyp:hlinkClr xmlns:ahyp="http://schemas.microsoft.com/office/drawing/2018/hyperlinkcolor" val="tx"/>
                              </a:ext>
                            </a:extLst>
                          </a:hlinkClick>
                        </a:rPr>
                        <a:t>Ekbote et al., 2022</a:t>
                      </a:r>
                      <a:endParaRPr lang="en-US" sz="1200" dirty="0"/>
                    </a:p>
                  </a:txBody>
                  <a:tcPr marL="76200" marR="76200" marT="38100" marB="3810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solidFill>
                      <a:schemeClr val="accent6"/>
                    </a:solidFill>
                  </a:tcPr>
                </a:tc>
                <a:tc>
                  <a:txBody>
                    <a:bodyPr/>
                    <a:lstStyle/>
                    <a:p>
                      <a:pPr indent="0" marL="0">
                        <a:buNone/>
                      </a:pPr>
                      <a:r>
                        <a:rPr lang="en-US" sz="1200" dirty="0">
                          <a:solidFill>
                            <a:schemeClr val="tx1"/>
                          </a:solidFill>
                        </a:rPr>
                        <a:t>VGG16 features with RF and XGBoost</a:t>
                      </a:r>
                      <a:endParaRPr lang="en-US" sz="1200" dirty="0"/>
                    </a:p>
                  </a:txBody>
                  <a:tcPr marL="76200" marR="76200" marT="38100" marB="3810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solidFill>
                      <a:schemeClr val="accent6"/>
                    </a:solidFill>
                  </a:tcPr>
                </a:tc>
                <a:tc>
                  <a:txBody>
                    <a:bodyPr/>
                    <a:lstStyle/>
                    <a:p>
                      <a:pPr indent="0" marL="0">
                        <a:buNone/>
                      </a:pPr>
                      <a:r>
                        <a:rPr lang="en-US" sz="1200" dirty="0">
                          <a:solidFill>
                            <a:schemeClr val="tx1"/>
                          </a:solidFill>
                        </a:rPr>
                        <a:t>92% letters</a:t>
                      </a:r>
                      <a:endParaRPr lang="en-US" sz="1200" dirty="0"/>
                    </a:p>
                  </a:txBody>
                  <a:tcPr marL="76200" marR="76200" marT="38100" marB="3810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solidFill>
                      <a:schemeClr val="accent6"/>
                    </a:solidFill>
                  </a:tcPr>
                </a:tc>
                <a:tc>
                  <a:txBody>
                    <a:bodyPr/>
                    <a:lstStyle/>
                    <a:p>
                      <a:pPr indent="0" marL="0">
                        <a:buNone/>
                      </a:pPr>
                      <a:r>
                        <a:rPr lang="en-US" sz="1200" dirty="0">
                          <a:solidFill>
                            <a:schemeClr val="tx1"/>
                          </a:solidFill>
                        </a:rPr>
                        <a:t>Not explainable</a:t>
                      </a:r>
                      <a:endParaRPr lang="en-US" sz="1200" dirty="0"/>
                    </a:p>
                  </a:txBody>
                  <a:tcPr marL="76200" marR="76200" marT="38100" marB="3810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solidFill>
                      <a:schemeClr val="accent6"/>
                    </a:solidFill>
                  </a:tcPr>
                </a:tc>
              </a:tr>
              <a:tr h="429768">
                <a:tc>
                  <a:txBody>
                    <a:bodyPr/>
                    <a:lstStyle/>
                    <a:p>
                      <a:pPr algn="ctr" indent="0" marL="0">
                        <a:buNone/>
                      </a:pPr>
                      <a:r>
                        <a:rPr lang="en-US" sz="1200" dirty="0">
                          <a:solidFill>
                            <a:schemeClr val="tx1"/>
                          </a:solidFill>
                        </a:rPr>
                        <a:t>22</a:t>
                      </a:r>
                      <a:endParaRPr lang="en-US" sz="1200" dirty="0"/>
                    </a:p>
                  </a:txBody>
                  <a:tcPr marL="76200" marR="76200" marT="38100" marB="3810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solidFill>
                      <a:schemeClr val="bg2"/>
                    </a:solidFill>
                  </a:tcPr>
                </a:tc>
                <a:tc>
                  <a:txBody>
                    <a:bodyPr/>
                    <a:lstStyle/>
                    <a:p>
                      <a:pPr indent="0" marL="0">
                        <a:buNone/>
                      </a:pPr>
                      <a:r>
                        <a:rPr lang="en-US" sz="1200" u="sng" dirty="0">
                          <a:solidFill>
                            <a:schemeClr val="accent1"/>
                          </a:solidFill>
                          <a:hlinkClick r:id="rId2" invalidUrl="" action="" tgtFrame="" tooltip="REVIEW ON MODI HANDWRITTEN CHARACTERS RECOGNITION" history="1" highlightClick="0" endSnd="0">
                            <a:extLst>
                              <a:ext uri="{A12FA001-AC4F-418D-AE19-62706E023703}">
                                <ahyp:hlinkClr xmlns:ahyp="http://schemas.microsoft.com/office/drawing/2018/hyperlinkcolor" val="tx"/>
                              </a:ext>
                            </a:extLst>
                          </a:hlinkClick>
                        </a:rPr>
                        <a:t>Unknown authors, 2022</a:t>
                      </a:r>
                      <a:endParaRPr lang="en-US" sz="1200" dirty="0"/>
                    </a:p>
                  </a:txBody>
                  <a:tcPr marL="76200" marR="76200" marT="38100" marB="3810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Short review</a:t>
                      </a:r>
                      <a:endParaRPr lang="en-US" sz="1200" dirty="0"/>
                    </a:p>
                  </a:txBody>
                  <a:tcPr marL="76200" marR="76200" marT="38100" marB="3810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37 to 65% (old methods)</a:t>
                      </a:r>
                      <a:endParaRPr lang="en-US" sz="1200" dirty="0"/>
                    </a:p>
                  </a:txBody>
                  <a:tcPr marL="76200" marR="76200" marT="38100" marB="3810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No analysis</a:t>
                      </a:r>
                      <a:endParaRPr lang="en-US" sz="1200" dirty="0"/>
                    </a:p>
                  </a:txBody>
                  <a:tcPr marL="76200" marR="76200" marT="38100" marB="3810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solidFill>
                      <a:schemeClr val="bg2"/>
                    </a:solidFill>
                  </a:tcPr>
                </a:tc>
              </a:tr>
              <a:tr h="429768">
                <a:tc>
                  <a:txBody>
                    <a:bodyPr/>
                    <a:lstStyle/>
                    <a:p>
                      <a:pPr algn="ctr" indent="0" marL="0">
                        <a:buNone/>
                      </a:pPr>
                      <a:r>
                        <a:rPr lang="en-US" sz="1200" dirty="0">
                          <a:solidFill>
                            <a:schemeClr val="tx1"/>
                          </a:solidFill>
                        </a:rPr>
                        <a:t>23</a:t>
                      </a:r>
                      <a:endParaRPr lang="en-US" sz="1200" dirty="0"/>
                    </a:p>
                  </a:txBody>
                  <a:tcPr marL="76200" marR="76200" marT="38100" marB="3810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solidFill>
                      <a:schemeClr val="bg1"/>
                    </a:solidFill>
                  </a:tcPr>
                </a:tc>
                <a:tc>
                  <a:txBody>
                    <a:bodyPr/>
                    <a:lstStyle/>
                    <a:p>
                      <a:pPr indent="0" marL="0">
                        <a:buNone/>
                      </a:pPr>
                      <a:r>
                        <a:rPr lang="en-US" sz="1200" u="sng" dirty="0">
                          <a:solidFill>
                            <a:schemeClr val="accent1"/>
                          </a:solidFill>
                          <a:hlinkClick r:id="rId3" invalidUrl="" action="" tgtFrame="" tooltip="Towards Modi Script Preservation: Tools for Digitization" history="1" highlightClick="0" endSnd="0">
                            <a:extLst>
                              <a:ext uri="{A12FA001-AC4F-418D-AE19-62706E023703}">
                                <ahyp:hlinkClr xmlns:ahyp="http://schemas.microsoft.com/office/drawing/2018/hyperlinkcolor" val="tx"/>
                              </a:ext>
                            </a:extLst>
                          </a:hlinkClick>
                        </a:rPr>
                        <a:t>Patil et al., 2022</a:t>
                      </a:r>
                      <a:endParaRPr lang="en-US" sz="1200" dirty="0"/>
                    </a:p>
                  </a:txBody>
                  <a:tcPr marL="76200" marR="76200" marT="38100" marB="3810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Font, keyboard and annotation tools</a:t>
                      </a:r>
                      <a:endParaRPr lang="en-US" sz="1200" dirty="0"/>
                    </a:p>
                  </a:txBody>
                  <a:tcPr marL="76200" marR="76200" marT="38100" marB="3810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Not a recognition paper</a:t>
                      </a:r>
                      <a:endParaRPr lang="en-US" sz="1200" dirty="0"/>
                    </a:p>
                  </a:txBody>
                  <a:tcPr marL="76200" marR="76200" marT="38100" marB="3810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No OCR yet</a:t>
                      </a:r>
                      <a:endParaRPr lang="en-US" sz="1200" dirty="0"/>
                    </a:p>
                  </a:txBody>
                  <a:tcPr marL="76200" marR="76200" marT="38100" marB="3810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solidFill>
                      <a:schemeClr val="bg1"/>
                    </a:solidFill>
                  </a:tcPr>
                </a:tc>
              </a:tr>
              <a:tr h="429768">
                <a:tc>
                  <a:txBody>
                    <a:bodyPr/>
                    <a:lstStyle/>
                    <a:p>
                      <a:pPr algn="ctr" indent="0" marL="0">
                        <a:buNone/>
                      </a:pPr>
                      <a:r>
                        <a:rPr lang="en-US" sz="1200" dirty="0">
                          <a:solidFill>
                            <a:schemeClr val="tx1"/>
                          </a:solidFill>
                        </a:rPr>
                        <a:t>24</a:t>
                      </a:r>
                      <a:endParaRPr lang="en-US" sz="1200" dirty="0"/>
                    </a:p>
                  </a:txBody>
                  <a:tcPr marL="76200" marR="76200" marT="38100" marB="3810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solidFill>
                      <a:schemeClr val="bg2"/>
                    </a:solidFill>
                  </a:tcPr>
                </a:tc>
                <a:tc>
                  <a:txBody>
                    <a:bodyPr/>
                    <a:lstStyle/>
                    <a:p>
                      <a:pPr indent="0" marL="0">
                        <a:buNone/>
                      </a:pPr>
                      <a:r>
                        <a:rPr lang="en-US" sz="1200" u="sng" dirty="0">
                          <a:solidFill>
                            <a:schemeClr val="accent1"/>
                          </a:solidFill>
                          <a:hlinkClick r:id="rId4" invalidUrl="" action="" tgtFrame="" tooltip="An Experimental Exploration of Segmentation Techniques for Modi Script" history="1" highlightClick="0" endSnd="0">
                            <a:extLst>
                              <a:ext uri="{A12FA001-AC4F-418D-AE19-62706E023703}">
                                <ahyp:hlinkClr xmlns:ahyp="http://schemas.microsoft.com/office/drawing/2018/hyperlinkcolor" val="tx"/>
                              </a:ext>
                            </a:extLst>
                          </a:hlinkClick>
                        </a:rPr>
                        <a:t>Solanki &amp; Ingle, 2019</a:t>
                      </a:r>
                      <a:endParaRPr lang="en-US" sz="1200" dirty="0"/>
                    </a:p>
                  </a:txBody>
                  <a:tcPr marL="76200" marR="76200" marT="38100" marB="3810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Separating a letter from the background</a:t>
                      </a:r>
                      <a:endParaRPr lang="en-US" sz="1200" dirty="0"/>
                    </a:p>
                  </a:txBody>
                  <a:tcPr marL="76200" marR="76200" marT="38100" marB="3810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K-means worked best</a:t>
                      </a:r>
                      <a:endParaRPr lang="en-US" sz="1200" dirty="0"/>
                    </a:p>
                  </a:txBody>
                  <a:tcPr marL="76200" marR="76200" marT="38100" marB="3810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Single letters only</a:t>
                      </a:r>
                      <a:endParaRPr lang="en-US" sz="1200" dirty="0"/>
                    </a:p>
                  </a:txBody>
                  <a:tcPr marL="76200" marR="76200" marT="38100" marB="3810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solidFill>
                      <a:schemeClr val="bg2"/>
                    </a:solidFill>
                  </a:tcPr>
                </a:tc>
              </a:tr>
              <a:tr h="429768">
                <a:tc>
                  <a:txBody>
                    <a:bodyPr/>
                    <a:lstStyle/>
                    <a:p>
                      <a:pPr algn="ctr" indent="0" marL="0">
                        <a:buNone/>
                      </a:pPr>
                      <a:r>
                        <a:rPr lang="en-US" sz="1200" dirty="0">
                          <a:solidFill>
                            <a:schemeClr val="tx1"/>
                          </a:solidFill>
                        </a:rPr>
                        <a:t>25</a:t>
                      </a:r>
                      <a:endParaRPr lang="en-US" sz="1200" dirty="0"/>
                    </a:p>
                  </a:txBody>
                  <a:tcPr marL="76200" marR="76200" marT="38100" marB="3810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solidFill>
                      <a:schemeClr val="bg1"/>
                    </a:solidFill>
                  </a:tcPr>
                </a:tc>
                <a:tc>
                  <a:txBody>
                    <a:bodyPr/>
                    <a:lstStyle/>
                    <a:p>
                      <a:pPr indent="0" marL="0">
                        <a:buNone/>
                      </a:pPr>
                      <a:r>
                        <a:rPr lang="en-US" sz="1200" u="sng" dirty="0">
                          <a:solidFill>
                            <a:schemeClr val="accent1"/>
                          </a:solidFill>
                          <a:hlinkClick r:id="rId5" invalidUrl="" action="" tgtFrame="" tooltip="Designing a New Digital Font for Modi-Script" history="1" highlightClick="0" endSnd="0">
                            <a:extLst>
                              <a:ext uri="{A12FA001-AC4F-418D-AE19-62706E023703}">
                                <ahyp:hlinkClr xmlns:ahyp="http://schemas.microsoft.com/office/drawing/2018/hyperlinkcolor" val="tx"/>
                              </a:ext>
                            </a:extLst>
                          </a:hlinkClick>
                        </a:rPr>
                        <a:t>Shekhar, 2018</a:t>
                      </a:r>
                      <a:endParaRPr lang="en-US" sz="1200" dirty="0"/>
                    </a:p>
                  </a:txBody>
                  <a:tcPr marL="76200" marR="76200" marT="38100" marB="3810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 new digital Modi font</a:t>
                      </a:r>
                      <a:endParaRPr lang="en-US" sz="1200" dirty="0"/>
                    </a:p>
                  </a:txBody>
                  <a:tcPr marL="76200" marR="76200" marT="38100" marB="3810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Not a recognition paper</a:t>
                      </a:r>
                      <a:endParaRPr lang="en-US" sz="1200" dirty="0"/>
                    </a:p>
                  </a:txBody>
                  <a:tcPr marL="76200" marR="76200" marT="38100" marB="3810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Font only</a:t>
                      </a:r>
                      <a:endParaRPr lang="en-US" sz="1200" dirty="0"/>
                    </a:p>
                  </a:txBody>
                  <a:tcPr marL="76200" marR="76200" marT="38100" marB="3810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solidFill>
                      <a:schemeClr val="bg1"/>
                    </a:solidFill>
                  </a:tcPr>
                </a:tc>
              </a:tr>
              <a:tr h="429768">
                <a:tc>
                  <a:txBody>
                    <a:bodyPr/>
                    <a:lstStyle/>
                    <a:p>
                      <a:pPr algn="ctr" indent="0" marL="0">
                        <a:buNone/>
                      </a:pPr>
                      <a:r>
                        <a:rPr lang="en-US" sz="1200" b="1" dirty="0">
                          <a:solidFill>
                            <a:schemeClr val="tx1"/>
                          </a:solidFill>
                        </a:rPr>
                        <a:t>26</a:t>
                      </a:r>
                      <a:endParaRPr lang="en-US" sz="1200" dirty="0"/>
                    </a:p>
                  </a:txBody>
                  <a:tcPr marL="76200" marR="76200" marT="38100" marB="3810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solidFill>
                      <a:schemeClr val="accent6"/>
                    </a:solidFill>
                  </a:tcPr>
                </a:tc>
                <a:tc>
                  <a:txBody>
                    <a:bodyPr/>
                    <a:lstStyle/>
                    <a:p>
                      <a:pPr indent="0" marL="0">
                        <a:buNone/>
                      </a:pPr>
                      <a:r>
                        <a:rPr lang="en-US" sz="1200" b="1" u="sng" dirty="0">
                          <a:solidFill>
                            <a:schemeClr val="accent1"/>
                          </a:solidFill>
                          <a:hlinkClick r:id="rId6" invalidUrl="" action="" tgtFrame="" tooltip="An Approach for Recognizing Modi Lipi using Ostu's Binarization Algorithm and Kohenen Neural Network" history="1" highlightClick="0" endSnd="0">
                            <a:extLst>
                              <a:ext uri="{A12FA001-AC4F-418D-AE19-62706E023703}">
                                <ahyp:hlinkClr xmlns:ahyp="http://schemas.microsoft.com/office/drawing/2018/hyperlinkcolor" val="tx"/>
                              </a:ext>
                            </a:extLst>
                          </a:hlinkClick>
                        </a:rPr>
                        <a:t>Anam &amp; Gupta, 2015</a:t>
                      </a:r>
                      <a:endParaRPr lang="en-US" sz="1200" dirty="0"/>
                    </a:p>
                  </a:txBody>
                  <a:tcPr marL="76200" marR="76200" marT="38100" marB="3810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solidFill>
                      <a:schemeClr val="accent6"/>
                    </a:solidFill>
                  </a:tcPr>
                </a:tc>
                <a:tc>
                  <a:txBody>
                    <a:bodyPr/>
                    <a:lstStyle/>
                    <a:p>
                      <a:pPr indent="0" marL="0">
                        <a:buNone/>
                      </a:pPr>
                      <a:r>
                        <a:rPr lang="en-US" sz="1200" dirty="0">
                          <a:solidFill>
                            <a:schemeClr val="tx1"/>
                          </a:solidFill>
                        </a:rPr>
                        <a:t>Otsu cleaning and a Kohonen network</a:t>
                      </a:r>
                      <a:endParaRPr lang="en-US" sz="1200" dirty="0"/>
                    </a:p>
                  </a:txBody>
                  <a:tcPr marL="76200" marR="76200" marT="38100" marB="3810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solidFill>
                      <a:schemeClr val="accent6"/>
                    </a:solidFill>
                  </a:tcPr>
                </a:tc>
                <a:tc>
                  <a:txBody>
                    <a:bodyPr/>
                    <a:lstStyle/>
                    <a:p>
                      <a:pPr indent="0" marL="0">
                        <a:buNone/>
                      </a:pPr>
                      <a:r>
                        <a:rPr lang="en-US" sz="1200" dirty="0">
                          <a:solidFill>
                            <a:schemeClr val="tx1"/>
                          </a:solidFill>
                        </a:rPr>
                        <a:t>72.6% (22 letters)</a:t>
                      </a:r>
                      <a:endParaRPr lang="en-US" sz="1200" dirty="0"/>
                    </a:p>
                  </a:txBody>
                  <a:tcPr marL="76200" marR="76200" marT="38100" marB="3810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solidFill>
                      <a:schemeClr val="accent6"/>
                    </a:solidFill>
                  </a:tcPr>
                </a:tc>
                <a:tc>
                  <a:txBody>
                    <a:bodyPr/>
                    <a:lstStyle/>
                    <a:p>
                      <a:pPr indent="0" marL="0">
                        <a:buNone/>
                      </a:pPr>
                      <a:r>
                        <a:rPr lang="en-US" sz="1200" dirty="0">
                          <a:solidFill>
                            <a:schemeClr val="tx1"/>
                          </a:solidFill>
                        </a:rPr>
                        <a:t>8 images per letter</a:t>
                      </a:r>
                      <a:endParaRPr lang="en-US" sz="1200" dirty="0"/>
                    </a:p>
                  </a:txBody>
                  <a:tcPr marL="76200" marR="76200" marT="38100" marB="3810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solidFill>
                      <a:schemeClr val="accent6"/>
                    </a:solidFill>
                  </a:tcPr>
                </a:tc>
              </a:tr>
              <a:tr h="429768">
                <a:tc>
                  <a:txBody>
                    <a:bodyPr/>
                    <a:lstStyle/>
                    <a:p>
                      <a:pPr algn="ctr" indent="0" marL="0">
                        <a:buNone/>
                      </a:pPr>
                      <a:r>
                        <a:rPr lang="en-US" sz="1200" dirty="0">
                          <a:solidFill>
                            <a:schemeClr val="tx1"/>
                          </a:solidFill>
                        </a:rPr>
                        <a:t>27</a:t>
                      </a:r>
                      <a:endParaRPr lang="en-US" sz="1200" dirty="0"/>
                    </a:p>
                  </a:txBody>
                  <a:tcPr marL="76200" marR="76200" marT="38100" marB="3810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solidFill>
                      <a:schemeClr val="bg1"/>
                    </a:solidFill>
                  </a:tcPr>
                </a:tc>
                <a:tc>
                  <a:txBody>
                    <a:bodyPr/>
                    <a:lstStyle/>
                    <a:p>
                      <a:pPr indent="0" marL="0">
                        <a:buNone/>
                      </a:pPr>
                      <a:r>
                        <a:rPr lang="en-US" sz="1200" u="sng" dirty="0">
                          <a:solidFill>
                            <a:schemeClr val="accent1"/>
                          </a:solidFill>
                          <a:hlinkClick r:id="rId7" invalidUrl="" action="" tgtFrame="" tooltip="Review on Recent Advances in Automatic Handwritten MODI Script Recognition" history="1" highlightClick="0" endSnd="0">
                            <a:extLst>
                              <a:ext uri="{A12FA001-AC4F-418D-AE19-62706E023703}">
                                <ahyp:hlinkClr xmlns:ahyp="http://schemas.microsoft.com/office/drawing/2018/hyperlinkcolor" val="tx"/>
                              </a:ext>
                            </a:extLst>
                          </a:hlinkClick>
                        </a:rPr>
                        <a:t>Kulkarni et al., 2015</a:t>
                      </a:r>
                      <a:endParaRPr lang="en-US" sz="1200" dirty="0"/>
                    </a:p>
                  </a:txBody>
                  <a:tcPr marL="76200" marR="76200" marT="38100" marB="3810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Early review of Modi OCR</a:t>
                      </a:r>
                      <a:endParaRPr lang="en-US" sz="1200" dirty="0"/>
                    </a:p>
                  </a:txBody>
                  <a:tcPr marL="76200" marR="76200" marT="38100" marB="3810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65 to 97% (cited)</a:t>
                      </a:r>
                      <a:endParaRPr lang="en-US" sz="1200" dirty="0"/>
                    </a:p>
                  </a:txBody>
                  <a:tcPr marL="76200" marR="76200" marT="38100" marB="3810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Datasets unclear</a:t>
                      </a:r>
                      <a:endParaRPr lang="en-US" sz="1200" dirty="0"/>
                    </a:p>
                  </a:txBody>
                  <a:tcPr marL="76200" marR="76200" marT="38100" marB="3810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solidFill>
                      <a:schemeClr val="bg1"/>
                    </a:solidFill>
                  </a:tcPr>
                </a:tc>
              </a:tr>
              <a:tr h="429768">
                <a:tc>
                  <a:txBody>
                    <a:bodyPr/>
                    <a:lstStyle/>
                    <a:p>
                      <a:pPr algn="ctr" indent="0" marL="0">
                        <a:buNone/>
                      </a:pPr>
                      <a:r>
                        <a:rPr lang="en-US" sz="1200" b="1" dirty="0">
                          <a:solidFill>
                            <a:schemeClr val="tx1"/>
                          </a:solidFill>
                        </a:rPr>
                        <a:t>28</a:t>
                      </a:r>
                      <a:endParaRPr lang="en-US" sz="1200" dirty="0"/>
                    </a:p>
                  </a:txBody>
                  <a:tcPr marL="76200" marR="76200" marT="38100" marB="3810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solidFill>
                      <a:schemeClr val="accent6"/>
                    </a:solidFill>
                  </a:tcPr>
                </a:tc>
                <a:tc>
                  <a:txBody>
                    <a:bodyPr/>
                    <a:lstStyle/>
                    <a:p>
                      <a:pPr indent="0" marL="0">
                        <a:buNone/>
                      </a:pPr>
                      <a:r>
                        <a:rPr lang="en-US" sz="1200" b="1" u="sng" dirty="0">
                          <a:solidFill>
                            <a:schemeClr val="accent1"/>
                          </a:solidFill>
                          <a:hlinkClick r:id="rId8" invalidUrl="" action="" tgtFrame="" tooltip="Recognition of Handwritten MODI Numerals using Hu and Zernike features" history="1" highlightClick="0" endSnd="0">
                            <a:extLst>
                              <a:ext uri="{A12FA001-AC4F-418D-AE19-62706E023703}">
                                <ahyp:hlinkClr xmlns:ahyp="http://schemas.microsoft.com/office/drawing/2018/hyperlinkcolor" val="tx"/>
                              </a:ext>
                            </a:extLst>
                          </a:hlinkClick>
                        </a:rPr>
                        <a:t>Kulkarni et al., 2014</a:t>
                      </a:r>
                      <a:endParaRPr lang="en-US" sz="1200" dirty="0"/>
                    </a:p>
                  </a:txBody>
                  <a:tcPr marL="76200" marR="76200" marT="38100" marB="3810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solidFill>
                      <a:schemeClr val="accent6"/>
                    </a:solidFill>
                  </a:tcPr>
                </a:tc>
                <a:tc>
                  <a:txBody>
                    <a:bodyPr/>
                    <a:lstStyle/>
                    <a:p>
                      <a:pPr indent="0" marL="0">
                        <a:buNone/>
                      </a:pPr>
                      <a:r>
                        <a:rPr lang="en-US" sz="1200" dirty="0">
                          <a:solidFill>
                            <a:schemeClr val="tx1"/>
                          </a:solidFill>
                        </a:rPr>
                        <a:t>Zernike vs Hu moments on digits</a:t>
                      </a:r>
                      <a:endParaRPr lang="en-US" sz="1200" dirty="0"/>
                    </a:p>
                  </a:txBody>
                  <a:tcPr marL="76200" marR="76200" marT="38100" marB="3810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solidFill>
                      <a:schemeClr val="accent6"/>
                    </a:solidFill>
                  </a:tcPr>
                </a:tc>
                <a:tc>
                  <a:txBody>
                    <a:bodyPr/>
                    <a:lstStyle/>
                    <a:p>
                      <a:pPr indent="0" marL="0">
                        <a:buNone/>
                      </a:pPr>
                      <a:r>
                        <a:rPr lang="en-US" sz="1200" dirty="0">
                          <a:solidFill>
                            <a:schemeClr val="tx1"/>
                          </a:solidFill>
                        </a:rPr>
                        <a:t>86.7% vs 70%</a:t>
                      </a:r>
                      <a:endParaRPr lang="en-US" sz="1200" dirty="0"/>
                    </a:p>
                  </a:txBody>
                  <a:tcPr marL="76200" marR="76200" marT="38100" marB="3810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solidFill>
                      <a:schemeClr val="accent6"/>
                    </a:solidFill>
                  </a:tcPr>
                </a:tc>
                <a:tc>
                  <a:txBody>
                    <a:bodyPr/>
                    <a:lstStyle/>
                    <a:p>
                      <a:pPr indent="0" marL="0">
                        <a:buNone/>
                      </a:pPr>
                      <a:r>
                        <a:rPr lang="en-US" sz="1200" dirty="0">
                          <a:solidFill>
                            <a:schemeClr val="tx1"/>
                          </a:solidFill>
                        </a:rPr>
                        <a:t>Only 100 images</a:t>
                      </a:r>
                      <a:endParaRPr lang="en-US" sz="1200" dirty="0"/>
                    </a:p>
                  </a:txBody>
                  <a:tcPr marL="76200" marR="76200" marT="38100" marB="3810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solidFill>
                      <a:schemeClr val="accent6"/>
                    </a:solidFill>
                  </a:tcPr>
                </a:tc>
              </a:tr>
              <a:tr h="429768">
                <a:tc>
                  <a:txBody>
                    <a:bodyPr/>
                    <a:lstStyle/>
                    <a:p>
                      <a:pPr algn="ctr" indent="0" marL="0">
                        <a:buNone/>
                      </a:pPr>
                      <a:r>
                        <a:rPr lang="en-US" sz="1200" dirty="0">
                          <a:solidFill>
                            <a:schemeClr val="tx1"/>
                          </a:solidFill>
                        </a:rPr>
                        <a:t>29</a:t>
                      </a:r>
                      <a:endParaRPr lang="en-US" sz="1200" dirty="0"/>
                    </a:p>
                  </a:txBody>
                  <a:tcPr marL="76200" marR="76200" marT="38100" marB="3810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solidFill>
                      <a:schemeClr val="bg1"/>
                    </a:solidFill>
                  </a:tcPr>
                </a:tc>
                <a:tc>
                  <a:txBody>
                    <a:bodyPr/>
                    <a:lstStyle/>
                    <a:p>
                      <a:pPr indent="0" marL="0">
                        <a:buNone/>
                      </a:pPr>
                      <a:r>
                        <a:rPr lang="en-US" sz="1200" u="sng" dirty="0">
                          <a:solidFill>
                            <a:schemeClr val="accent1"/>
                          </a:solidFill>
                          <a:hlinkClick r:id="rId9" invalidUrl="" action="" tgtFrame="" tooltip="Study for Theoretical Analysis of Handwritten MODI Script A Recognition Perspective" history="1" highlightClick="0" endSnd="0">
                            <a:extLst>
                              <a:ext uri="{A12FA001-AC4F-418D-AE19-62706E023703}">
                                <ahyp:hlinkClr xmlns:ahyp="http://schemas.microsoft.com/office/drawing/2018/hyperlinkcolor" val="tx"/>
                              </a:ext>
                            </a:extLst>
                          </a:hlinkClick>
                        </a:rPr>
                        <a:t>Besekar &amp; Ramteke, 2013</a:t>
                      </a:r>
                      <a:endParaRPr lang="en-US" sz="1200" dirty="0"/>
                    </a:p>
                  </a:txBody>
                  <a:tcPr marL="76200" marR="76200" marT="38100" marB="3810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Why Modi is hard to read</a:t>
                      </a:r>
                      <a:endParaRPr lang="en-US" sz="1200" dirty="0"/>
                    </a:p>
                  </a:txBody>
                  <a:tcPr marL="76200" marR="76200" marT="38100" marB="3810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None</a:t>
                      </a:r>
                      <a:endParaRPr lang="en-US" sz="1200" dirty="0"/>
                    </a:p>
                  </a:txBody>
                  <a:tcPr marL="76200" marR="76200" marT="38100" marB="3810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Theory only</a:t>
                      </a:r>
                      <a:endParaRPr lang="en-US" sz="1200" dirty="0"/>
                    </a:p>
                  </a:txBody>
                  <a:tcPr marL="76200" marR="76200" marT="38100" marB="3810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solidFill>
                      <a:schemeClr val="bg1"/>
                    </a:solidFill>
                  </a:tcPr>
                </a:tc>
              </a:tr>
              <a:tr h="429768">
                <a:tc>
                  <a:txBody>
                    <a:bodyPr/>
                    <a:lstStyle/>
                    <a:p>
                      <a:pPr algn="ctr" indent="0" marL="0">
                        <a:buNone/>
                      </a:pPr>
                      <a:r>
                        <a:rPr lang="en-US" sz="1200" dirty="0">
                          <a:solidFill>
                            <a:schemeClr val="tx1"/>
                          </a:solidFill>
                        </a:rPr>
                        <a:t>30</a:t>
                      </a:r>
                      <a:endParaRPr lang="en-US" sz="1200" dirty="0"/>
                    </a:p>
                  </a:txBody>
                  <a:tcPr marL="76200" marR="76200" marT="38100" marB="3810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solidFill>
                      <a:schemeClr val="bg2"/>
                    </a:solidFill>
                  </a:tcPr>
                </a:tc>
                <a:tc>
                  <a:txBody>
                    <a:bodyPr/>
                    <a:lstStyle/>
                    <a:p>
                      <a:pPr indent="0" marL="0">
                        <a:buNone/>
                      </a:pPr>
                      <a:r>
                        <a:rPr lang="en-US" sz="1200" u="sng" dirty="0">
                          <a:solidFill>
                            <a:schemeClr val="accent1"/>
                          </a:solidFill>
                          <a:hlinkClick r:id="rId10" invalidUrl="" action="" tgtFrame="" tooltip="Proposal to Encode the Modi Script in ISO/IEC 10646" history="1" highlightClick="0" endSnd="0">
                            <a:extLst>
                              <a:ext uri="{A12FA001-AC4F-418D-AE19-62706E023703}">
                                <ahyp:hlinkClr xmlns:ahyp="http://schemas.microsoft.com/office/drawing/2018/hyperlinkcolor" val="tx"/>
                              </a:ext>
                            </a:extLst>
                          </a:hlinkClick>
                        </a:rPr>
                        <a:t>Pandey, 2011</a:t>
                      </a:r>
                      <a:endParaRPr lang="en-US" sz="1200" dirty="0"/>
                    </a:p>
                  </a:txBody>
                  <a:tcPr marL="76200" marR="76200" marT="38100" marB="3810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Unicode proposal for Modi</a:t>
                      </a:r>
                      <a:endParaRPr lang="en-US" sz="1200" dirty="0"/>
                    </a:p>
                  </a:txBody>
                  <a:tcPr marL="76200" marR="76200" marT="38100" marB="3810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79 characters defined</a:t>
                      </a:r>
                      <a:endParaRPr lang="en-US" sz="1200" dirty="0"/>
                    </a:p>
                  </a:txBody>
                  <a:tcPr marL="76200" marR="76200" marT="38100" marB="3810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Not about recognition</a:t>
                      </a:r>
                      <a:endParaRPr lang="en-US" sz="1200" dirty="0"/>
                    </a:p>
                  </a:txBody>
                  <a:tcPr marL="76200" marR="76200" marT="38100" marB="3810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solidFill>
                      <a:schemeClr val="bg2"/>
                    </a:solidFill>
                  </a:tcPr>
                </a:tc>
              </a:tr>
            </a:tbl>
          </a:graphicData>
        </a:graphic>
      </p:graphicFrame>
      <p:sp>
        <p:nvSpPr>
          <p:cNvPr id="4" name="Text 1"/>
          <p:cNvSpPr txBox="1"/>
          <p:nvPr/>
        </p:nvSpPr>
        <p:spPr>
          <a:xfrm>
            <a:off x="548640" y="5989320"/>
            <a:ext cx="11064240" cy="320040"/>
          </a:xfrm>
          <a:prstGeom prst="rect">
            <a:avLst/>
          </a:prstGeom>
          <a:noFill/>
          <a:ln/>
        </p:spPr>
        <p:txBody>
          <a:bodyPr wrap="square" lIns="0" tIns="0" rIns="0" bIns="0" rtlCol="0" anchor="ctr"/>
          <a:lstStyle/>
          <a:p>
            <a:pPr indent="0" marL="0">
              <a:buNone/>
            </a:pPr>
            <a:r>
              <a:rPr lang="en-US" sz="1100" i="1" dirty="0">
                <a:solidFill>
                  <a:schemeClr val="tx2"/>
                </a:solidFill>
              </a:rPr>
              <a:t>Highlighted rows are our base papers. Click a paper's name to open the PDF.</a:t>
            </a:r>
            <a:endParaRPr lang="en-US" sz="11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731520" y="2377440"/>
            <a:ext cx="10698480" cy="1097280"/>
          </a:xfrm>
          <a:prstGeom prst="rect">
            <a:avLst/>
          </a:prstGeom>
          <a:noFill/>
          <a:ln/>
        </p:spPr>
        <p:txBody>
          <a:bodyPr wrap="square" rtlCol="0"/>
          <a:lstStyle/>
          <a:p>
            <a:pPr indent="0" marL="0">
              <a:buNone/>
            </a:pPr>
            <a:r>
              <a:rPr lang="en-US" sz="4000" b="1" dirty="0">
                <a:solidFill>
                  <a:schemeClr val="bg1"/>
                </a:solidFill>
                <a:latin typeface="Cambria" pitchFamily="34" charset="0"/>
                <a:ea typeface="Cambria" pitchFamily="34" charset="-122"/>
                <a:cs typeface="Cambria" pitchFamily="34" charset="-120"/>
              </a:rPr>
              <a:t>Our 7 base papers</a:t>
            </a:r>
            <a:endParaRPr lang="en-US" sz="4000" dirty="0"/>
          </a:p>
        </p:txBody>
      </p:sp>
      <p:sp>
        <p:nvSpPr>
          <p:cNvPr id="3" name="Text 0"/>
          <p:cNvSpPr/>
          <p:nvPr>
            <p:ph idx="101" type="body" hasCustomPrompt="1"/>
          </p:nvPr>
        </p:nvSpPr>
        <p:spPr>
          <a:xfrm>
            <a:off x="731520" y="3566160"/>
            <a:ext cx="10698480" cy="914400"/>
          </a:xfrm>
          <a:prstGeom prst="rect">
            <a:avLst/>
          </a:prstGeom>
          <a:noFill/>
          <a:ln/>
        </p:spPr>
        <p:txBody>
          <a:bodyPr wrap="square" rtlCol="0"/>
          <a:lstStyle/>
          <a:p>
            <a:pPr indent="0" marL="0">
              <a:buNone/>
            </a:pPr>
            <a:r>
              <a:rPr lang="en-US" sz="1800" dirty="0">
                <a:solidFill>
                  <a:schemeClr val="accent6"/>
                </a:solidFill>
              </a:rPr>
              <a:t>The papers our objectives come from, one slide each</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731520"/>
          </a:xfrm>
          <a:prstGeom prst="rect">
            <a:avLst/>
          </a:prstGeom>
          <a:noFill/>
          <a:ln/>
        </p:spPr>
        <p:txBody>
          <a:bodyPr wrap="square" rtlCol="0" anchor="ctr"/>
          <a:lstStyle/>
          <a:p>
            <a:pPr indent="0" marL="0">
              <a:buNone/>
            </a:pPr>
            <a:r>
              <a:rPr lang="en-US" sz="3000" b="1" dirty="0">
                <a:solidFill>
                  <a:schemeClr val="tx2"/>
                </a:solidFill>
                <a:latin typeface="Cambria" pitchFamily="34" charset="0"/>
                <a:ea typeface="Cambria" pitchFamily="34" charset="-122"/>
                <a:cs typeface="Cambria" pitchFamily="34" charset="-120"/>
              </a:rPr>
              <a:t>Bhong &amp; Kulkarni, 2025: CNN vs VGG16</a:t>
            </a:r>
            <a:endParaRPr lang="en-US" sz="3000" dirty="0"/>
          </a:p>
        </p:txBody>
      </p:sp>
      <p:sp>
        <p:nvSpPr>
          <p:cNvPr id="3" name="What they did marker"/>
          <p:cNvSpPr/>
          <p:nvPr/>
        </p:nvSpPr>
        <p:spPr>
          <a:xfrm>
            <a:off x="548640" y="1325880"/>
            <a:ext cx="457200" cy="457200"/>
          </a:xfrm>
          <a:prstGeom prst="ellipse">
            <a:avLst/>
          </a:prstGeom>
          <a:solidFill>
            <a:schemeClr val="accent1"/>
          </a:solidFill>
          <a:ln/>
        </p:spPr>
      </p:sp>
      <p:sp>
        <p:nvSpPr>
          <p:cNvPr id="4" name="What they did marker label"/>
          <p:cNvSpPr txBox="1"/>
          <p:nvPr/>
        </p:nvSpPr>
        <p:spPr>
          <a:xfrm>
            <a:off x="548640" y="132588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5" name="Text 3"/>
          <p:cNvSpPr txBox="1"/>
          <p:nvPr/>
        </p:nvSpPr>
        <p:spPr>
          <a:xfrm>
            <a:off x="1188720" y="1307592"/>
            <a:ext cx="5760720" cy="411480"/>
          </a:xfrm>
          <a:prstGeom prst="rect">
            <a:avLst/>
          </a:prstGeom>
          <a:noFill/>
          <a:ln/>
        </p:spPr>
        <p:txBody>
          <a:bodyPr wrap="square" lIns="0" tIns="0" rIns="0" bIns="0" rtlCol="0" anchor="ctr"/>
          <a:lstStyle/>
          <a:p>
            <a:pPr indent="0" marL="0">
              <a:buNone/>
            </a:pPr>
            <a:r>
              <a:rPr lang="en-US" sz="1800" b="1" dirty="0">
                <a:solidFill>
                  <a:schemeClr val="tx1"/>
                </a:solidFill>
              </a:rPr>
              <a:t>What they did</a:t>
            </a:r>
            <a:endParaRPr lang="en-US" sz="1800" dirty="0"/>
          </a:p>
        </p:txBody>
      </p:sp>
      <p:sp>
        <p:nvSpPr>
          <p:cNvPr id="6" name="Text 4"/>
          <p:cNvSpPr txBox="1"/>
          <p:nvPr/>
        </p:nvSpPr>
        <p:spPr>
          <a:xfrm>
            <a:off x="1188720" y="1737360"/>
            <a:ext cx="5760720" cy="1005840"/>
          </a:xfrm>
          <a:prstGeom prst="rect">
            <a:avLst/>
          </a:prstGeom>
          <a:noFill/>
          <a:ln/>
        </p:spPr>
        <p:txBody>
          <a:bodyPr wrap="square" lIns="0" tIns="0" rIns="0" bIns="0" rtlCol="0" anchor="t"/>
          <a:lstStyle/>
          <a:p>
            <a:pPr indent="0" marL="0">
              <a:buNone/>
            </a:pPr>
            <a:r>
              <a:rPr lang="en-US" sz="1500" dirty="0">
                <a:solidFill>
                  <a:schemeClr val="tx1"/>
                </a:solidFill>
              </a:rPr>
              <a:t>Trained a small CNN and VGG16 on the public set of 46 Modi letters, 90 images each, plus some of their own handwriting.</a:t>
            </a:r>
            <a:endParaRPr lang="en-US" sz="1500" dirty="0"/>
          </a:p>
        </p:txBody>
      </p:sp>
      <p:sp>
        <p:nvSpPr>
          <p:cNvPr id="7" name="What we noticed marker"/>
          <p:cNvSpPr/>
          <p:nvPr/>
        </p:nvSpPr>
        <p:spPr>
          <a:xfrm>
            <a:off x="548640" y="2880360"/>
            <a:ext cx="457200" cy="457200"/>
          </a:xfrm>
          <a:prstGeom prst="ellipse">
            <a:avLst/>
          </a:prstGeom>
          <a:solidFill>
            <a:schemeClr val="accent4"/>
          </a:solidFill>
          <a:ln/>
        </p:spPr>
      </p:sp>
      <p:sp>
        <p:nvSpPr>
          <p:cNvPr id="8" name="What we noticed marker label"/>
          <p:cNvSpPr txBox="1"/>
          <p:nvPr/>
        </p:nvSpPr>
        <p:spPr>
          <a:xfrm>
            <a:off x="548640" y="288036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9" name="Text 7"/>
          <p:cNvSpPr txBox="1"/>
          <p:nvPr/>
        </p:nvSpPr>
        <p:spPr>
          <a:xfrm>
            <a:off x="1188720" y="2862072"/>
            <a:ext cx="5760720" cy="411480"/>
          </a:xfrm>
          <a:prstGeom prst="rect">
            <a:avLst/>
          </a:prstGeom>
          <a:noFill/>
          <a:ln/>
        </p:spPr>
        <p:txBody>
          <a:bodyPr wrap="square" lIns="0" tIns="0" rIns="0" bIns="0" rtlCol="0" anchor="ctr"/>
          <a:lstStyle/>
          <a:p>
            <a:pPr indent="0" marL="0">
              <a:buNone/>
            </a:pPr>
            <a:r>
              <a:rPr lang="en-US" sz="1800" b="1" dirty="0">
                <a:solidFill>
                  <a:schemeClr val="tx1"/>
                </a:solidFill>
              </a:rPr>
              <a:t>What we noticed</a:t>
            </a:r>
            <a:endParaRPr lang="en-US" sz="1800" dirty="0"/>
          </a:p>
        </p:txBody>
      </p:sp>
      <p:sp>
        <p:nvSpPr>
          <p:cNvPr id="10" name="Text 8"/>
          <p:cNvSpPr txBox="1"/>
          <p:nvPr/>
        </p:nvSpPr>
        <p:spPr>
          <a:xfrm>
            <a:off x="1188720" y="3291840"/>
            <a:ext cx="5760720" cy="1005840"/>
          </a:xfrm>
          <a:prstGeom prst="rect">
            <a:avLst/>
          </a:prstGeom>
          <a:noFill/>
          <a:ln/>
        </p:spPr>
        <p:txBody>
          <a:bodyPr wrap="square" lIns="0" tIns="0" rIns="0" bIns="0" rtlCol="0" anchor="t"/>
          <a:lstStyle/>
          <a:p>
            <a:pPr indent="0" marL="0">
              <a:buNone/>
            </a:pPr>
            <a:r>
              <a:rPr lang="en-US" sz="1500" dirty="0">
                <a:solidFill>
                  <a:schemeClr val="tx1"/>
                </a:solidFill>
              </a:rPr>
              <a:t>VGG16 scores 8 points higher on training data than on validation data, so it is partly memorising. The conclusion also says 94.3%, which doesn't match the results table.</a:t>
            </a:r>
            <a:endParaRPr lang="en-US" sz="1500" dirty="0"/>
          </a:p>
        </p:txBody>
      </p:sp>
      <p:sp>
        <p:nvSpPr>
          <p:cNvPr id="11" name="What we take from it marker"/>
          <p:cNvSpPr/>
          <p:nvPr/>
        </p:nvSpPr>
        <p:spPr>
          <a:xfrm>
            <a:off x="548640" y="4434840"/>
            <a:ext cx="457200" cy="457200"/>
          </a:xfrm>
          <a:prstGeom prst="ellipse">
            <a:avLst/>
          </a:prstGeom>
          <a:solidFill>
            <a:schemeClr val="accent3"/>
          </a:solidFill>
          <a:ln/>
        </p:spPr>
      </p:sp>
      <p:sp>
        <p:nvSpPr>
          <p:cNvPr id="12" name="What we take from it marker label"/>
          <p:cNvSpPr txBox="1"/>
          <p:nvPr/>
        </p:nvSpPr>
        <p:spPr>
          <a:xfrm>
            <a:off x="548640" y="443484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3" name="Text 11"/>
          <p:cNvSpPr txBox="1"/>
          <p:nvPr/>
        </p:nvSpPr>
        <p:spPr>
          <a:xfrm>
            <a:off x="1188720" y="4416552"/>
            <a:ext cx="5760720" cy="411480"/>
          </a:xfrm>
          <a:prstGeom prst="rect">
            <a:avLst/>
          </a:prstGeom>
          <a:noFill/>
          <a:ln/>
        </p:spPr>
        <p:txBody>
          <a:bodyPr wrap="square" lIns="0" tIns="0" rIns="0" bIns="0" rtlCol="0" anchor="ctr"/>
          <a:lstStyle/>
          <a:p>
            <a:pPr indent="0" marL="0">
              <a:buNone/>
            </a:pPr>
            <a:r>
              <a:rPr lang="en-US" sz="1800" b="1" dirty="0">
                <a:solidFill>
                  <a:schemeClr val="tx1"/>
                </a:solidFill>
              </a:rPr>
              <a:t>What we take from it</a:t>
            </a:r>
            <a:endParaRPr lang="en-US" sz="1800" dirty="0"/>
          </a:p>
        </p:txBody>
      </p:sp>
      <p:sp>
        <p:nvSpPr>
          <p:cNvPr id="14" name="Text 12"/>
          <p:cNvSpPr txBox="1"/>
          <p:nvPr/>
        </p:nvSpPr>
        <p:spPr>
          <a:xfrm>
            <a:off x="1188720" y="4846320"/>
            <a:ext cx="5760720" cy="1005840"/>
          </a:xfrm>
          <a:prstGeom prst="rect">
            <a:avLst/>
          </a:prstGeom>
          <a:noFill/>
          <a:ln/>
        </p:spPr>
        <p:txBody>
          <a:bodyPr wrap="square" lIns="0" tIns="0" rIns="0" bIns="0" rtlCol="0" anchor="t"/>
          <a:lstStyle/>
          <a:p>
            <a:pPr indent="0" marL="0">
              <a:buNone/>
            </a:pPr>
            <a:r>
              <a:rPr lang="en-US" sz="1500" dirty="0">
                <a:solidFill>
                  <a:schemeClr val="tx1"/>
                </a:solidFill>
              </a:rPr>
              <a:t>This benchmark size (about 72 training images per letter) is the first point in our CNN comparison.</a:t>
            </a:r>
            <a:endParaRPr lang="en-US" sz="1500" dirty="0"/>
          </a:p>
        </p:txBody>
      </p:sp>
      <p:sp>
        <p:nvSpPr>
          <p:cNvPr id="15" name="Key number card"/>
          <p:cNvSpPr/>
          <p:nvPr/>
        </p:nvSpPr>
        <p:spPr>
          <a:xfrm>
            <a:off x="7498080" y="1325880"/>
            <a:ext cx="4114800" cy="2651760"/>
          </a:xfrm>
          <a:prstGeom prst="roundRect">
            <a:avLst>
              <a:gd name="adj" fmla="val 4138"/>
            </a:avLst>
          </a:prstGeom>
          <a:solidFill>
            <a:schemeClr val="bg2"/>
          </a:solidFill>
          <a:ln/>
        </p:spPr>
      </p:sp>
      <p:sp>
        <p:nvSpPr>
          <p:cNvPr id="16" name="Text 14"/>
          <p:cNvSpPr txBox="1"/>
          <p:nvPr/>
        </p:nvSpPr>
        <p:spPr>
          <a:xfrm>
            <a:off x="7589520" y="1554480"/>
            <a:ext cx="3931920" cy="1188720"/>
          </a:xfrm>
          <a:prstGeom prst="rect">
            <a:avLst/>
          </a:prstGeom>
          <a:noFill/>
          <a:ln/>
        </p:spPr>
        <p:txBody>
          <a:bodyPr wrap="square" lIns="0" tIns="0" rIns="0" bIns="0" rtlCol="0" anchor="ctr"/>
          <a:lstStyle/>
          <a:p>
            <a:pPr algn="ctr" indent="0" marL="0">
              <a:buNone/>
            </a:pPr>
            <a:r>
              <a:rPr lang="en-US" sz="5400" b="1" dirty="0">
                <a:solidFill>
                  <a:schemeClr val="accent1"/>
                </a:solidFill>
              </a:rPr>
              <a:t>89.5%</a:t>
            </a:r>
            <a:endParaRPr lang="en-US" sz="5400" dirty="0"/>
          </a:p>
        </p:txBody>
      </p:sp>
      <p:sp>
        <p:nvSpPr>
          <p:cNvPr id="17" name="Text 15"/>
          <p:cNvSpPr txBox="1"/>
          <p:nvPr/>
        </p:nvSpPr>
        <p:spPr>
          <a:xfrm>
            <a:off x="7772400" y="2788920"/>
            <a:ext cx="3566160" cy="914400"/>
          </a:xfrm>
          <a:prstGeom prst="rect">
            <a:avLst/>
          </a:prstGeom>
          <a:noFill/>
          <a:ln/>
        </p:spPr>
        <p:txBody>
          <a:bodyPr wrap="square" lIns="0" tIns="0" rIns="0" bIns="0" rtlCol="0" anchor="t"/>
          <a:lstStyle/>
          <a:p>
            <a:pPr algn="ctr" indent="0" marL="0">
              <a:buNone/>
            </a:pPr>
            <a:r>
              <a:rPr lang="en-US" sz="1400" dirty="0">
                <a:solidFill>
                  <a:schemeClr val="tx1"/>
                </a:solidFill>
              </a:rPr>
              <a:t>VGG16 on validation data (97.6% on training data)</a:t>
            </a:r>
            <a:endParaRPr lang="en-US" sz="1400" dirty="0"/>
          </a:p>
        </p:txBody>
      </p:sp>
      <p:sp>
        <p:nvSpPr>
          <p:cNvPr id="18" name="Objective tag"/>
          <p:cNvSpPr/>
          <p:nvPr/>
        </p:nvSpPr>
        <p:spPr>
          <a:xfrm>
            <a:off x="7498080" y="4206240"/>
            <a:ext cx="4114800" cy="685800"/>
          </a:xfrm>
          <a:prstGeom prst="roundRect">
            <a:avLst>
              <a:gd name="adj" fmla="val 16000"/>
            </a:avLst>
          </a:prstGeom>
          <a:solidFill>
            <a:schemeClr val="accent6"/>
          </a:solidFill>
          <a:ln/>
        </p:spPr>
      </p:sp>
      <p:sp>
        <p:nvSpPr>
          <p:cNvPr id="19" name="Text 17"/>
          <p:cNvSpPr txBox="1"/>
          <p:nvPr/>
        </p:nvSpPr>
        <p:spPr>
          <a:xfrm>
            <a:off x="7498080" y="4206240"/>
            <a:ext cx="4114800" cy="685800"/>
          </a:xfrm>
          <a:prstGeom prst="rect">
            <a:avLst/>
          </a:prstGeom>
          <a:noFill/>
          <a:ln/>
        </p:spPr>
        <p:txBody>
          <a:bodyPr wrap="square" lIns="0" tIns="0" rIns="0" bIns="0" rtlCol="0" anchor="ctr"/>
          <a:lstStyle/>
          <a:p>
            <a:pPr algn="ctr" indent="0" marL="0">
              <a:buNone/>
            </a:pPr>
            <a:r>
              <a:rPr lang="en-US" sz="1600" b="1" dirty="0">
                <a:solidFill>
                  <a:schemeClr val="tx1"/>
                </a:solidFill>
              </a:rPr>
              <a:t>Leads to Objective 4</a:t>
            </a:r>
            <a:endParaRPr lang="en-US" sz="1600" dirty="0"/>
          </a:p>
        </p:txBody>
      </p:sp>
      <p:sp>
        <p:nvSpPr>
          <p:cNvPr id="20" name="Text 18"/>
          <p:cNvSpPr txBox="1"/>
          <p:nvPr/>
        </p:nvSpPr>
        <p:spPr>
          <a:xfrm>
            <a:off x="7498080" y="5120640"/>
            <a:ext cx="4114800" cy="365760"/>
          </a:xfrm>
          <a:prstGeom prst="rect">
            <a:avLst/>
          </a:prstGeom>
          <a:noFill/>
          <a:ln/>
        </p:spPr>
        <p:txBody>
          <a:bodyPr wrap="square" lIns="0" tIns="0" rIns="0" bIns="0" rtlCol="0" anchor="ctr"/>
          <a:lstStyle/>
          <a:p>
            <a:pPr algn="ctr" indent="0" marL="0">
              <a:buNone/>
            </a:pPr>
            <a:r>
              <a:rPr lang="en-US" sz="1400" u="sng" dirty="0">
                <a:solidFill>
                  <a:schemeClr val="accent1"/>
                </a:solidFill>
                <a:hlinkClick r:id="rId1" invalidUrl="" action="" tgtFrame="" tooltip="Handwritten Modi Script Character Recognition Using CNN and VGG16 Algorithms" history="1" highlightClick="0" endSnd="0">
                  <a:extLst>
                    <a:ext uri="{A12FA001-AC4F-418D-AE19-62706E023703}">
                      <ahyp:hlinkClr xmlns:ahyp="http://schemas.microsoft.com/office/drawing/2018/hyperlinkcolor" val="tx"/>
                    </a:ext>
                  </a:extLst>
                </a:hlinkClick>
              </a:rPr>
              <a:t>Open the paper (Drive)</a:t>
            </a:r>
            <a:endParaRPr lang="en-US" sz="1400" dirty="0"/>
          </a:p>
        </p:txBody>
      </p:sp>
      <p:sp>
        <p:nvSpPr>
          <p:cNvPr id="21" name="Text 19"/>
          <p:cNvSpPr txBox="1"/>
          <p:nvPr/>
        </p:nvSpPr>
        <p:spPr>
          <a:xfrm>
            <a:off x="548640" y="5943600"/>
            <a:ext cx="11064240" cy="365760"/>
          </a:xfrm>
          <a:prstGeom prst="rect">
            <a:avLst/>
          </a:prstGeom>
          <a:noFill/>
          <a:ln/>
        </p:spPr>
        <p:txBody>
          <a:bodyPr wrap="square" lIns="0" tIns="0" rIns="0" bIns="0" rtlCol="0" anchor="ctr"/>
          <a:lstStyle/>
          <a:p>
            <a:pPr indent="0" marL="0">
              <a:buNone/>
            </a:pPr>
            <a:r>
              <a:rPr lang="en-US" sz="1100" i="1" dirty="0">
                <a:solidFill>
                  <a:schemeClr val="tx2"/>
                </a:solidFill>
              </a:rPr>
              <a:t>Paper 4 in our survey: Handwritten Modi Script Character Recognition Using CNN and VGG16 Algorithms</a:t>
            </a:r>
            <a:endParaRPr lang="en-US" sz="11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731520"/>
          </a:xfrm>
          <a:prstGeom prst="rect">
            <a:avLst/>
          </a:prstGeom>
          <a:noFill/>
          <a:ln/>
        </p:spPr>
        <p:txBody>
          <a:bodyPr wrap="square" rtlCol="0" anchor="ctr"/>
          <a:lstStyle/>
          <a:p>
            <a:pPr indent="0" marL="0">
              <a:buNone/>
            </a:pPr>
            <a:r>
              <a:rPr lang="en-US" sz="3000" b="1" dirty="0">
                <a:solidFill>
                  <a:schemeClr val="tx2"/>
                </a:solidFill>
                <a:latin typeface="Cambria" pitchFamily="34" charset="0"/>
                <a:ea typeface="Cambria" pitchFamily="34" charset="-122"/>
                <a:cs typeface="Cambria" pitchFamily="34" charset="-120"/>
              </a:rPr>
              <a:t>Kolte &amp; Gupta, 2025: CNN with attention</a:t>
            </a:r>
            <a:endParaRPr lang="en-US" sz="3000" dirty="0"/>
          </a:p>
        </p:txBody>
      </p:sp>
      <p:sp>
        <p:nvSpPr>
          <p:cNvPr id="3" name="What they did marker"/>
          <p:cNvSpPr/>
          <p:nvPr/>
        </p:nvSpPr>
        <p:spPr>
          <a:xfrm>
            <a:off x="548640" y="1325880"/>
            <a:ext cx="457200" cy="457200"/>
          </a:xfrm>
          <a:prstGeom prst="ellipse">
            <a:avLst/>
          </a:prstGeom>
          <a:solidFill>
            <a:schemeClr val="accent1"/>
          </a:solidFill>
          <a:ln/>
        </p:spPr>
      </p:sp>
      <p:sp>
        <p:nvSpPr>
          <p:cNvPr id="4" name="What they did marker label"/>
          <p:cNvSpPr txBox="1"/>
          <p:nvPr/>
        </p:nvSpPr>
        <p:spPr>
          <a:xfrm>
            <a:off x="548640" y="132588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5" name="Text 3"/>
          <p:cNvSpPr txBox="1"/>
          <p:nvPr/>
        </p:nvSpPr>
        <p:spPr>
          <a:xfrm>
            <a:off x="1188720" y="1307592"/>
            <a:ext cx="5760720" cy="411480"/>
          </a:xfrm>
          <a:prstGeom prst="rect">
            <a:avLst/>
          </a:prstGeom>
          <a:noFill/>
          <a:ln/>
        </p:spPr>
        <p:txBody>
          <a:bodyPr wrap="square" lIns="0" tIns="0" rIns="0" bIns="0" rtlCol="0" anchor="ctr"/>
          <a:lstStyle/>
          <a:p>
            <a:pPr indent="0" marL="0">
              <a:buNone/>
            </a:pPr>
            <a:r>
              <a:rPr lang="en-US" sz="1800" b="1" dirty="0">
                <a:solidFill>
                  <a:schemeClr val="tx1"/>
                </a:solidFill>
              </a:rPr>
              <a:t>What they did</a:t>
            </a:r>
            <a:endParaRPr lang="en-US" sz="1800" dirty="0"/>
          </a:p>
        </p:txBody>
      </p:sp>
      <p:sp>
        <p:nvSpPr>
          <p:cNvPr id="6" name="Text 4"/>
          <p:cNvSpPr txBox="1"/>
          <p:nvPr/>
        </p:nvSpPr>
        <p:spPr>
          <a:xfrm>
            <a:off x="1188720" y="1737360"/>
            <a:ext cx="5760720" cy="1005840"/>
          </a:xfrm>
          <a:prstGeom prst="rect">
            <a:avLst/>
          </a:prstGeom>
          <a:noFill/>
          <a:ln/>
        </p:spPr>
        <p:txBody>
          <a:bodyPr wrap="square" lIns="0" tIns="0" rIns="0" bIns="0" rtlCol="0" anchor="t"/>
          <a:lstStyle/>
          <a:p>
            <a:pPr indent="0" marL="0">
              <a:buNone/>
            </a:pPr>
            <a:r>
              <a:rPr lang="en-US" sz="1500" dirty="0">
                <a:solidFill>
                  <a:schemeClr val="tx1"/>
                </a:solidFill>
              </a:rPr>
              <a:t>Added an attention layer to a CNN so it focuses on the strokes that tell similar letters apart.</a:t>
            </a:r>
            <a:endParaRPr lang="en-US" sz="1500" dirty="0"/>
          </a:p>
        </p:txBody>
      </p:sp>
      <p:sp>
        <p:nvSpPr>
          <p:cNvPr id="7" name="What we noticed marker"/>
          <p:cNvSpPr/>
          <p:nvPr/>
        </p:nvSpPr>
        <p:spPr>
          <a:xfrm>
            <a:off x="548640" y="2880360"/>
            <a:ext cx="457200" cy="457200"/>
          </a:xfrm>
          <a:prstGeom prst="ellipse">
            <a:avLst/>
          </a:prstGeom>
          <a:solidFill>
            <a:schemeClr val="accent4"/>
          </a:solidFill>
          <a:ln/>
        </p:spPr>
      </p:sp>
      <p:sp>
        <p:nvSpPr>
          <p:cNvPr id="8" name="What we noticed marker label"/>
          <p:cNvSpPr txBox="1"/>
          <p:nvPr/>
        </p:nvSpPr>
        <p:spPr>
          <a:xfrm>
            <a:off x="548640" y="288036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9" name="Text 7"/>
          <p:cNvSpPr txBox="1"/>
          <p:nvPr/>
        </p:nvSpPr>
        <p:spPr>
          <a:xfrm>
            <a:off x="1188720" y="2862072"/>
            <a:ext cx="5760720" cy="411480"/>
          </a:xfrm>
          <a:prstGeom prst="rect">
            <a:avLst/>
          </a:prstGeom>
          <a:noFill/>
          <a:ln/>
        </p:spPr>
        <p:txBody>
          <a:bodyPr wrap="square" lIns="0" tIns="0" rIns="0" bIns="0" rtlCol="0" anchor="ctr"/>
          <a:lstStyle/>
          <a:p>
            <a:pPr indent="0" marL="0">
              <a:buNone/>
            </a:pPr>
            <a:r>
              <a:rPr lang="en-US" sz="1800" b="1" dirty="0">
                <a:solidFill>
                  <a:schemeClr val="tx1"/>
                </a:solidFill>
              </a:rPr>
              <a:t>What we noticed</a:t>
            </a:r>
            <a:endParaRPr lang="en-US" sz="1800" dirty="0"/>
          </a:p>
        </p:txBody>
      </p:sp>
      <p:sp>
        <p:nvSpPr>
          <p:cNvPr id="10" name="Text 8"/>
          <p:cNvSpPr txBox="1"/>
          <p:nvPr/>
        </p:nvSpPr>
        <p:spPr>
          <a:xfrm>
            <a:off x="1188720" y="3291840"/>
            <a:ext cx="5760720" cy="1005840"/>
          </a:xfrm>
          <a:prstGeom prst="rect">
            <a:avLst/>
          </a:prstGeom>
          <a:noFill/>
          <a:ln/>
        </p:spPr>
        <p:txBody>
          <a:bodyPr wrap="square" lIns="0" tIns="0" rIns="0" bIns="0" rtlCol="0" anchor="t"/>
          <a:lstStyle/>
          <a:p>
            <a:pPr indent="0" marL="0">
              <a:buNone/>
            </a:pPr>
            <a:r>
              <a:rPr lang="en-US" sz="1500" dirty="0">
                <a:solidFill>
                  <a:schemeClr val="tx1"/>
                </a:solidFill>
              </a:rPr>
              <a:t>They say look-alike letters are the hardest part but never list which ones. The abstract and conclusion give different accuracies.</a:t>
            </a:r>
            <a:endParaRPr lang="en-US" sz="1500" dirty="0"/>
          </a:p>
        </p:txBody>
      </p:sp>
      <p:sp>
        <p:nvSpPr>
          <p:cNvPr id="11" name="What we take from it marker"/>
          <p:cNvSpPr/>
          <p:nvPr/>
        </p:nvSpPr>
        <p:spPr>
          <a:xfrm>
            <a:off x="548640" y="4434840"/>
            <a:ext cx="457200" cy="457200"/>
          </a:xfrm>
          <a:prstGeom prst="ellipse">
            <a:avLst/>
          </a:prstGeom>
          <a:solidFill>
            <a:schemeClr val="accent3"/>
          </a:solidFill>
          <a:ln/>
        </p:spPr>
      </p:sp>
      <p:sp>
        <p:nvSpPr>
          <p:cNvPr id="12" name="What we take from it marker label"/>
          <p:cNvSpPr txBox="1"/>
          <p:nvPr/>
        </p:nvSpPr>
        <p:spPr>
          <a:xfrm>
            <a:off x="548640" y="443484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3" name="Text 11"/>
          <p:cNvSpPr txBox="1"/>
          <p:nvPr/>
        </p:nvSpPr>
        <p:spPr>
          <a:xfrm>
            <a:off x="1188720" y="4416552"/>
            <a:ext cx="5760720" cy="411480"/>
          </a:xfrm>
          <a:prstGeom prst="rect">
            <a:avLst/>
          </a:prstGeom>
          <a:noFill/>
          <a:ln/>
        </p:spPr>
        <p:txBody>
          <a:bodyPr wrap="square" lIns="0" tIns="0" rIns="0" bIns="0" rtlCol="0" anchor="ctr"/>
          <a:lstStyle/>
          <a:p>
            <a:pPr indent="0" marL="0">
              <a:buNone/>
            </a:pPr>
            <a:r>
              <a:rPr lang="en-US" sz="1800" b="1" dirty="0">
                <a:solidFill>
                  <a:schemeClr val="tx1"/>
                </a:solidFill>
              </a:rPr>
              <a:t>What we take from it</a:t>
            </a:r>
            <a:endParaRPr lang="en-US" sz="1800" dirty="0"/>
          </a:p>
        </p:txBody>
      </p:sp>
      <p:sp>
        <p:nvSpPr>
          <p:cNvPr id="14" name="Text 12"/>
          <p:cNvSpPr txBox="1"/>
          <p:nvPr/>
        </p:nvSpPr>
        <p:spPr>
          <a:xfrm>
            <a:off x="1188720" y="4846320"/>
            <a:ext cx="5760720" cy="1005840"/>
          </a:xfrm>
          <a:prstGeom prst="rect">
            <a:avLst/>
          </a:prstGeom>
          <a:noFill/>
          <a:ln/>
        </p:spPr>
        <p:txBody>
          <a:bodyPr wrap="square" lIns="0" tIns="0" rIns="0" bIns="0" rtlCol="0" anchor="t"/>
          <a:lstStyle/>
          <a:p>
            <a:pPr indent="0" marL="0">
              <a:buNone/>
            </a:pPr>
            <a:r>
              <a:rPr lang="en-US" sz="1500" dirty="0">
                <a:solidFill>
                  <a:schemeClr val="tx1"/>
                </a:solidFill>
              </a:rPr>
              <a:t>Look-alike letters are the real problem, so we list the most confused pairs and use SHAP to see what separates them.</a:t>
            </a:r>
            <a:endParaRPr lang="en-US" sz="1500" dirty="0"/>
          </a:p>
        </p:txBody>
      </p:sp>
      <p:sp>
        <p:nvSpPr>
          <p:cNvPr id="15" name="Key number card"/>
          <p:cNvSpPr/>
          <p:nvPr/>
        </p:nvSpPr>
        <p:spPr>
          <a:xfrm>
            <a:off x="7498080" y="1325880"/>
            <a:ext cx="4114800" cy="2651760"/>
          </a:xfrm>
          <a:prstGeom prst="roundRect">
            <a:avLst>
              <a:gd name="adj" fmla="val 4138"/>
            </a:avLst>
          </a:prstGeom>
          <a:solidFill>
            <a:schemeClr val="bg2"/>
          </a:solidFill>
          <a:ln/>
        </p:spPr>
      </p:sp>
      <p:sp>
        <p:nvSpPr>
          <p:cNvPr id="16" name="Text 14"/>
          <p:cNvSpPr txBox="1"/>
          <p:nvPr/>
        </p:nvSpPr>
        <p:spPr>
          <a:xfrm>
            <a:off x="7589520" y="1554480"/>
            <a:ext cx="3931920" cy="1188720"/>
          </a:xfrm>
          <a:prstGeom prst="rect">
            <a:avLst/>
          </a:prstGeom>
          <a:noFill/>
          <a:ln/>
        </p:spPr>
        <p:txBody>
          <a:bodyPr wrap="square" lIns="0" tIns="0" rIns="0" bIns="0" rtlCol="0" anchor="ctr"/>
          <a:lstStyle/>
          <a:p>
            <a:pPr algn="ctr" indent="0" marL="0">
              <a:buNone/>
            </a:pPr>
            <a:r>
              <a:rPr lang="en-US" sz="5400" b="1" dirty="0">
                <a:solidFill>
                  <a:schemeClr val="accent1"/>
                </a:solidFill>
              </a:rPr>
              <a:t>94.6%</a:t>
            </a:r>
            <a:endParaRPr lang="en-US" sz="5400" dirty="0"/>
          </a:p>
        </p:txBody>
      </p:sp>
      <p:sp>
        <p:nvSpPr>
          <p:cNvPr id="17" name="Text 15"/>
          <p:cNvSpPr txBox="1"/>
          <p:nvPr/>
        </p:nvSpPr>
        <p:spPr>
          <a:xfrm>
            <a:off x="7772400" y="2788920"/>
            <a:ext cx="3566160" cy="914400"/>
          </a:xfrm>
          <a:prstGeom prst="rect">
            <a:avLst/>
          </a:prstGeom>
          <a:noFill/>
          <a:ln/>
        </p:spPr>
        <p:txBody>
          <a:bodyPr wrap="square" lIns="0" tIns="0" rIns="0" bIns="0" rtlCol="0" anchor="t"/>
          <a:lstStyle/>
          <a:p>
            <a:pPr algn="ctr" indent="0" marL="0">
              <a:buNone/>
            </a:pPr>
            <a:r>
              <a:rPr lang="en-US" sz="1400" dirty="0">
                <a:solidFill>
                  <a:schemeClr val="tx1"/>
                </a:solidFill>
              </a:rPr>
              <a:t>attention CNN in the abstract (about 90% in the conclusion)</a:t>
            </a:r>
            <a:endParaRPr lang="en-US" sz="1400" dirty="0"/>
          </a:p>
        </p:txBody>
      </p:sp>
      <p:sp>
        <p:nvSpPr>
          <p:cNvPr id="18" name="Objective tag"/>
          <p:cNvSpPr/>
          <p:nvPr/>
        </p:nvSpPr>
        <p:spPr>
          <a:xfrm>
            <a:off x="7498080" y="4206240"/>
            <a:ext cx="4114800" cy="685800"/>
          </a:xfrm>
          <a:prstGeom prst="roundRect">
            <a:avLst>
              <a:gd name="adj" fmla="val 16000"/>
            </a:avLst>
          </a:prstGeom>
          <a:solidFill>
            <a:schemeClr val="accent6"/>
          </a:solidFill>
          <a:ln/>
        </p:spPr>
      </p:sp>
      <p:sp>
        <p:nvSpPr>
          <p:cNvPr id="19" name="Text 17"/>
          <p:cNvSpPr txBox="1"/>
          <p:nvPr/>
        </p:nvSpPr>
        <p:spPr>
          <a:xfrm>
            <a:off x="7498080" y="4206240"/>
            <a:ext cx="4114800" cy="685800"/>
          </a:xfrm>
          <a:prstGeom prst="rect">
            <a:avLst/>
          </a:prstGeom>
          <a:noFill/>
          <a:ln/>
        </p:spPr>
        <p:txBody>
          <a:bodyPr wrap="square" lIns="0" tIns="0" rIns="0" bIns="0" rtlCol="0" anchor="ctr"/>
          <a:lstStyle/>
          <a:p>
            <a:pPr algn="ctr" indent="0" marL="0">
              <a:buNone/>
            </a:pPr>
            <a:r>
              <a:rPr lang="en-US" sz="1600" b="1" dirty="0">
                <a:solidFill>
                  <a:schemeClr val="tx1"/>
                </a:solidFill>
              </a:rPr>
              <a:t>Leads to Objective 3</a:t>
            </a:r>
            <a:endParaRPr lang="en-US" sz="1600" dirty="0"/>
          </a:p>
        </p:txBody>
      </p:sp>
      <p:sp>
        <p:nvSpPr>
          <p:cNvPr id="20" name="Text 18"/>
          <p:cNvSpPr txBox="1"/>
          <p:nvPr/>
        </p:nvSpPr>
        <p:spPr>
          <a:xfrm>
            <a:off x="7498080" y="5120640"/>
            <a:ext cx="4114800" cy="365760"/>
          </a:xfrm>
          <a:prstGeom prst="rect">
            <a:avLst/>
          </a:prstGeom>
          <a:noFill/>
          <a:ln/>
        </p:spPr>
        <p:txBody>
          <a:bodyPr wrap="square" lIns="0" tIns="0" rIns="0" bIns="0" rtlCol="0" anchor="ctr"/>
          <a:lstStyle/>
          <a:p>
            <a:pPr algn="ctr" indent="0" marL="0">
              <a:buNone/>
            </a:pPr>
            <a:r>
              <a:rPr lang="en-US" sz="1400" u="sng" dirty="0">
                <a:solidFill>
                  <a:schemeClr val="accent1"/>
                </a:solidFill>
                <a:hlinkClick r:id="rId1" invalidUrl="" action="" tgtFrame="" tooltip="Modi Script Character Recognition Using Convolutional Neural Networks and Attention-Based CNN Architecture" history="1" highlightClick="0" endSnd="0">
                  <a:extLst>
                    <a:ext uri="{A12FA001-AC4F-418D-AE19-62706E023703}">
                      <ahyp:hlinkClr xmlns:ahyp="http://schemas.microsoft.com/office/drawing/2018/hyperlinkcolor" val="tx"/>
                    </a:ext>
                  </a:extLst>
                </a:hlinkClick>
              </a:rPr>
              <a:t>Open the paper (Drive)</a:t>
            </a:r>
            <a:endParaRPr lang="en-US" sz="1400" dirty="0"/>
          </a:p>
        </p:txBody>
      </p:sp>
      <p:sp>
        <p:nvSpPr>
          <p:cNvPr id="21" name="Text 19"/>
          <p:cNvSpPr txBox="1"/>
          <p:nvPr/>
        </p:nvSpPr>
        <p:spPr>
          <a:xfrm>
            <a:off x="548640" y="5943600"/>
            <a:ext cx="11064240" cy="365760"/>
          </a:xfrm>
          <a:prstGeom prst="rect">
            <a:avLst/>
          </a:prstGeom>
          <a:noFill/>
          <a:ln/>
        </p:spPr>
        <p:txBody>
          <a:bodyPr wrap="square" lIns="0" tIns="0" rIns="0" bIns="0" rtlCol="0" anchor="ctr"/>
          <a:lstStyle/>
          <a:p>
            <a:pPr indent="0" marL="0">
              <a:buNone/>
            </a:pPr>
            <a:r>
              <a:rPr lang="en-US" sz="1100" i="1" dirty="0">
                <a:solidFill>
                  <a:schemeClr val="tx2"/>
                </a:solidFill>
              </a:rPr>
              <a:t>Paper 6 in our survey: Modi Script Character Recognition Using Convolutional Neural Networks and Attention-Based CNN Architecture</a:t>
            </a:r>
            <a:endParaRPr lang="en-US" sz="11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731520"/>
          </a:xfrm>
          <a:prstGeom prst="rect">
            <a:avLst/>
          </a:prstGeom>
          <a:noFill/>
          <a:ln/>
        </p:spPr>
        <p:txBody>
          <a:bodyPr wrap="square" rtlCol="0" anchor="ctr"/>
          <a:lstStyle/>
          <a:p>
            <a:pPr indent="0" marL="0">
              <a:buNone/>
            </a:pPr>
            <a:r>
              <a:rPr lang="en-US" sz="3000" b="1" dirty="0">
                <a:solidFill>
                  <a:schemeClr val="tx2"/>
                </a:solidFill>
                <a:latin typeface="Cambria" pitchFamily="34" charset="0"/>
                <a:ea typeface="Cambria" pitchFamily="34" charset="-122"/>
                <a:cs typeface="Cambria" pitchFamily="34" charset="-120"/>
              </a:rPr>
              <a:t>Chandankhede et al., 2025: 360 classes</a:t>
            </a:r>
            <a:endParaRPr lang="en-US" sz="3000" dirty="0"/>
          </a:p>
        </p:txBody>
      </p:sp>
      <p:sp>
        <p:nvSpPr>
          <p:cNvPr id="3" name="What they did marker"/>
          <p:cNvSpPr/>
          <p:nvPr/>
        </p:nvSpPr>
        <p:spPr>
          <a:xfrm>
            <a:off x="548640" y="1325880"/>
            <a:ext cx="457200" cy="457200"/>
          </a:xfrm>
          <a:prstGeom prst="ellipse">
            <a:avLst/>
          </a:prstGeom>
          <a:solidFill>
            <a:schemeClr val="accent1"/>
          </a:solidFill>
          <a:ln/>
        </p:spPr>
      </p:sp>
      <p:sp>
        <p:nvSpPr>
          <p:cNvPr id="4" name="What they did marker label"/>
          <p:cNvSpPr txBox="1"/>
          <p:nvPr/>
        </p:nvSpPr>
        <p:spPr>
          <a:xfrm>
            <a:off x="548640" y="132588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5" name="Text 3"/>
          <p:cNvSpPr txBox="1"/>
          <p:nvPr/>
        </p:nvSpPr>
        <p:spPr>
          <a:xfrm>
            <a:off x="1188720" y="1307592"/>
            <a:ext cx="5760720" cy="411480"/>
          </a:xfrm>
          <a:prstGeom prst="rect">
            <a:avLst/>
          </a:prstGeom>
          <a:noFill/>
          <a:ln/>
        </p:spPr>
        <p:txBody>
          <a:bodyPr wrap="square" lIns="0" tIns="0" rIns="0" bIns="0" rtlCol="0" anchor="ctr"/>
          <a:lstStyle/>
          <a:p>
            <a:pPr indent="0" marL="0">
              <a:buNone/>
            </a:pPr>
            <a:r>
              <a:rPr lang="en-US" sz="1800" b="1" dirty="0">
                <a:solidFill>
                  <a:schemeClr val="tx1"/>
                </a:solidFill>
              </a:rPr>
              <a:t>What they did</a:t>
            </a:r>
            <a:endParaRPr lang="en-US" sz="1800" dirty="0"/>
          </a:p>
        </p:txBody>
      </p:sp>
      <p:sp>
        <p:nvSpPr>
          <p:cNvPr id="6" name="Text 4"/>
          <p:cNvSpPr txBox="1"/>
          <p:nvPr/>
        </p:nvSpPr>
        <p:spPr>
          <a:xfrm>
            <a:off x="1188720" y="1737360"/>
            <a:ext cx="5760720" cy="1005840"/>
          </a:xfrm>
          <a:prstGeom prst="rect">
            <a:avLst/>
          </a:prstGeom>
          <a:noFill/>
          <a:ln/>
        </p:spPr>
        <p:txBody>
          <a:bodyPr wrap="square" lIns="0" tIns="0" rIns="0" bIns="0" rtlCol="0" anchor="t"/>
          <a:lstStyle/>
          <a:p>
            <a:pPr indent="0" marL="0">
              <a:buNone/>
            </a:pPr>
            <a:r>
              <a:rPr lang="en-US" sz="1500" dirty="0">
                <a:solidFill>
                  <a:schemeClr val="tx1"/>
                </a:solidFill>
              </a:rPr>
              <a:t>Tried to recognise all 360 letter and vowel combinations with ResNet152, using about 21 images per class.</a:t>
            </a:r>
            <a:endParaRPr lang="en-US" sz="1500" dirty="0"/>
          </a:p>
        </p:txBody>
      </p:sp>
      <p:sp>
        <p:nvSpPr>
          <p:cNvPr id="7" name="What we noticed marker"/>
          <p:cNvSpPr/>
          <p:nvPr/>
        </p:nvSpPr>
        <p:spPr>
          <a:xfrm>
            <a:off x="548640" y="2880360"/>
            <a:ext cx="457200" cy="457200"/>
          </a:xfrm>
          <a:prstGeom prst="ellipse">
            <a:avLst/>
          </a:prstGeom>
          <a:solidFill>
            <a:schemeClr val="accent4"/>
          </a:solidFill>
          <a:ln/>
        </p:spPr>
      </p:sp>
      <p:sp>
        <p:nvSpPr>
          <p:cNvPr id="8" name="What we noticed marker label"/>
          <p:cNvSpPr txBox="1"/>
          <p:nvPr/>
        </p:nvSpPr>
        <p:spPr>
          <a:xfrm>
            <a:off x="548640" y="288036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9" name="Text 7"/>
          <p:cNvSpPr txBox="1"/>
          <p:nvPr/>
        </p:nvSpPr>
        <p:spPr>
          <a:xfrm>
            <a:off x="1188720" y="2862072"/>
            <a:ext cx="5760720" cy="411480"/>
          </a:xfrm>
          <a:prstGeom prst="rect">
            <a:avLst/>
          </a:prstGeom>
          <a:noFill/>
          <a:ln/>
        </p:spPr>
        <p:txBody>
          <a:bodyPr wrap="square" lIns="0" tIns="0" rIns="0" bIns="0" rtlCol="0" anchor="ctr"/>
          <a:lstStyle/>
          <a:p>
            <a:pPr indent="0" marL="0">
              <a:buNone/>
            </a:pPr>
            <a:r>
              <a:rPr lang="en-US" sz="1800" b="1" dirty="0">
                <a:solidFill>
                  <a:schemeClr val="tx1"/>
                </a:solidFill>
              </a:rPr>
              <a:t>What we noticed</a:t>
            </a:r>
            <a:endParaRPr lang="en-US" sz="1800" dirty="0"/>
          </a:p>
        </p:txBody>
      </p:sp>
      <p:sp>
        <p:nvSpPr>
          <p:cNvPr id="10" name="Text 8"/>
          <p:cNvSpPr txBox="1"/>
          <p:nvPr/>
        </p:nvSpPr>
        <p:spPr>
          <a:xfrm>
            <a:off x="1188720" y="3291840"/>
            <a:ext cx="5760720" cy="1005840"/>
          </a:xfrm>
          <a:prstGeom prst="rect">
            <a:avLst/>
          </a:prstGeom>
          <a:noFill/>
          <a:ln/>
        </p:spPr>
        <p:txBody>
          <a:bodyPr wrap="square" lIns="0" tIns="0" rIns="0" bIns="0" rtlCol="0" anchor="t"/>
          <a:lstStyle/>
          <a:p>
            <a:pPr indent="0" marL="0">
              <a:buNone/>
            </a:pPr>
            <a:r>
              <a:rPr lang="en-US" sz="1500" dirty="0">
                <a:solidFill>
                  <a:schemeClr val="tx1"/>
                </a:solidFill>
              </a:rPr>
              <a:t>Both numbers can't be right at the same time. The authors themselves say the model overfits badly.</a:t>
            </a:r>
            <a:endParaRPr lang="en-US" sz="1500" dirty="0"/>
          </a:p>
        </p:txBody>
      </p:sp>
      <p:sp>
        <p:nvSpPr>
          <p:cNvPr id="11" name="What we take from it marker"/>
          <p:cNvSpPr/>
          <p:nvPr/>
        </p:nvSpPr>
        <p:spPr>
          <a:xfrm>
            <a:off x="548640" y="4434840"/>
            <a:ext cx="457200" cy="457200"/>
          </a:xfrm>
          <a:prstGeom prst="ellipse">
            <a:avLst/>
          </a:prstGeom>
          <a:solidFill>
            <a:schemeClr val="accent3"/>
          </a:solidFill>
          <a:ln/>
        </p:spPr>
      </p:sp>
      <p:sp>
        <p:nvSpPr>
          <p:cNvPr id="12" name="What we take from it marker label"/>
          <p:cNvSpPr txBox="1"/>
          <p:nvPr/>
        </p:nvSpPr>
        <p:spPr>
          <a:xfrm>
            <a:off x="548640" y="443484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3" name="Text 11"/>
          <p:cNvSpPr txBox="1"/>
          <p:nvPr/>
        </p:nvSpPr>
        <p:spPr>
          <a:xfrm>
            <a:off x="1188720" y="4416552"/>
            <a:ext cx="5760720" cy="411480"/>
          </a:xfrm>
          <a:prstGeom prst="rect">
            <a:avLst/>
          </a:prstGeom>
          <a:noFill/>
          <a:ln/>
        </p:spPr>
        <p:txBody>
          <a:bodyPr wrap="square" lIns="0" tIns="0" rIns="0" bIns="0" rtlCol="0" anchor="ctr"/>
          <a:lstStyle/>
          <a:p>
            <a:pPr indent="0" marL="0">
              <a:buNone/>
            </a:pPr>
            <a:r>
              <a:rPr lang="en-US" sz="1800" b="1" dirty="0">
                <a:solidFill>
                  <a:schemeClr val="tx1"/>
                </a:solidFill>
              </a:rPr>
              <a:t>What we take from it</a:t>
            </a:r>
            <a:endParaRPr lang="en-US" sz="1800" dirty="0"/>
          </a:p>
        </p:txBody>
      </p:sp>
      <p:sp>
        <p:nvSpPr>
          <p:cNvPr id="14" name="Text 12"/>
          <p:cNvSpPr txBox="1"/>
          <p:nvPr/>
        </p:nvSpPr>
        <p:spPr>
          <a:xfrm>
            <a:off x="1188720" y="4846320"/>
            <a:ext cx="5760720" cy="1005840"/>
          </a:xfrm>
          <a:prstGeom prst="rect">
            <a:avLst/>
          </a:prstGeom>
          <a:noFill/>
          <a:ln/>
        </p:spPr>
        <p:txBody>
          <a:bodyPr wrap="square" lIns="0" tIns="0" rIns="0" bIns="0" rtlCol="0" anchor="t"/>
          <a:lstStyle/>
          <a:p>
            <a:pPr indent="0" marL="0">
              <a:buNone/>
            </a:pPr>
            <a:r>
              <a:rPr lang="en-US" sz="1500" dirty="0">
                <a:solidFill>
                  <a:schemeClr val="tx1"/>
                </a:solidFill>
              </a:rPr>
              <a:t>Deep models need a lot of data, so we test a CNN at different data sizes instead of trusting one number.</a:t>
            </a:r>
            <a:endParaRPr lang="en-US" sz="1500" dirty="0"/>
          </a:p>
        </p:txBody>
      </p:sp>
      <p:sp>
        <p:nvSpPr>
          <p:cNvPr id="15" name="Key number card"/>
          <p:cNvSpPr/>
          <p:nvPr/>
        </p:nvSpPr>
        <p:spPr>
          <a:xfrm>
            <a:off x="7498080" y="1325880"/>
            <a:ext cx="4114800" cy="2651760"/>
          </a:xfrm>
          <a:prstGeom prst="roundRect">
            <a:avLst>
              <a:gd name="adj" fmla="val 4138"/>
            </a:avLst>
          </a:prstGeom>
          <a:solidFill>
            <a:schemeClr val="bg2"/>
          </a:solidFill>
          <a:ln/>
        </p:spPr>
      </p:sp>
      <p:sp>
        <p:nvSpPr>
          <p:cNvPr id="16" name="Text 14"/>
          <p:cNvSpPr txBox="1"/>
          <p:nvPr/>
        </p:nvSpPr>
        <p:spPr>
          <a:xfrm>
            <a:off x="7589520" y="1554480"/>
            <a:ext cx="3931920" cy="1188720"/>
          </a:xfrm>
          <a:prstGeom prst="rect">
            <a:avLst/>
          </a:prstGeom>
          <a:noFill/>
          <a:ln/>
        </p:spPr>
        <p:txBody>
          <a:bodyPr wrap="square" lIns="0" tIns="0" rIns="0" bIns="0" rtlCol="0" anchor="ctr"/>
          <a:lstStyle/>
          <a:p>
            <a:pPr algn="ctr" indent="0" marL="0">
              <a:buNone/>
            </a:pPr>
            <a:r>
              <a:rPr lang="en-US" sz="4000" b="1" dirty="0">
                <a:solidFill>
                  <a:schemeClr val="accent1"/>
                </a:solidFill>
              </a:rPr>
              <a:t>97% vs 45%</a:t>
            </a:r>
            <a:endParaRPr lang="en-US" sz="4000" dirty="0"/>
          </a:p>
        </p:txBody>
      </p:sp>
      <p:sp>
        <p:nvSpPr>
          <p:cNvPr id="17" name="Text 15"/>
          <p:cNvSpPr txBox="1"/>
          <p:nvPr/>
        </p:nvSpPr>
        <p:spPr>
          <a:xfrm>
            <a:off x="7772400" y="2788920"/>
            <a:ext cx="3566160" cy="914400"/>
          </a:xfrm>
          <a:prstGeom prst="rect">
            <a:avLst/>
          </a:prstGeom>
          <a:noFill/>
          <a:ln/>
        </p:spPr>
        <p:txBody>
          <a:bodyPr wrap="square" lIns="0" tIns="0" rIns="0" bIns="0" rtlCol="0" anchor="t"/>
          <a:lstStyle/>
          <a:p>
            <a:pPr algn="ctr" indent="0" marL="0">
              <a:buNone/>
            </a:pPr>
            <a:r>
              <a:rPr lang="en-US" sz="1400" dirty="0">
                <a:solidFill>
                  <a:schemeClr val="tx1"/>
                </a:solidFill>
              </a:rPr>
              <a:t>test accuracy vs validation accuracy</a:t>
            </a:r>
            <a:endParaRPr lang="en-US" sz="1400" dirty="0"/>
          </a:p>
        </p:txBody>
      </p:sp>
      <p:sp>
        <p:nvSpPr>
          <p:cNvPr id="18" name="Objective tag"/>
          <p:cNvSpPr/>
          <p:nvPr/>
        </p:nvSpPr>
        <p:spPr>
          <a:xfrm>
            <a:off x="7498080" y="4206240"/>
            <a:ext cx="4114800" cy="685800"/>
          </a:xfrm>
          <a:prstGeom prst="roundRect">
            <a:avLst>
              <a:gd name="adj" fmla="val 16000"/>
            </a:avLst>
          </a:prstGeom>
          <a:solidFill>
            <a:schemeClr val="accent6"/>
          </a:solidFill>
          <a:ln/>
        </p:spPr>
      </p:sp>
      <p:sp>
        <p:nvSpPr>
          <p:cNvPr id="19" name="Text 17"/>
          <p:cNvSpPr txBox="1"/>
          <p:nvPr/>
        </p:nvSpPr>
        <p:spPr>
          <a:xfrm>
            <a:off x="7498080" y="4206240"/>
            <a:ext cx="4114800" cy="685800"/>
          </a:xfrm>
          <a:prstGeom prst="rect">
            <a:avLst/>
          </a:prstGeom>
          <a:noFill/>
          <a:ln/>
        </p:spPr>
        <p:txBody>
          <a:bodyPr wrap="square" lIns="0" tIns="0" rIns="0" bIns="0" rtlCol="0" anchor="ctr"/>
          <a:lstStyle/>
          <a:p>
            <a:pPr algn="ctr" indent="0" marL="0">
              <a:buNone/>
            </a:pPr>
            <a:r>
              <a:rPr lang="en-US" sz="1600" b="1" dirty="0">
                <a:solidFill>
                  <a:schemeClr val="tx1"/>
                </a:solidFill>
              </a:rPr>
              <a:t>Leads to Objective 4</a:t>
            </a:r>
            <a:endParaRPr lang="en-US" sz="1600" dirty="0"/>
          </a:p>
        </p:txBody>
      </p:sp>
      <p:sp>
        <p:nvSpPr>
          <p:cNvPr id="20" name="Text 18"/>
          <p:cNvSpPr txBox="1"/>
          <p:nvPr/>
        </p:nvSpPr>
        <p:spPr>
          <a:xfrm>
            <a:off x="7498080" y="5120640"/>
            <a:ext cx="4114800" cy="365760"/>
          </a:xfrm>
          <a:prstGeom prst="rect">
            <a:avLst/>
          </a:prstGeom>
          <a:noFill/>
          <a:ln/>
        </p:spPr>
        <p:txBody>
          <a:bodyPr wrap="square" lIns="0" tIns="0" rIns="0" bIns="0" rtlCol="0" anchor="ctr"/>
          <a:lstStyle/>
          <a:p>
            <a:pPr algn="ctr" indent="0" marL="0">
              <a:buNone/>
            </a:pPr>
            <a:r>
              <a:rPr lang="en-US" sz="1400" u="sng" dirty="0">
                <a:solidFill>
                  <a:schemeClr val="accent1"/>
                </a:solidFill>
                <a:hlinkClick r:id="rId1" invalidUrl="" action="" tgtFrame="" tooltip="Modi Script Handwritten Character Classification using Drop-out Induced Incremental Learning Approach" history="1" highlightClick="0" endSnd="0">
                  <a:extLst>
                    <a:ext uri="{A12FA001-AC4F-418D-AE19-62706E023703}">
                      <ahyp:hlinkClr xmlns:ahyp="http://schemas.microsoft.com/office/drawing/2018/hyperlinkcolor" val="tx"/>
                    </a:ext>
                  </a:extLst>
                </a:hlinkClick>
              </a:rPr>
              <a:t>Open the paper (Drive)</a:t>
            </a:r>
            <a:endParaRPr lang="en-US" sz="1400" dirty="0"/>
          </a:p>
        </p:txBody>
      </p:sp>
      <p:sp>
        <p:nvSpPr>
          <p:cNvPr id="21" name="Text 19"/>
          <p:cNvSpPr txBox="1"/>
          <p:nvPr/>
        </p:nvSpPr>
        <p:spPr>
          <a:xfrm>
            <a:off x="548640" y="5943600"/>
            <a:ext cx="11064240" cy="365760"/>
          </a:xfrm>
          <a:prstGeom prst="rect">
            <a:avLst/>
          </a:prstGeom>
          <a:noFill/>
          <a:ln/>
        </p:spPr>
        <p:txBody>
          <a:bodyPr wrap="square" lIns="0" tIns="0" rIns="0" bIns="0" rtlCol="0" anchor="ctr"/>
          <a:lstStyle/>
          <a:p>
            <a:pPr indent="0" marL="0">
              <a:buNone/>
            </a:pPr>
            <a:r>
              <a:rPr lang="en-US" sz="1100" i="1" dirty="0">
                <a:solidFill>
                  <a:schemeClr val="tx2"/>
                </a:solidFill>
              </a:rPr>
              <a:t>Paper 7 in our survey: Modi Script Handwritten Character Classification using Drop-out Induced Incremental Learning Approach</a:t>
            </a:r>
            <a:endParaRPr lang="en-US" sz="11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731520"/>
          </a:xfrm>
          <a:prstGeom prst="rect">
            <a:avLst/>
          </a:prstGeom>
          <a:noFill/>
          <a:ln/>
        </p:spPr>
        <p:txBody>
          <a:bodyPr wrap="square" rtlCol="0" anchor="ctr"/>
          <a:lstStyle/>
          <a:p>
            <a:pPr indent="0" marL="0">
              <a:buNone/>
            </a:pPr>
            <a:r>
              <a:rPr lang="en-US" sz="3000" b="1" dirty="0">
                <a:solidFill>
                  <a:schemeClr val="tx2"/>
                </a:solidFill>
                <a:latin typeface="Cambria" pitchFamily="34" charset="0"/>
                <a:ea typeface="Cambria" pitchFamily="34" charset="-122"/>
                <a:cs typeface="Cambria" pitchFamily="34" charset="-120"/>
              </a:rPr>
              <a:t>Mandke et al., 2024: classical vs deep</a:t>
            </a:r>
            <a:endParaRPr lang="en-US" sz="3000" dirty="0"/>
          </a:p>
        </p:txBody>
      </p:sp>
      <p:sp>
        <p:nvSpPr>
          <p:cNvPr id="3" name="What they did marker"/>
          <p:cNvSpPr/>
          <p:nvPr/>
        </p:nvSpPr>
        <p:spPr>
          <a:xfrm>
            <a:off x="548640" y="1325880"/>
            <a:ext cx="457200" cy="457200"/>
          </a:xfrm>
          <a:prstGeom prst="ellipse">
            <a:avLst/>
          </a:prstGeom>
          <a:solidFill>
            <a:schemeClr val="accent1"/>
          </a:solidFill>
          <a:ln/>
        </p:spPr>
      </p:sp>
      <p:sp>
        <p:nvSpPr>
          <p:cNvPr id="4" name="What they did marker label"/>
          <p:cNvSpPr txBox="1"/>
          <p:nvPr/>
        </p:nvSpPr>
        <p:spPr>
          <a:xfrm>
            <a:off x="548640" y="132588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5" name="Text 3"/>
          <p:cNvSpPr txBox="1"/>
          <p:nvPr/>
        </p:nvSpPr>
        <p:spPr>
          <a:xfrm>
            <a:off x="1188720" y="1307592"/>
            <a:ext cx="5760720" cy="411480"/>
          </a:xfrm>
          <a:prstGeom prst="rect">
            <a:avLst/>
          </a:prstGeom>
          <a:noFill/>
          <a:ln/>
        </p:spPr>
        <p:txBody>
          <a:bodyPr wrap="square" lIns="0" tIns="0" rIns="0" bIns="0" rtlCol="0" anchor="ctr"/>
          <a:lstStyle/>
          <a:p>
            <a:pPr indent="0" marL="0">
              <a:buNone/>
            </a:pPr>
            <a:r>
              <a:rPr lang="en-US" sz="1800" b="1" dirty="0">
                <a:solidFill>
                  <a:schemeClr val="tx1"/>
                </a:solidFill>
              </a:rPr>
              <a:t>What they did</a:t>
            </a:r>
            <a:endParaRPr lang="en-US" sz="1800" dirty="0"/>
          </a:p>
        </p:txBody>
      </p:sp>
      <p:sp>
        <p:nvSpPr>
          <p:cNvPr id="6" name="Text 4"/>
          <p:cNvSpPr txBox="1"/>
          <p:nvPr/>
        </p:nvSpPr>
        <p:spPr>
          <a:xfrm>
            <a:off x="1188720" y="1737360"/>
            <a:ext cx="5760720" cy="1005840"/>
          </a:xfrm>
          <a:prstGeom prst="rect">
            <a:avLst/>
          </a:prstGeom>
          <a:noFill/>
          <a:ln/>
        </p:spPr>
        <p:txBody>
          <a:bodyPr wrap="square" lIns="0" tIns="0" rIns="0" bIns="0" rtlCol="0" anchor="t"/>
          <a:lstStyle/>
          <a:p>
            <a:pPr indent="0" marL="0">
              <a:buNone/>
            </a:pPr>
            <a:r>
              <a:rPr lang="en-US" sz="1500" dirty="0">
                <a:solidFill>
                  <a:schemeClr val="tx1"/>
                </a:solidFill>
              </a:rPr>
              <a:t>Compared KNN, SVM, CNN, VGG16 and ResNet on the same 4,140 Modi images.</a:t>
            </a:r>
            <a:endParaRPr lang="en-US" sz="1500" dirty="0"/>
          </a:p>
        </p:txBody>
      </p:sp>
      <p:sp>
        <p:nvSpPr>
          <p:cNvPr id="7" name="What we noticed marker"/>
          <p:cNvSpPr/>
          <p:nvPr/>
        </p:nvSpPr>
        <p:spPr>
          <a:xfrm>
            <a:off x="548640" y="2880360"/>
            <a:ext cx="457200" cy="457200"/>
          </a:xfrm>
          <a:prstGeom prst="ellipse">
            <a:avLst/>
          </a:prstGeom>
          <a:solidFill>
            <a:schemeClr val="accent4"/>
          </a:solidFill>
          <a:ln/>
        </p:spPr>
      </p:sp>
      <p:sp>
        <p:nvSpPr>
          <p:cNvPr id="8" name="What we noticed marker label"/>
          <p:cNvSpPr txBox="1"/>
          <p:nvPr/>
        </p:nvSpPr>
        <p:spPr>
          <a:xfrm>
            <a:off x="548640" y="288036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9" name="Text 7"/>
          <p:cNvSpPr txBox="1"/>
          <p:nvPr/>
        </p:nvSpPr>
        <p:spPr>
          <a:xfrm>
            <a:off x="1188720" y="2862072"/>
            <a:ext cx="5760720" cy="411480"/>
          </a:xfrm>
          <a:prstGeom prst="rect">
            <a:avLst/>
          </a:prstGeom>
          <a:noFill/>
          <a:ln/>
        </p:spPr>
        <p:txBody>
          <a:bodyPr wrap="square" lIns="0" tIns="0" rIns="0" bIns="0" rtlCol="0" anchor="ctr"/>
          <a:lstStyle/>
          <a:p>
            <a:pPr indent="0" marL="0">
              <a:buNone/>
            </a:pPr>
            <a:r>
              <a:rPr lang="en-US" sz="1800" b="1" dirty="0">
                <a:solidFill>
                  <a:schemeClr val="tx1"/>
                </a:solidFill>
              </a:rPr>
              <a:t>What we noticed</a:t>
            </a:r>
            <a:endParaRPr lang="en-US" sz="1800" dirty="0"/>
          </a:p>
        </p:txBody>
      </p:sp>
      <p:sp>
        <p:nvSpPr>
          <p:cNvPr id="10" name="Text 8"/>
          <p:cNvSpPr txBox="1"/>
          <p:nvPr/>
        </p:nvSpPr>
        <p:spPr>
          <a:xfrm>
            <a:off x="1188720" y="3291840"/>
            <a:ext cx="5760720" cy="1005840"/>
          </a:xfrm>
          <a:prstGeom prst="rect">
            <a:avLst/>
          </a:prstGeom>
          <a:noFill/>
          <a:ln/>
        </p:spPr>
        <p:txBody>
          <a:bodyPr wrap="square" lIns="0" tIns="0" rIns="0" bIns="0" rtlCol="0" anchor="t"/>
          <a:lstStyle/>
          <a:p>
            <a:pPr indent="0" marL="0">
              <a:buNone/>
            </a:pPr>
            <a:r>
              <a:rPr lang="en-US" sz="1500" dirty="0">
                <a:solidFill>
                  <a:schemeClr val="tx1"/>
                </a:solidFill>
              </a:rPr>
              <a:t>KNN and SVM were given raw pixels with no features at all, so they never had a fair chance against the CNN.</a:t>
            </a:r>
            <a:endParaRPr lang="en-US" sz="1500" dirty="0"/>
          </a:p>
        </p:txBody>
      </p:sp>
      <p:sp>
        <p:nvSpPr>
          <p:cNvPr id="11" name="What we take from it marker"/>
          <p:cNvSpPr/>
          <p:nvPr/>
        </p:nvSpPr>
        <p:spPr>
          <a:xfrm>
            <a:off x="548640" y="4434840"/>
            <a:ext cx="457200" cy="457200"/>
          </a:xfrm>
          <a:prstGeom prst="ellipse">
            <a:avLst/>
          </a:prstGeom>
          <a:solidFill>
            <a:schemeClr val="accent3"/>
          </a:solidFill>
          <a:ln/>
        </p:spPr>
      </p:sp>
      <p:sp>
        <p:nvSpPr>
          <p:cNvPr id="12" name="What we take from it marker label"/>
          <p:cNvSpPr txBox="1"/>
          <p:nvPr/>
        </p:nvSpPr>
        <p:spPr>
          <a:xfrm>
            <a:off x="548640" y="443484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3" name="Text 11"/>
          <p:cNvSpPr txBox="1"/>
          <p:nvPr/>
        </p:nvSpPr>
        <p:spPr>
          <a:xfrm>
            <a:off x="1188720" y="4416552"/>
            <a:ext cx="5760720" cy="411480"/>
          </a:xfrm>
          <a:prstGeom prst="rect">
            <a:avLst/>
          </a:prstGeom>
          <a:noFill/>
          <a:ln/>
        </p:spPr>
        <p:txBody>
          <a:bodyPr wrap="square" lIns="0" tIns="0" rIns="0" bIns="0" rtlCol="0" anchor="ctr"/>
          <a:lstStyle/>
          <a:p>
            <a:pPr indent="0" marL="0">
              <a:buNone/>
            </a:pPr>
            <a:r>
              <a:rPr lang="en-US" sz="1800" b="1" dirty="0">
                <a:solidFill>
                  <a:schemeClr val="tx1"/>
                </a:solidFill>
              </a:rPr>
              <a:t>What we take from it</a:t>
            </a:r>
            <a:endParaRPr lang="en-US" sz="1800" dirty="0"/>
          </a:p>
        </p:txBody>
      </p:sp>
      <p:sp>
        <p:nvSpPr>
          <p:cNvPr id="14" name="Text 12"/>
          <p:cNvSpPr txBox="1"/>
          <p:nvPr/>
        </p:nvSpPr>
        <p:spPr>
          <a:xfrm>
            <a:off x="1188720" y="4846320"/>
            <a:ext cx="5760720" cy="1005840"/>
          </a:xfrm>
          <a:prstGeom prst="rect">
            <a:avLst/>
          </a:prstGeom>
          <a:noFill/>
          <a:ln/>
        </p:spPr>
        <p:txBody>
          <a:bodyPr wrap="square" lIns="0" tIns="0" rIns="0" bIns="0" rtlCol="0" anchor="t"/>
          <a:lstStyle/>
          <a:p>
            <a:pPr indent="0" marL="0">
              <a:buNone/>
            </a:pPr>
            <a:r>
              <a:rPr lang="en-US" sz="1500" dirty="0">
                <a:solidFill>
                  <a:schemeClr val="tx1"/>
                </a:solidFill>
              </a:rPr>
              <a:t>Give the classical models proper features first, then compare them with a CNN.</a:t>
            </a:r>
            <a:endParaRPr lang="en-US" sz="1500" dirty="0"/>
          </a:p>
        </p:txBody>
      </p:sp>
      <p:sp>
        <p:nvSpPr>
          <p:cNvPr id="15" name="Key number card"/>
          <p:cNvSpPr/>
          <p:nvPr/>
        </p:nvSpPr>
        <p:spPr>
          <a:xfrm>
            <a:off x="7498080" y="1325880"/>
            <a:ext cx="4114800" cy="2651760"/>
          </a:xfrm>
          <a:prstGeom prst="roundRect">
            <a:avLst>
              <a:gd name="adj" fmla="val 4138"/>
            </a:avLst>
          </a:prstGeom>
          <a:solidFill>
            <a:schemeClr val="bg2"/>
          </a:solidFill>
          <a:ln/>
        </p:spPr>
      </p:sp>
      <p:sp>
        <p:nvSpPr>
          <p:cNvPr id="16" name="Text 14"/>
          <p:cNvSpPr txBox="1"/>
          <p:nvPr/>
        </p:nvSpPr>
        <p:spPr>
          <a:xfrm>
            <a:off x="7589520" y="1554480"/>
            <a:ext cx="3931920" cy="1188720"/>
          </a:xfrm>
          <a:prstGeom prst="rect">
            <a:avLst/>
          </a:prstGeom>
          <a:noFill/>
          <a:ln/>
        </p:spPr>
        <p:txBody>
          <a:bodyPr wrap="square" lIns="0" tIns="0" rIns="0" bIns="0" rtlCol="0" anchor="ctr"/>
          <a:lstStyle/>
          <a:p>
            <a:pPr algn="ctr" indent="0" marL="0">
              <a:buNone/>
            </a:pPr>
            <a:r>
              <a:rPr lang="en-US" sz="4000" b="1" dirty="0">
                <a:solidFill>
                  <a:schemeClr val="accent1"/>
                </a:solidFill>
              </a:rPr>
              <a:t>96% vs 77%</a:t>
            </a:r>
            <a:endParaRPr lang="en-US" sz="4000" dirty="0"/>
          </a:p>
        </p:txBody>
      </p:sp>
      <p:sp>
        <p:nvSpPr>
          <p:cNvPr id="17" name="Text 15"/>
          <p:cNvSpPr txBox="1"/>
          <p:nvPr/>
        </p:nvSpPr>
        <p:spPr>
          <a:xfrm>
            <a:off x="7772400" y="2788920"/>
            <a:ext cx="3566160" cy="914400"/>
          </a:xfrm>
          <a:prstGeom prst="rect">
            <a:avLst/>
          </a:prstGeom>
          <a:noFill/>
          <a:ln/>
        </p:spPr>
        <p:txBody>
          <a:bodyPr wrap="square" lIns="0" tIns="0" rIns="0" bIns="0" rtlCol="0" anchor="t"/>
          <a:lstStyle/>
          <a:p>
            <a:pPr algn="ctr" indent="0" marL="0">
              <a:buNone/>
            </a:pPr>
            <a:r>
              <a:rPr lang="en-US" sz="1400" dirty="0">
                <a:solidFill>
                  <a:schemeClr val="tx1"/>
                </a:solidFill>
              </a:rPr>
              <a:t>CNN vs SVM on the same images</a:t>
            </a:r>
            <a:endParaRPr lang="en-US" sz="1400" dirty="0"/>
          </a:p>
        </p:txBody>
      </p:sp>
      <p:sp>
        <p:nvSpPr>
          <p:cNvPr id="18" name="Objective tag"/>
          <p:cNvSpPr/>
          <p:nvPr/>
        </p:nvSpPr>
        <p:spPr>
          <a:xfrm>
            <a:off x="7498080" y="4206240"/>
            <a:ext cx="4114800" cy="685800"/>
          </a:xfrm>
          <a:prstGeom prst="roundRect">
            <a:avLst>
              <a:gd name="adj" fmla="val 16000"/>
            </a:avLst>
          </a:prstGeom>
          <a:solidFill>
            <a:schemeClr val="accent6"/>
          </a:solidFill>
          <a:ln/>
        </p:spPr>
      </p:sp>
      <p:sp>
        <p:nvSpPr>
          <p:cNvPr id="19" name="Text 17"/>
          <p:cNvSpPr txBox="1"/>
          <p:nvPr/>
        </p:nvSpPr>
        <p:spPr>
          <a:xfrm>
            <a:off x="7498080" y="4206240"/>
            <a:ext cx="4114800" cy="685800"/>
          </a:xfrm>
          <a:prstGeom prst="rect">
            <a:avLst/>
          </a:prstGeom>
          <a:noFill/>
          <a:ln/>
        </p:spPr>
        <p:txBody>
          <a:bodyPr wrap="square" lIns="0" tIns="0" rIns="0" bIns="0" rtlCol="0" anchor="ctr"/>
          <a:lstStyle/>
          <a:p>
            <a:pPr algn="ctr" indent="0" marL="0">
              <a:buNone/>
            </a:pPr>
            <a:r>
              <a:rPr lang="en-US" sz="1600" b="1" dirty="0">
                <a:solidFill>
                  <a:schemeClr val="tx1"/>
                </a:solidFill>
              </a:rPr>
              <a:t>Leads to Objectives 1 and 4</a:t>
            </a:r>
            <a:endParaRPr lang="en-US" sz="1600" dirty="0"/>
          </a:p>
        </p:txBody>
      </p:sp>
      <p:sp>
        <p:nvSpPr>
          <p:cNvPr id="20" name="Text 18"/>
          <p:cNvSpPr txBox="1"/>
          <p:nvPr/>
        </p:nvSpPr>
        <p:spPr>
          <a:xfrm>
            <a:off x="7498080" y="5120640"/>
            <a:ext cx="4114800" cy="365760"/>
          </a:xfrm>
          <a:prstGeom prst="rect">
            <a:avLst/>
          </a:prstGeom>
          <a:noFill/>
          <a:ln/>
        </p:spPr>
        <p:txBody>
          <a:bodyPr wrap="square" lIns="0" tIns="0" rIns="0" bIns="0" rtlCol="0" anchor="ctr"/>
          <a:lstStyle/>
          <a:p>
            <a:pPr algn="ctr" indent="0" marL="0">
              <a:buNone/>
            </a:pPr>
            <a:r>
              <a:rPr lang="en-US" sz="1400" u="sng" dirty="0">
                <a:solidFill>
                  <a:schemeClr val="accent1"/>
                </a:solidFill>
                <a:hlinkClick r:id="rId1" invalidUrl="" action="" tgtFrame="" tooltip="Offline MODI script character recognition using deep learning techniques" history="1" highlightClick="0" endSnd="0">
                  <a:extLst>
                    <a:ext uri="{A12FA001-AC4F-418D-AE19-62706E023703}">
                      <ahyp:hlinkClr xmlns:ahyp="http://schemas.microsoft.com/office/drawing/2018/hyperlinkcolor" val="tx"/>
                    </a:ext>
                  </a:extLst>
                </a:hlinkClick>
              </a:rPr>
              <a:t>Open the paper (Drive)</a:t>
            </a:r>
            <a:endParaRPr lang="en-US" sz="1400" dirty="0"/>
          </a:p>
        </p:txBody>
      </p:sp>
      <p:sp>
        <p:nvSpPr>
          <p:cNvPr id="21" name="Text 19"/>
          <p:cNvSpPr txBox="1"/>
          <p:nvPr/>
        </p:nvSpPr>
        <p:spPr>
          <a:xfrm>
            <a:off x="548640" y="5943600"/>
            <a:ext cx="11064240" cy="365760"/>
          </a:xfrm>
          <a:prstGeom prst="rect">
            <a:avLst/>
          </a:prstGeom>
          <a:noFill/>
          <a:ln/>
        </p:spPr>
        <p:txBody>
          <a:bodyPr wrap="square" lIns="0" tIns="0" rIns="0" bIns="0" rtlCol="0" anchor="ctr"/>
          <a:lstStyle/>
          <a:p>
            <a:pPr indent="0" marL="0">
              <a:buNone/>
            </a:pPr>
            <a:r>
              <a:rPr lang="en-US" sz="1100" i="1" dirty="0">
                <a:solidFill>
                  <a:schemeClr val="tx2"/>
                </a:solidFill>
              </a:rPr>
              <a:t>Paper 14 in our survey: Offline MODI script character recognition using deep learning techniques</a:t>
            </a:r>
            <a:endParaRPr lang="en-US" sz="11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731520"/>
          </a:xfrm>
          <a:prstGeom prst="rect">
            <a:avLst/>
          </a:prstGeom>
          <a:noFill/>
          <a:ln/>
        </p:spPr>
        <p:txBody>
          <a:bodyPr wrap="square" rtlCol="0" anchor="ctr"/>
          <a:lstStyle/>
          <a:p>
            <a:pPr indent="0" marL="0">
              <a:buNone/>
            </a:pPr>
            <a:r>
              <a:rPr lang="en-US" sz="3000" b="1" dirty="0">
                <a:solidFill>
                  <a:schemeClr val="tx2"/>
                </a:solidFill>
                <a:latin typeface="Cambria" pitchFamily="34" charset="0"/>
                <a:ea typeface="Cambria" pitchFamily="34" charset="-122"/>
                <a:cs typeface="Cambria" pitchFamily="34" charset="-120"/>
              </a:rPr>
              <a:t>Ekbote et al., 2022: VGG16 features with RF and XGBoost</a:t>
            </a:r>
            <a:endParaRPr lang="en-US" sz="3000" dirty="0"/>
          </a:p>
        </p:txBody>
      </p:sp>
      <p:sp>
        <p:nvSpPr>
          <p:cNvPr id="3" name="What they did marker"/>
          <p:cNvSpPr/>
          <p:nvPr/>
        </p:nvSpPr>
        <p:spPr>
          <a:xfrm>
            <a:off x="548640" y="1325880"/>
            <a:ext cx="457200" cy="457200"/>
          </a:xfrm>
          <a:prstGeom prst="ellipse">
            <a:avLst/>
          </a:prstGeom>
          <a:solidFill>
            <a:schemeClr val="accent1"/>
          </a:solidFill>
          <a:ln/>
        </p:spPr>
      </p:sp>
      <p:sp>
        <p:nvSpPr>
          <p:cNvPr id="4" name="What they did marker label"/>
          <p:cNvSpPr txBox="1"/>
          <p:nvPr/>
        </p:nvSpPr>
        <p:spPr>
          <a:xfrm>
            <a:off x="548640" y="132588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5" name="Text 3"/>
          <p:cNvSpPr txBox="1"/>
          <p:nvPr/>
        </p:nvSpPr>
        <p:spPr>
          <a:xfrm>
            <a:off x="1188720" y="1307592"/>
            <a:ext cx="5760720" cy="411480"/>
          </a:xfrm>
          <a:prstGeom prst="rect">
            <a:avLst/>
          </a:prstGeom>
          <a:noFill/>
          <a:ln/>
        </p:spPr>
        <p:txBody>
          <a:bodyPr wrap="square" lIns="0" tIns="0" rIns="0" bIns="0" rtlCol="0" anchor="ctr"/>
          <a:lstStyle/>
          <a:p>
            <a:pPr indent="0" marL="0">
              <a:buNone/>
            </a:pPr>
            <a:r>
              <a:rPr lang="en-US" sz="1800" b="1" dirty="0">
                <a:solidFill>
                  <a:schemeClr val="tx1"/>
                </a:solidFill>
              </a:rPr>
              <a:t>What they did</a:t>
            </a:r>
            <a:endParaRPr lang="en-US" sz="1800" dirty="0"/>
          </a:p>
        </p:txBody>
      </p:sp>
      <p:sp>
        <p:nvSpPr>
          <p:cNvPr id="6" name="Text 4"/>
          <p:cNvSpPr txBox="1"/>
          <p:nvPr/>
        </p:nvSpPr>
        <p:spPr>
          <a:xfrm>
            <a:off x="1188720" y="1737360"/>
            <a:ext cx="5760720" cy="1005840"/>
          </a:xfrm>
          <a:prstGeom prst="rect">
            <a:avLst/>
          </a:prstGeom>
          <a:noFill/>
          <a:ln/>
        </p:spPr>
        <p:txBody>
          <a:bodyPr wrap="square" lIns="0" tIns="0" rIns="0" bIns="0" rtlCol="0" anchor="t"/>
          <a:lstStyle/>
          <a:p>
            <a:pPr indent="0" marL="0">
              <a:buNone/>
            </a:pPr>
            <a:r>
              <a:rPr lang="en-US" sz="1500" dirty="0">
                <a:solidFill>
                  <a:schemeClr val="tx1"/>
                </a:solidFill>
              </a:rPr>
              <a:t>Took features from a VGG16 network and classified them with Random Forest and XGBoost.</a:t>
            </a:r>
            <a:endParaRPr lang="en-US" sz="1500" dirty="0"/>
          </a:p>
        </p:txBody>
      </p:sp>
      <p:sp>
        <p:nvSpPr>
          <p:cNvPr id="7" name="What we noticed marker"/>
          <p:cNvSpPr/>
          <p:nvPr/>
        </p:nvSpPr>
        <p:spPr>
          <a:xfrm>
            <a:off x="548640" y="2880360"/>
            <a:ext cx="457200" cy="457200"/>
          </a:xfrm>
          <a:prstGeom prst="ellipse">
            <a:avLst/>
          </a:prstGeom>
          <a:solidFill>
            <a:schemeClr val="accent4"/>
          </a:solidFill>
          <a:ln/>
        </p:spPr>
      </p:sp>
      <p:sp>
        <p:nvSpPr>
          <p:cNvPr id="8" name="What we noticed marker label"/>
          <p:cNvSpPr txBox="1"/>
          <p:nvPr/>
        </p:nvSpPr>
        <p:spPr>
          <a:xfrm>
            <a:off x="548640" y="288036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9" name="Text 7"/>
          <p:cNvSpPr txBox="1"/>
          <p:nvPr/>
        </p:nvSpPr>
        <p:spPr>
          <a:xfrm>
            <a:off x="1188720" y="2862072"/>
            <a:ext cx="5760720" cy="411480"/>
          </a:xfrm>
          <a:prstGeom prst="rect">
            <a:avLst/>
          </a:prstGeom>
          <a:noFill/>
          <a:ln/>
        </p:spPr>
        <p:txBody>
          <a:bodyPr wrap="square" lIns="0" tIns="0" rIns="0" bIns="0" rtlCol="0" anchor="ctr"/>
          <a:lstStyle/>
          <a:p>
            <a:pPr indent="0" marL="0">
              <a:buNone/>
            </a:pPr>
            <a:r>
              <a:rPr lang="en-US" sz="1800" b="1" dirty="0">
                <a:solidFill>
                  <a:schemeClr val="tx1"/>
                </a:solidFill>
              </a:rPr>
              <a:t>What we noticed</a:t>
            </a:r>
            <a:endParaRPr lang="en-US" sz="1800" dirty="0"/>
          </a:p>
        </p:txBody>
      </p:sp>
      <p:sp>
        <p:nvSpPr>
          <p:cNvPr id="10" name="Text 8"/>
          <p:cNvSpPr txBox="1"/>
          <p:nvPr/>
        </p:nvSpPr>
        <p:spPr>
          <a:xfrm>
            <a:off x="1188720" y="3291840"/>
            <a:ext cx="5760720" cy="1005840"/>
          </a:xfrm>
          <a:prstGeom prst="rect">
            <a:avLst/>
          </a:prstGeom>
          <a:noFill/>
          <a:ln/>
        </p:spPr>
        <p:txBody>
          <a:bodyPr wrap="square" lIns="0" tIns="0" rIns="0" bIns="0" rtlCol="0" anchor="t"/>
          <a:lstStyle/>
          <a:p>
            <a:pPr indent="0" marL="0">
              <a:buNone/>
            </a:pPr>
            <a:r>
              <a:rPr lang="en-US" sz="1500" dirty="0">
                <a:solidFill>
                  <a:schemeClr val="tx1"/>
                </a:solidFill>
              </a:rPr>
              <a:t>The features come from a deep network, so nobody can explain the decisions. Each model is also used on its own.</a:t>
            </a:r>
            <a:endParaRPr lang="en-US" sz="1500" dirty="0"/>
          </a:p>
        </p:txBody>
      </p:sp>
      <p:sp>
        <p:nvSpPr>
          <p:cNvPr id="11" name="What we take from it marker"/>
          <p:cNvSpPr/>
          <p:nvPr/>
        </p:nvSpPr>
        <p:spPr>
          <a:xfrm>
            <a:off x="548640" y="4434840"/>
            <a:ext cx="457200" cy="457200"/>
          </a:xfrm>
          <a:prstGeom prst="ellipse">
            <a:avLst/>
          </a:prstGeom>
          <a:solidFill>
            <a:schemeClr val="accent3"/>
          </a:solidFill>
          <a:ln/>
        </p:spPr>
      </p:sp>
      <p:sp>
        <p:nvSpPr>
          <p:cNvPr id="12" name="What we take from it marker label"/>
          <p:cNvSpPr txBox="1"/>
          <p:nvPr/>
        </p:nvSpPr>
        <p:spPr>
          <a:xfrm>
            <a:off x="548640" y="443484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3" name="Text 11"/>
          <p:cNvSpPr txBox="1"/>
          <p:nvPr/>
        </p:nvSpPr>
        <p:spPr>
          <a:xfrm>
            <a:off x="1188720" y="4416552"/>
            <a:ext cx="5760720" cy="411480"/>
          </a:xfrm>
          <a:prstGeom prst="rect">
            <a:avLst/>
          </a:prstGeom>
          <a:noFill/>
          <a:ln/>
        </p:spPr>
        <p:txBody>
          <a:bodyPr wrap="square" lIns="0" tIns="0" rIns="0" bIns="0" rtlCol="0" anchor="ctr"/>
          <a:lstStyle/>
          <a:p>
            <a:pPr indent="0" marL="0">
              <a:buNone/>
            </a:pPr>
            <a:r>
              <a:rPr lang="en-US" sz="1800" b="1" dirty="0">
                <a:solidFill>
                  <a:schemeClr val="tx1"/>
                </a:solidFill>
              </a:rPr>
              <a:t>What we take from it</a:t>
            </a:r>
            <a:endParaRPr lang="en-US" sz="1800" dirty="0"/>
          </a:p>
        </p:txBody>
      </p:sp>
      <p:sp>
        <p:nvSpPr>
          <p:cNvPr id="14" name="Text 12"/>
          <p:cNvSpPr txBox="1"/>
          <p:nvPr/>
        </p:nvSpPr>
        <p:spPr>
          <a:xfrm>
            <a:off x="1188720" y="4846320"/>
            <a:ext cx="5760720" cy="1005840"/>
          </a:xfrm>
          <a:prstGeom prst="rect">
            <a:avLst/>
          </a:prstGeom>
          <a:noFill/>
          <a:ln/>
        </p:spPr>
        <p:txBody>
          <a:bodyPr wrap="square" lIns="0" tIns="0" rIns="0" bIns="0" rtlCol="0" anchor="t"/>
          <a:lstStyle/>
          <a:p>
            <a:pPr indent="0" marL="0">
              <a:buNone/>
            </a:pPr>
            <a:r>
              <a:rPr lang="en-US" sz="1500" dirty="0">
                <a:solidFill>
                  <a:schemeClr val="tx1"/>
                </a:solidFill>
              </a:rPr>
              <a:t>We use Random Forest and XGBoost too, but on handcrafted features, add SVM, and try stacking all three.</a:t>
            </a:r>
            <a:endParaRPr lang="en-US" sz="1500" dirty="0"/>
          </a:p>
        </p:txBody>
      </p:sp>
      <p:sp>
        <p:nvSpPr>
          <p:cNvPr id="15" name="Key number card"/>
          <p:cNvSpPr/>
          <p:nvPr/>
        </p:nvSpPr>
        <p:spPr>
          <a:xfrm>
            <a:off x="7498080" y="1325880"/>
            <a:ext cx="4114800" cy="2651760"/>
          </a:xfrm>
          <a:prstGeom prst="roundRect">
            <a:avLst>
              <a:gd name="adj" fmla="val 4138"/>
            </a:avLst>
          </a:prstGeom>
          <a:solidFill>
            <a:schemeClr val="bg2"/>
          </a:solidFill>
          <a:ln/>
        </p:spPr>
      </p:sp>
      <p:sp>
        <p:nvSpPr>
          <p:cNvPr id="16" name="Text 14"/>
          <p:cNvSpPr txBox="1"/>
          <p:nvPr/>
        </p:nvSpPr>
        <p:spPr>
          <a:xfrm>
            <a:off x="7589520" y="1554480"/>
            <a:ext cx="3931920" cy="1188720"/>
          </a:xfrm>
          <a:prstGeom prst="rect">
            <a:avLst/>
          </a:prstGeom>
          <a:noFill/>
          <a:ln/>
        </p:spPr>
        <p:txBody>
          <a:bodyPr wrap="square" lIns="0" tIns="0" rIns="0" bIns="0" rtlCol="0" anchor="ctr"/>
          <a:lstStyle/>
          <a:p>
            <a:pPr algn="ctr" indent="0" marL="0">
              <a:buNone/>
            </a:pPr>
            <a:r>
              <a:rPr lang="en-US" sz="5400" b="1" dirty="0">
                <a:solidFill>
                  <a:schemeClr val="accent1"/>
                </a:solidFill>
              </a:rPr>
              <a:t>92%</a:t>
            </a:r>
            <a:endParaRPr lang="en-US" sz="5400" dirty="0"/>
          </a:p>
        </p:txBody>
      </p:sp>
      <p:sp>
        <p:nvSpPr>
          <p:cNvPr id="17" name="Text 15"/>
          <p:cNvSpPr txBox="1"/>
          <p:nvPr/>
        </p:nvSpPr>
        <p:spPr>
          <a:xfrm>
            <a:off x="7772400" y="2788920"/>
            <a:ext cx="3566160" cy="914400"/>
          </a:xfrm>
          <a:prstGeom prst="rect">
            <a:avLst/>
          </a:prstGeom>
          <a:noFill/>
          <a:ln/>
        </p:spPr>
        <p:txBody>
          <a:bodyPr wrap="square" lIns="0" tIns="0" rIns="0" bIns="0" rtlCol="0" anchor="t"/>
          <a:lstStyle/>
          <a:p>
            <a:pPr algn="ctr" indent="0" marL="0">
              <a:buNone/>
            </a:pPr>
            <a:r>
              <a:rPr lang="en-US" sz="1400" dirty="0">
                <a:solidFill>
                  <a:schemeClr val="tx1"/>
                </a:solidFill>
              </a:rPr>
              <a:t>on letters (93.3% on digits)</a:t>
            </a:r>
            <a:endParaRPr lang="en-US" sz="1400" dirty="0"/>
          </a:p>
        </p:txBody>
      </p:sp>
      <p:sp>
        <p:nvSpPr>
          <p:cNvPr id="18" name="Objective tag"/>
          <p:cNvSpPr/>
          <p:nvPr/>
        </p:nvSpPr>
        <p:spPr>
          <a:xfrm>
            <a:off x="7498080" y="4206240"/>
            <a:ext cx="4114800" cy="685800"/>
          </a:xfrm>
          <a:prstGeom prst="roundRect">
            <a:avLst>
              <a:gd name="adj" fmla="val 16000"/>
            </a:avLst>
          </a:prstGeom>
          <a:solidFill>
            <a:schemeClr val="accent6"/>
          </a:solidFill>
          <a:ln/>
        </p:spPr>
      </p:sp>
      <p:sp>
        <p:nvSpPr>
          <p:cNvPr id="19" name="Text 17"/>
          <p:cNvSpPr txBox="1"/>
          <p:nvPr/>
        </p:nvSpPr>
        <p:spPr>
          <a:xfrm>
            <a:off x="7498080" y="4206240"/>
            <a:ext cx="4114800" cy="685800"/>
          </a:xfrm>
          <a:prstGeom prst="rect">
            <a:avLst/>
          </a:prstGeom>
          <a:noFill/>
          <a:ln/>
        </p:spPr>
        <p:txBody>
          <a:bodyPr wrap="square" lIns="0" tIns="0" rIns="0" bIns="0" rtlCol="0" anchor="ctr"/>
          <a:lstStyle/>
          <a:p>
            <a:pPr algn="ctr" indent="0" marL="0">
              <a:buNone/>
            </a:pPr>
            <a:r>
              <a:rPr lang="en-US" sz="1600" b="1" dirty="0">
                <a:solidFill>
                  <a:schemeClr val="tx1"/>
                </a:solidFill>
              </a:rPr>
              <a:t>Leads to Objective 2</a:t>
            </a:r>
            <a:endParaRPr lang="en-US" sz="1600" dirty="0"/>
          </a:p>
        </p:txBody>
      </p:sp>
      <p:sp>
        <p:nvSpPr>
          <p:cNvPr id="20" name="Text 18"/>
          <p:cNvSpPr txBox="1"/>
          <p:nvPr/>
        </p:nvSpPr>
        <p:spPr>
          <a:xfrm>
            <a:off x="7498080" y="5120640"/>
            <a:ext cx="4114800" cy="365760"/>
          </a:xfrm>
          <a:prstGeom prst="rect">
            <a:avLst/>
          </a:prstGeom>
          <a:noFill/>
          <a:ln/>
        </p:spPr>
        <p:txBody>
          <a:bodyPr wrap="square" lIns="0" tIns="0" rIns="0" bIns="0" rtlCol="0" anchor="ctr"/>
          <a:lstStyle/>
          <a:p>
            <a:pPr algn="ctr" indent="0" marL="0">
              <a:buNone/>
            </a:pPr>
            <a:r>
              <a:rPr lang="en-US" sz="1400" u="sng" dirty="0">
                <a:solidFill>
                  <a:schemeClr val="accent1"/>
                </a:solidFill>
                <a:hlinkClick r:id="rId1" invalidUrl="" action="" tgtFrame="" tooltip="Implementing a Hybrid Deep Learning Approach to Achieve Classic Handwritten Alphanumeric MODI Recognition" history="1" highlightClick="0" endSnd="0">
                  <a:extLst>
                    <a:ext uri="{A12FA001-AC4F-418D-AE19-62706E023703}">
                      <ahyp:hlinkClr xmlns:ahyp="http://schemas.microsoft.com/office/drawing/2018/hyperlinkcolor" val="tx"/>
                    </a:ext>
                  </a:extLst>
                </a:hlinkClick>
              </a:rPr>
              <a:t>Open the paper (Drive)</a:t>
            </a:r>
            <a:endParaRPr lang="en-US" sz="1400" dirty="0"/>
          </a:p>
        </p:txBody>
      </p:sp>
      <p:sp>
        <p:nvSpPr>
          <p:cNvPr id="21" name="Text 19"/>
          <p:cNvSpPr txBox="1"/>
          <p:nvPr/>
        </p:nvSpPr>
        <p:spPr>
          <a:xfrm>
            <a:off x="548640" y="5943600"/>
            <a:ext cx="11064240" cy="365760"/>
          </a:xfrm>
          <a:prstGeom prst="rect">
            <a:avLst/>
          </a:prstGeom>
          <a:noFill/>
          <a:ln/>
        </p:spPr>
        <p:txBody>
          <a:bodyPr wrap="square" lIns="0" tIns="0" rIns="0" bIns="0" rtlCol="0" anchor="ctr"/>
          <a:lstStyle/>
          <a:p>
            <a:pPr indent="0" marL="0">
              <a:buNone/>
            </a:pPr>
            <a:r>
              <a:rPr lang="en-US" sz="1100" i="1" dirty="0">
                <a:solidFill>
                  <a:schemeClr val="tx2"/>
                </a:solidFill>
              </a:rPr>
              <a:t>Paper 21 in our survey: Implementing a Hybrid Deep Learning Approach to Achieve Classic Handwritten Alphanumeric MODI Recognition</a:t>
            </a:r>
            <a:endParaRPr lang="en-US" sz="11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731520"/>
          </a:xfrm>
          <a:prstGeom prst="rect">
            <a:avLst/>
          </a:prstGeom>
          <a:noFill/>
          <a:ln/>
        </p:spPr>
        <p:txBody>
          <a:bodyPr wrap="square" rtlCol="0" anchor="ctr"/>
          <a:lstStyle/>
          <a:p>
            <a:pPr indent="0" marL="0">
              <a:buNone/>
            </a:pPr>
            <a:r>
              <a:rPr lang="en-US" sz="3000" b="1" dirty="0">
                <a:solidFill>
                  <a:schemeClr val="tx2"/>
                </a:solidFill>
                <a:latin typeface="Cambria" pitchFamily="34" charset="0"/>
                <a:ea typeface="Cambria" pitchFamily="34" charset="-122"/>
                <a:cs typeface="Cambria" pitchFamily="34" charset="-120"/>
              </a:rPr>
              <a:t>Anam &amp; Gupta, 2015: Otsu and a Kohonen network</a:t>
            </a:r>
            <a:endParaRPr lang="en-US" sz="3000" dirty="0"/>
          </a:p>
        </p:txBody>
      </p:sp>
      <p:sp>
        <p:nvSpPr>
          <p:cNvPr id="3" name="What they did marker"/>
          <p:cNvSpPr/>
          <p:nvPr/>
        </p:nvSpPr>
        <p:spPr>
          <a:xfrm>
            <a:off x="548640" y="1325880"/>
            <a:ext cx="457200" cy="457200"/>
          </a:xfrm>
          <a:prstGeom prst="ellipse">
            <a:avLst/>
          </a:prstGeom>
          <a:solidFill>
            <a:schemeClr val="accent1"/>
          </a:solidFill>
          <a:ln/>
        </p:spPr>
      </p:sp>
      <p:sp>
        <p:nvSpPr>
          <p:cNvPr id="4" name="What they did marker label"/>
          <p:cNvSpPr txBox="1"/>
          <p:nvPr/>
        </p:nvSpPr>
        <p:spPr>
          <a:xfrm>
            <a:off x="548640" y="132588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5" name="Text 3"/>
          <p:cNvSpPr txBox="1"/>
          <p:nvPr/>
        </p:nvSpPr>
        <p:spPr>
          <a:xfrm>
            <a:off x="1188720" y="1307592"/>
            <a:ext cx="5760720" cy="411480"/>
          </a:xfrm>
          <a:prstGeom prst="rect">
            <a:avLst/>
          </a:prstGeom>
          <a:noFill/>
          <a:ln/>
        </p:spPr>
        <p:txBody>
          <a:bodyPr wrap="square" lIns="0" tIns="0" rIns="0" bIns="0" rtlCol="0" anchor="ctr"/>
          <a:lstStyle/>
          <a:p>
            <a:pPr indent="0" marL="0">
              <a:buNone/>
            </a:pPr>
            <a:r>
              <a:rPr lang="en-US" sz="1800" b="1" dirty="0">
                <a:solidFill>
                  <a:schemeClr val="tx1"/>
                </a:solidFill>
              </a:rPr>
              <a:t>What they did</a:t>
            </a:r>
            <a:endParaRPr lang="en-US" sz="1800" dirty="0"/>
          </a:p>
        </p:txBody>
      </p:sp>
      <p:sp>
        <p:nvSpPr>
          <p:cNvPr id="6" name="Text 4"/>
          <p:cNvSpPr txBox="1"/>
          <p:nvPr/>
        </p:nvSpPr>
        <p:spPr>
          <a:xfrm>
            <a:off x="1188720" y="1737360"/>
            <a:ext cx="5760720" cy="1005840"/>
          </a:xfrm>
          <a:prstGeom prst="rect">
            <a:avLst/>
          </a:prstGeom>
          <a:noFill/>
          <a:ln/>
        </p:spPr>
        <p:txBody>
          <a:bodyPr wrap="square" lIns="0" tIns="0" rIns="0" bIns="0" rtlCol="0" anchor="t"/>
          <a:lstStyle/>
          <a:p>
            <a:pPr indent="0" marL="0">
              <a:buNone/>
            </a:pPr>
            <a:r>
              <a:rPr lang="en-US" sz="1500" dirty="0">
                <a:solidFill>
                  <a:schemeClr val="tx1"/>
                </a:solidFill>
              </a:rPr>
              <a:t>Cleaned the images with Otsu thresholding and recognised them with a Kohonen neural network.</a:t>
            </a:r>
            <a:endParaRPr lang="en-US" sz="1500" dirty="0"/>
          </a:p>
        </p:txBody>
      </p:sp>
      <p:sp>
        <p:nvSpPr>
          <p:cNvPr id="7" name="What we noticed marker"/>
          <p:cNvSpPr/>
          <p:nvPr/>
        </p:nvSpPr>
        <p:spPr>
          <a:xfrm>
            <a:off x="548640" y="2880360"/>
            <a:ext cx="457200" cy="457200"/>
          </a:xfrm>
          <a:prstGeom prst="ellipse">
            <a:avLst/>
          </a:prstGeom>
          <a:solidFill>
            <a:schemeClr val="accent4"/>
          </a:solidFill>
          <a:ln/>
        </p:spPr>
      </p:sp>
      <p:sp>
        <p:nvSpPr>
          <p:cNvPr id="8" name="What we noticed marker label"/>
          <p:cNvSpPr txBox="1"/>
          <p:nvPr/>
        </p:nvSpPr>
        <p:spPr>
          <a:xfrm>
            <a:off x="548640" y="288036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9" name="Text 7"/>
          <p:cNvSpPr txBox="1"/>
          <p:nvPr/>
        </p:nvSpPr>
        <p:spPr>
          <a:xfrm>
            <a:off x="1188720" y="2862072"/>
            <a:ext cx="5760720" cy="411480"/>
          </a:xfrm>
          <a:prstGeom prst="rect">
            <a:avLst/>
          </a:prstGeom>
          <a:noFill/>
          <a:ln/>
        </p:spPr>
        <p:txBody>
          <a:bodyPr wrap="square" lIns="0" tIns="0" rIns="0" bIns="0" rtlCol="0" anchor="ctr"/>
          <a:lstStyle/>
          <a:p>
            <a:pPr indent="0" marL="0">
              <a:buNone/>
            </a:pPr>
            <a:r>
              <a:rPr lang="en-US" sz="1800" b="1" dirty="0">
                <a:solidFill>
                  <a:schemeClr val="tx1"/>
                </a:solidFill>
              </a:rPr>
              <a:t>What we noticed</a:t>
            </a:r>
            <a:endParaRPr lang="en-US" sz="1800" dirty="0"/>
          </a:p>
        </p:txBody>
      </p:sp>
      <p:sp>
        <p:nvSpPr>
          <p:cNvPr id="10" name="Text 8"/>
          <p:cNvSpPr txBox="1"/>
          <p:nvPr/>
        </p:nvSpPr>
        <p:spPr>
          <a:xfrm>
            <a:off x="1188720" y="3291840"/>
            <a:ext cx="5760720" cy="1005840"/>
          </a:xfrm>
          <a:prstGeom prst="rect">
            <a:avLst/>
          </a:prstGeom>
          <a:noFill/>
          <a:ln/>
        </p:spPr>
        <p:txBody>
          <a:bodyPr wrap="square" lIns="0" tIns="0" rIns="0" bIns="0" rtlCol="0" anchor="t"/>
          <a:lstStyle/>
          <a:p>
            <a:pPr indent="0" marL="0">
              <a:buNone/>
            </a:pPr>
            <a:r>
              <a:rPr lang="en-US" sz="1500" dirty="0">
                <a:solidFill>
                  <a:schemeClr val="tx1"/>
                </a:solidFill>
              </a:rPr>
              <a:t>The data is tiny and private. Letters with similar shapes got the worst results.</a:t>
            </a:r>
            <a:endParaRPr lang="en-US" sz="1500" dirty="0"/>
          </a:p>
        </p:txBody>
      </p:sp>
      <p:sp>
        <p:nvSpPr>
          <p:cNvPr id="11" name="What we take from it marker"/>
          <p:cNvSpPr/>
          <p:nvPr/>
        </p:nvSpPr>
        <p:spPr>
          <a:xfrm>
            <a:off x="548640" y="4434840"/>
            <a:ext cx="457200" cy="457200"/>
          </a:xfrm>
          <a:prstGeom prst="ellipse">
            <a:avLst/>
          </a:prstGeom>
          <a:solidFill>
            <a:schemeClr val="accent3"/>
          </a:solidFill>
          <a:ln/>
        </p:spPr>
      </p:sp>
      <p:sp>
        <p:nvSpPr>
          <p:cNvPr id="12" name="What we take from it marker label"/>
          <p:cNvSpPr txBox="1"/>
          <p:nvPr/>
        </p:nvSpPr>
        <p:spPr>
          <a:xfrm>
            <a:off x="548640" y="443484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3" name="Text 11"/>
          <p:cNvSpPr txBox="1"/>
          <p:nvPr/>
        </p:nvSpPr>
        <p:spPr>
          <a:xfrm>
            <a:off x="1188720" y="4416552"/>
            <a:ext cx="5760720" cy="411480"/>
          </a:xfrm>
          <a:prstGeom prst="rect">
            <a:avLst/>
          </a:prstGeom>
          <a:noFill/>
          <a:ln/>
        </p:spPr>
        <p:txBody>
          <a:bodyPr wrap="square" lIns="0" tIns="0" rIns="0" bIns="0" rtlCol="0" anchor="ctr"/>
          <a:lstStyle/>
          <a:p>
            <a:pPr indent="0" marL="0">
              <a:buNone/>
            </a:pPr>
            <a:r>
              <a:rPr lang="en-US" sz="1800" b="1" dirty="0">
                <a:solidFill>
                  <a:schemeClr val="tx1"/>
                </a:solidFill>
              </a:rPr>
              <a:t>What we take from it</a:t>
            </a:r>
            <a:endParaRPr lang="en-US" sz="1800" dirty="0"/>
          </a:p>
        </p:txBody>
      </p:sp>
      <p:sp>
        <p:nvSpPr>
          <p:cNvPr id="14" name="Text 12"/>
          <p:cNvSpPr txBox="1"/>
          <p:nvPr/>
        </p:nvSpPr>
        <p:spPr>
          <a:xfrm>
            <a:off x="1188720" y="4846320"/>
            <a:ext cx="5760720" cy="1005840"/>
          </a:xfrm>
          <a:prstGeom prst="rect">
            <a:avLst/>
          </a:prstGeom>
          <a:noFill/>
          <a:ln/>
        </p:spPr>
        <p:txBody>
          <a:bodyPr wrap="square" lIns="0" tIns="0" rIns="0" bIns="0" rtlCol="0" anchor="t"/>
          <a:lstStyle/>
          <a:p>
            <a:pPr indent="0" marL="0">
              <a:buNone/>
            </a:pPr>
            <a:r>
              <a:rPr lang="en-US" sz="1500" dirty="0">
                <a:solidFill>
                  <a:schemeClr val="tx1"/>
                </a:solidFill>
              </a:rPr>
              <a:t>Otsu thresholding is the main cleaning step in our pipeline, and look-alike letters need special attention.</a:t>
            </a:r>
            <a:endParaRPr lang="en-US" sz="1500" dirty="0"/>
          </a:p>
        </p:txBody>
      </p:sp>
      <p:sp>
        <p:nvSpPr>
          <p:cNvPr id="15" name="Key number card"/>
          <p:cNvSpPr/>
          <p:nvPr/>
        </p:nvSpPr>
        <p:spPr>
          <a:xfrm>
            <a:off x="7498080" y="1325880"/>
            <a:ext cx="4114800" cy="2651760"/>
          </a:xfrm>
          <a:prstGeom prst="roundRect">
            <a:avLst>
              <a:gd name="adj" fmla="val 4138"/>
            </a:avLst>
          </a:prstGeom>
          <a:solidFill>
            <a:schemeClr val="bg2"/>
          </a:solidFill>
          <a:ln/>
        </p:spPr>
      </p:sp>
      <p:sp>
        <p:nvSpPr>
          <p:cNvPr id="16" name="Text 14"/>
          <p:cNvSpPr txBox="1"/>
          <p:nvPr/>
        </p:nvSpPr>
        <p:spPr>
          <a:xfrm>
            <a:off x="7589520" y="1554480"/>
            <a:ext cx="3931920" cy="1188720"/>
          </a:xfrm>
          <a:prstGeom prst="rect">
            <a:avLst/>
          </a:prstGeom>
          <a:noFill/>
          <a:ln/>
        </p:spPr>
        <p:txBody>
          <a:bodyPr wrap="square" lIns="0" tIns="0" rIns="0" bIns="0" rtlCol="0" anchor="ctr"/>
          <a:lstStyle/>
          <a:p>
            <a:pPr algn="ctr" indent="0" marL="0">
              <a:buNone/>
            </a:pPr>
            <a:r>
              <a:rPr lang="en-US" sz="5400" b="1" dirty="0">
                <a:solidFill>
                  <a:schemeClr val="accent1"/>
                </a:solidFill>
              </a:rPr>
              <a:t>72.6%</a:t>
            </a:r>
            <a:endParaRPr lang="en-US" sz="5400" dirty="0"/>
          </a:p>
        </p:txBody>
      </p:sp>
      <p:sp>
        <p:nvSpPr>
          <p:cNvPr id="17" name="Text 15"/>
          <p:cNvSpPr txBox="1"/>
          <p:nvPr/>
        </p:nvSpPr>
        <p:spPr>
          <a:xfrm>
            <a:off x="7772400" y="2788920"/>
            <a:ext cx="3566160" cy="914400"/>
          </a:xfrm>
          <a:prstGeom prst="rect">
            <a:avLst/>
          </a:prstGeom>
          <a:noFill/>
          <a:ln/>
        </p:spPr>
        <p:txBody>
          <a:bodyPr wrap="square" lIns="0" tIns="0" rIns="0" bIns="0" rtlCol="0" anchor="t"/>
          <a:lstStyle/>
          <a:p>
            <a:pPr algn="ctr" indent="0" marL="0">
              <a:buNone/>
            </a:pPr>
            <a:r>
              <a:rPr lang="en-US" sz="1400" dirty="0">
                <a:solidFill>
                  <a:schemeClr val="tx1"/>
                </a:solidFill>
              </a:rPr>
              <a:t>22 letters, 8 training images each</a:t>
            </a:r>
            <a:endParaRPr lang="en-US" sz="1400" dirty="0"/>
          </a:p>
        </p:txBody>
      </p:sp>
      <p:sp>
        <p:nvSpPr>
          <p:cNvPr id="18" name="Objective tag"/>
          <p:cNvSpPr/>
          <p:nvPr/>
        </p:nvSpPr>
        <p:spPr>
          <a:xfrm>
            <a:off x="7498080" y="4206240"/>
            <a:ext cx="4114800" cy="685800"/>
          </a:xfrm>
          <a:prstGeom prst="roundRect">
            <a:avLst>
              <a:gd name="adj" fmla="val 16000"/>
            </a:avLst>
          </a:prstGeom>
          <a:solidFill>
            <a:schemeClr val="accent6"/>
          </a:solidFill>
          <a:ln/>
        </p:spPr>
      </p:sp>
      <p:sp>
        <p:nvSpPr>
          <p:cNvPr id="19" name="Text 17"/>
          <p:cNvSpPr txBox="1"/>
          <p:nvPr/>
        </p:nvSpPr>
        <p:spPr>
          <a:xfrm>
            <a:off x="7498080" y="4206240"/>
            <a:ext cx="4114800" cy="685800"/>
          </a:xfrm>
          <a:prstGeom prst="rect">
            <a:avLst/>
          </a:prstGeom>
          <a:noFill/>
          <a:ln/>
        </p:spPr>
        <p:txBody>
          <a:bodyPr wrap="square" lIns="0" tIns="0" rIns="0" bIns="0" rtlCol="0" anchor="ctr"/>
          <a:lstStyle/>
          <a:p>
            <a:pPr algn="ctr" indent="0" marL="0">
              <a:buNone/>
            </a:pPr>
            <a:r>
              <a:rPr lang="en-US" sz="1600" b="1" dirty="0">
                <a:solidFill>
                  <a:schemeClr val="tx1"/>
                </a:solidFill>
              </a:rPr>
              <a:t>Leads to Objectives 1 and 3</a:t>
            </a:r>
            <a:endParaRPr lang="en-US" sz="1600" dirty="0"/>
          </a:p>
        </p:txBody>
      </p:sp>
      <p:sp>
        <p:nvSpPr>
          <p:cNvPr id="20" name="Text 18"/>
          <p:cNvSpPr txBox="1"/>
          <p:nvPr/>
        </p:nvSpPr>
        <p:spPr>
          <a:xfrm>
            <a:off x="7498080" y="5120640"/>
            <a:ext cx="4114800" cy="365760"/>
          </a:xfrm>
          <a:prstGeom prst="rect">
            <a:avLst/>
          </a:prstGeom>
          <a:noFill/>
          <a:ln/>
        </p:spPr>
        <p:txBody>
          <a:bodyPr wrap="square" lIns="0" tIns="0" rIns="0" bIns="0" rtlCol="0" anchor="ctr"/>
          <a:lstStyle/>
          <a:p>
            <a:pPr algn="ctr" indent="0" marL="0">
              <a:buNone/>
            </a:pPr>
            <a:r>
              <a:rPr lang="en-US" sz="1400" u="sng" dirty="0">
                <a:solidFill>
                  <a:schemeClr val="accent1"/>
                </a:solidFill>
                <a:hlinkClick r:id="rId1" invalidUrl="" action="" tgtFrame="" tooltip="An Approach for Recognizing Modi Lipi using Ostu's Binarization Algorithm and Kohenen Neural Network" history="1" highlightClick="0" endSnd="0">
                  <a:extLst>
                    <a:ext uri="{A12FA001-AC4F-418D-AE19-62706E023703}">
                      <ahyp:hlinkClr xmlns:ahyp="http://schemas.microsoft.com/office/drawing/2018/hyperlinkcolor" val="tx"/>
                    </a:ext>
                  </a:extLst>
                </a:hlinkClick>
              </a:rPr>
              <a:t>Open the paper (Drive)</a:t>
            </a:r>
            <a:endParaRPr lang="en-US" sz="1400" dirty="0"/>
          </a:p>
        </p:txBody>
      </p:sp>
      <p:sp>
        <p:nvSpPr>
          <p:cNvPr id="21" name="Text 19"/>
          <p:cNvSpPr txBox="1"/>
          <p:nvPr/>
        </p:nvSpPr>
        <p:spPr>
          <a:xfrm>
            <a:off x="548640" y="5943600"/>
            <a:ext cx="11064240" cy="365760"/>
          </a:xfrm>
          <a:prstGeom prst="rect">
            <a:avLst/>
          </a:prstGeom>
          <a:noFill/>
          <a:ln/>
        </p:spPr>
        <p:txBody>
          <a:bodyPr wrap="square" lIns="0" tIns="0" rIns="0" bIns="0" rtlCol="0" anchor="ctr"/>
          <a:lstStyle/>
          <a:p>
            <a:pPr indent="0" marL="0">
              <a:buNone/>
            </a:pPr>
            <a:r>
              <a:rPr lang="en-US" sz="1100" i="1" dirty="0">
                <a:solidFill>
                  <a:schemeClr val="tx2"/>
                </a:solidFill>
              </a:rPr>
              <a:t>Paper 26 in our survey: An Approach for Recognizing Modi Lipi using Ostu's Binarization Algorithm and Kohenen Neural Network</a:t>
            </a:r>
            <a:endParaRPr lang="en-US" sz="11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731520"/>
          </a:xfrm>
          <a:prstGeom prst="rect">
            <a:avLst/>
          </a:prstGeom>
          <a:noFill/>
          <a:ln/>
        </p:spPr>
        <p:txBody>
          <a:bodyPr wrap="square" rtlCol="0" anchor="ctr"/>
          <a:lstStyle/>
          <a:p>
            <a:pPr indent="0" marL="0">
              <a:buNone/>
            </a:pPr>
            <a:r>
              <a:rPr lang="en-US" sz="3000" b="1" dirty="0">
                <a:solidFill>
                  <a:schemeClr val="tx2"/>
                </a:solidFill>
                <a:latin typeface="Cambria" pitchFamily="34" charset="0"/>
                <a:ea typeface="Cambria" pitchFamily="34" charset="-122"/>
                <a:cs typeface="Cambria" pitchFamily="34" charset="-120"/>
              </a:rPr>
              <a:t>Kulkarni et al., 2014: Zernike vs Hu moments</a:t>
            </a:r>
            <a:endParaRPr lang="en-US" sz="3000" dirty="0"/>
          </a:p>
        </p:txBody>
      </p:sp>
      <p:sp>
        <p:nvSpPr>
          <p:cNvPr id="3" name="What they did marker"/>
          <p:cNvSpPr/>
          <p:nvPr/>
        </p:nvSpPr>
        <p:spPr>
          <a:xfrm>
            <a:off x="548640" y="1325880"/>
            <a:ext cx="457200" cy="457200"/>
          </a:xfrm>
          <a:prstGeom prst="ellipse">
            <a:avLst/>
          </a:prstGeom>
          <a:solidFill>
            <a:schemeClr val="accent1"/>
          </a:solidFill>
          <a:ln/>
        </p:spPr>
      </p:sp>
      <p:sp>
        <p:nvSpPr>
          <p:cNvPr id="4" name="What they did marker label"/>
          <p:cNvSpPr txBox="1"/>
          <p:nvPr/>
        </p:nvSpPr>
        <p:spPr>
          <a:xfrm>
            <a:off x="548640" y="132588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5" name="Text 3"/>
          <p:cNvSpPr txBox="1"/>
          <p:nvPr/>
        </p:nvSpPr>
        <p:spPr>
          <a:xfrm>
            <a:off x="1188720" y="1307592"/>
            <a:ext cx="5760720" cy="411480"/>
          </a:xfrm>
          <a:prstGeom prst="rect">
            <a:avLst/>
          </a:prstGeom>
          <a:noFill/>
          <a:ln/>
        </p:spPr>
        <p:txBody>
          <a:bodyPr wrap="square" lIns="0" tIns="0" rIns="0" bIns="0" rtlCol="0" anchor="ctr"/>
          <a:lstStyle/>
          <a:p>
            <a:pPr indent="0" marL="0">
              <a:buNone/>
            </a:pPr>
            <a:r>
              <a:rPr lang="en-US" sz="1800" b="1" dirty="0">
                <a:solidFill>
                  <a:schemeClr val="tx1"/>
                </a:solidFill>
              </a:rPr>
              <a:t>What they did</a:t>
            </a:r>
            <a:endParaRPr lang="en-US" sz="1800" dirty="0"/>
          </a:p>
        </p:txBody>
      </p:sp>
      <p:sp>
        <p:nvSpPr>
          <p:cNvPr id="6" name="Text 4"/>
          <p:cNvSpPr txBox="1"/>
          <p:nvPr/>
        </p:nvSpPr>
        <p:spPr>
          <a:xfrm>
            <a:off x="1188720" y="1737360"/>
            <a:ext cx="5760720" cy="1005840"/>
          </a:xfrm>
          <a:prstGeom prst="rect">
            <a:avLst/>
          </a:prstGeom>
          <a:noFill/>
          <a:ln/>
        </p:spPr>
        <p:txBody>
          <a:bodyPr wrap="square" lIns="0" tIns="0" rIns="0" bIns="0" rtlCol="0" anchor="t"/>
          <a:lstStyle/>
          <a:p>
            <a:pPr indent="0" marL="0">
              <a:buNone/>
            </a:pPr>
            <a:r>
              <a:rPr lang="en-US" sz="1500" dirty="0">
                <a:solidFill>
                  <a:schemeClr val="tx1"/>
                </a:solidFill>
              </a:rPr>
              <a:t>Compared two shape features on handwritten Modi digits, using a simple distance-based classifier.</a:t>
            </a:r>
            <a:endParaRPr lang="en-US" sz="1500" dirty="0"/>
          </a:p>
        </p:txBody>
      </p:sp>
      <p:sp>
        <p:nvSpPr>
          <p:cNvPr id="7" name="What we noticed marker"/>
          <p:cNvSpPr/>
          <p:nvPr/>
        </p:nvSpPr>
        <p:spPr>
          <a:xfrm>
            <a:off x="548640" y="2880360"/>
            <a:ext cx="457200" cy="457200"/>
          </a:xfrm>
          <a:prstGeom prst="ellipse">
            <a:avLst/>
          </a:prstGeom>
          <a:solidFill>
            <a:schemeClr val="accent4"/>
          </a:solidFill>
          <a:ln/>
        </p:spPr>
      </p:sp>
      <p:sp>
        <p:nvSpPr>
          <p:cNvPr id="8" name="What we noticed marker label"/>
          <p:cNvSpPr txBox="1"/>
          <p:nvPr/>
        </p:nvSpPr>
        <p:spPr>
          <a:xfrm>
            <a:off x="548640" y="288036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9" name="Text 7"/>
          <p:cNvSpPr txBox="1"/>
          <p:nvPr/>
        </p:nvSpPr>
        <p:spPr>
          <a:xfrm>
            <a:off x="1188720" y="2862072"/>
            <a:ext cx="5760720" cy="411480"/>
          </a:xfrm>
          <a:prstGeom prst="rect">
            <a:avLst/>
          </a:prstGeom>
          <a:noFill/>
          <a:ln/>
        </p:spPr>
        <p:txBody>
          <a:bodyPr wrap="square" lIns="0" tIns="0" rIns="0" bIns="0" rtlCol="0" anchor="ctr"/>
          <a:lstStyle/>
          <a:p>
            <a:pPr indent="0" marL="0">
              <a:buNone/>
            </a:pPr>
            <a:r>
              <a:rPr lang="en-US" sz="1800" b="1" dirty="0">
                <a:solidFill>
                  <a:schemeClr val="tx1"/>
                </a:solidFill>
              </a:rPr>
              <a:t>What we noticed</a:t>
            </a:r>
            <a:endParaRPr lang="en-US" sz="1800" dirty="0"/>
          </a:p>
        </p:txBody>
      </p:sp>
      <p:sp>
        <p:nvSpPr>
          <p:cNvPr id="10" name="Text 8"/>
          <p:cNvSpPr txBox="1"/>
          <p:nvPr/>
        </p:nvSpPr>
        <p:spPr>
          <a:xfrm>
            <a:off x="1188720" y="3291840"/>
            <a:ext cx="5760720" cy="1005840"/>
          </a:xfrm>
          <a:prstGeom prst="rect">
            <a:avLst/>
          </a:prstGeom>
          <a:noFill/>
          <a:ln/>
        </p:spPr>
        <p:txBody>
          <a:bodyPr wrap="square" lIns="0" tIns="0" rIns="0" bIns="0" rtlCol="0" anchor="t"/>
          <a:lstStyle/>
          <a:p>
            <a:pPr indent="0" marL="0">
              <a:buNone/>
            </a:pPr>
            <a:r>
              <a:rPr lang="en-US" sz="1500" dirty="0">
                <a:solidFill>
                  <a:schemeClr val="tx1"/>
                </a:solidFill>
              </a:rPr>
              <a:t>Only 100 images and 30 test samples, and digits only, no letters.</a:t>
            </a:r>
            <a:endParaRPr lang="en-US" sz="1500" dirty="0"/>
          </a:p>
        </p:txBody>
      </p:sp>
      <p:sp>
        <p:nvSpPr>
          <p:cNvPr id="11" name="What we take from it marker"/>
          <p:cNvSpPr/>
          <p:nvPr/>
        </p:nvSpPr>
        <p:spPr>
          <a:xfrm>
            <a:off x="548640" y="4434840"/>
            <a:ext cx="457200" cy="457200"/>
          </a:xfrm>
          <a:prstGeom prst="ellipse">
            <a:avLst/>
          </a:prstGeom>
          <a:solidFill>
            <a:schemeClr val="accent3"/>
          </a:solidFill>
          <a:ln/>
        </p:spPr>
      </p:sp>
      <p:sp>
        <p:nvSpPr>
          <p:cNvPr id="12" name="What we take from it marker label"/>
          <p:cNvSpPr txBox="1"/>
          <p:nvPr/>
        </p:nvSpPr>
        <p:spPr>
          <a:xfrm>
            <a:off x="548640" y="443484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3" name="Text 11"/>
          <p:cNvSpPr txBox="1"/>
          <p:nvPr/>
        </p:nvSpPr>
        <p:spPr>
          <a:xfrm>
            <a:off x="1188720" y="4416552"/>
            <a:ext cx="5760720" cy="411480"/>
          </a:xfrm>
          <a:prstGeom prst="rect">
            <a:avLst/>
          </a:prstGeom>
          <a:noFill/>
          <a:ln/>
        </p:spPr>
        <p:txBody>
          <a:bodyPr wrap="square" lIns="0" tIns="0" rIns="0" bIns="0" rtlCol="0" anchor="ctr"/>
          <a:lstStyle/>
          <a:p>
            <a:pPr indent="0" marL="0">
              <a:buNone/>
            </a:pPr>
            <a:r>
              <a:rPr lang="en-US" sz="1800" b="1" dirty="0">
                <a:solidFill>
                  <a:schemeClr val="tx1"/>
                </a:solidFill>
              </a:rPr>
              <a:t>What we take from it</a:t>
            </a:r>
            <a:endParaRPr lang="en-US" sz="1800" dirty="0"/>
          </a:p>
        </p:txBody>
      </p:sp>
      <p:sp>
        <p:nvSpPr>
          <p:cNvPr id="14" name="Text 12"/>
          <p:cNvSpPr txBox="1"/>
          <p:nvPr/>
        </p:nvSpPr>
        <p:spPr>
          <a:xfrm>
            <a:off x="1188720" y="4846320"/>
            <a:ext cx="5760720" cy="1005840"/>
          </a:xfrm>
          <a:prstGeom prst="rect">
            <a:avLst/>
          </a:prstGeom>
          <a:noFill/>
          <a:ln/>
        </p:spPr>
        <p:txBody>
          <a:bodyPr wrap="square" lIns="0" tIns="0" rIns="0" bIns="0" rtlCol="0" anchor="t"/>
          <a:lstStyle/>
          <a:p>
            <a:pPr indent="0" marL="0">
              <a:buNone/>
            </a:pPr>
            <a:r>
              <a:rPr lang="en-US" sz="1500" dirty="0">
                <a:solidFill>
                  <a:schemeClr val="tx1"/>
                </a:solidFill>
              </a:rPr>
              <a:t>Zernike moments are one of our three features, tested on all 57 characters.</a:t>
            </a:r>
            <a:endParaRPr lang="en-US" sz="1500" dirty="0"/>
          </a:p>
        </p:txBody>
      </p:sp>
      <p:sp>
        <p:nvSpPr>
          <p:cNvPr id="15" name="Key number card"/>
          <p:cNvSpPr/>
          <p:nvPr/>
        </p:nvSpPr>
        <p:spPr>
          <a:xfrm>
            <a:off x="7498080" y="1325880"/>
            <a:ext cx="4114800" cy="2651760"/>
          </a:xfrm>
          <a:prstGeom prst="roundRect">
            <a:avLst>
              <a:gd name="adj" fmla="val 4138"/>
            </a:avLst>
          </a:prstGeom>
          <a:solidFill>
            <a:schemeClr val="bg2"/>
          </a:solidFill>
          <a:ln/>
        </p:spPr>
      </p:sp>
      <p:sp>
        <p:nvSpPr>
          <p:cNvPr id="16" name="Text 14"/>
          <p:cNvSpPr txBox="1"/>
          <p:nvPr/>
        </p:nvSpPr>
        <p:spPr>
          <a:xfrm>
            <a:off x="7589520" y="1554480"/>
            <a:ext cx="3931920" cy="1188720"/>
          </a:xfrm>
          <a:prstGeom prst="rect">
            <a:avLst/>
          </a:prstGeom>
          <a:noFill/>
          <a:ln/>
        </p:spPr>
        <p:txBody>
          <a:bodyPr wrap="square" lIns="0" tIns="0" rIns="0" bIns="0" rtlCol="0" anchor="ctr"/>
          <a:lstStyle/>
          <a:p>
            <a:pPr algn="ctr" indent="0" marL="0">
              <a:buNone/>
            </a:pPr>
            <a:r>
              <a:rPr lang="en-US" sz="4000" b="1" dirty="0">
                <a:solidFill>
                  <a:schemeClr val="accent1"/>
                </a:solidFill>
              </a:rPr>
              <a:t>86.7% vs 70%</a:t>
            </a:r>
            <a:endParaRPr lang="en-US" sz="4000" dirty="0"/>
          </a:p>
        </p:txBody>
      </p:sp>
      <p:sp>
        <p:nvSpPr>
          <p:cNvPr id="17" name="Text 15"/>
          <p:cNvSpPr txBox="1"/>
          <p:nvPr/>
        </p:nvSpPr>
        <p:spPr>
          <a:xfrm>
            <a:off x="7772400" y="2788920"/>
            <a:ext cx="3566160" cy="914400"/>
          </a:xfrm>
          <a:prstGeom prst="rect">
            <a:avLst/>
          </a:prstGeom>
          <a:noFill/>
          <a:ln/>
        </p:spPr>
        <p:txBody>
          <a:bodyPr wrap="square" lIns="0" tIns="0" rIns="0" bIns="0" rtlCol="0" anchor="t"/>
          <a:lstStyle/>
          <a:p>
            <a:pPr algn="ctr" indent="0" marL="0">
              <a:buNone/>
            </a:pPr>
            <a:r>
              <a:rPr lang="en-US" sz="1400" dirty="0">
                <a:solidFill>
                  <a:schemeClr val="tx1"/>
                </a:solidFill>
              </a:rPr>
              <a:t>Zernike moments vs Hu moments on Modi digits</a:t>
            </a:r>
            <a:endParaRPr lang="en-US" sz="1400" dirty="0"/>
          </a:p>
        </p:txBody>
      </p:sp>
      <p:sp>
        <p:nvSpPr>
          <p:cNvPr id="18" name="Objective tag"/>
          <p:cNvSpPr/>
          <p:nvPr/>
        </p:nvSpPr>
        <p:spPr>
          <a:xfrm>
            <a:off x="7498080" y="4206240"/>
            <a:ext cx="4114800" cy="685800"/>
          </a:xfrm>
          <a:prstGeom prst="roundRect">
            <a:avLst>
              <a:gd name="adj" fmla="val 16000"/>
            </a:avLst>
          </a:prstGeom>
          <a:solidFill>
            <a:schemeClr val="accent6"/>
          </a:solidFill>
          <a:ln/>
        </p:spPr>
      </p:sp>
      <p:sp>
        <p:nvSpPr>
          <p:cNvPr id="19" name="Text 17"/>
          <p:cNvSpPr txBox="1"/>
          <p:nvPr/>
        </p:nvSpPr>
        <p:spPr>
          <a:xfrm>
            <a:off x="7498080" y="4206240"/>
            <a:ext cx="4114800" cy="685800"/>
          </a:xfrm>
          <a:prstGeom prst="rect">
            <a:avLst/>
          </a:prstGeom>
          <a:noFill/>
          <a:ln/>
        </p:spPr>
        <p:txBody>
          <a:bodyPr wrap="square" lIns="0" tIns="0" rIns="0" bIns="0" rtlCol="0" anchor="ctr"/>
          <a:lstStyle/>
          <a:p>
            <a:pPr algn="ctr" indent="0" marL="0">
              <a:buNone/>
            </a:pPr>
            <a:r>
              <a:rPr lang="en-US" sz="1600" b="1" dirty="0">
                <a:solidFill>
                  <a:schemeClr val="tx1"/>
                </a:solidFill>
              </a:rPr>
              <a:t>Leads to Objective 1</a:t>
            </a:r>
            <a:endParaRPr lang="en-US" sz="1600" dirty="0"/>
          </a:p>
        </p:txBody>
      </p:sp>
      <p:sp>
        <p:nvSpPr>
          <p:cNvPr id="20" name="Text 18"/>
          <p:cNvSpPr txBox="1"/>
          <p:nvPr/>
        </p:nvSpPr>
        <p:spPr>
          <a:xfrm>
            <a:off x="7498080" y="5120640"/>
            <a:ext cx="4114800" cy="365760"/>
          </a:xfrm>
          <a:prstGeom prst="rect">
            <a:avLst/>
          </a:prstGeom>
          <a:noFill/>
          <a:ln/>
        </p:spPr>
        <p:txBody>
          <a:bodyPr wrap="square" lIns="0" tIns="0" rIns="0" bIns="0" rtlCol="0" anchor="ctr"/>
          <a:lstStyle/>
          <a:p>
            <a:pPr algn="ctr" indent="0" marL="0">
              <a:buNone/>
            </a:pPr>
            <a:r>
              <a:rPr lang="en-US" sz="1400" u="sng" dirty="0">
                <a:solidFill>
                  <a:schemeClr val="accent1"/>
                </a:solidFill>
                <a:hlinkClick r:id="rId1" invalidUrl="" action="" tgtFrame="" tooltip="Recognition of Handwritten MODI Numerals using Hu and Zernike features" history="1" highlightClick="0" endSnd="0">
                  <a:extLst>
                    <a:ext uri="{A12FA001-AC4F-418D-AE19-62706E023703}">
                      <ahyp:hlinkClr xmlns:ahyp="http://schemas.microsoft.com/office/drawing/2018/hyperlinkcolor" val="tx"/>
                    </a:ext>
                  </a:extLst>
                </a:hlinkClick>
              </a:rPr>
              <a:t>Open the paper (Drive)</a:t>
            </a:r>
            <a:endParaRPr lang="en-US" sz="1400" dirty="0"/>
          </a:p>
        </p:txBody>
      </p:sp>
      <p:sp>
        <p:nvSpPr>
          <p:cNvPr id="21" name="Text 19"/>
          <p:cNvSpPr txBox="1"/>
          <p:nvPr/>
        </p:nvSpPr>
        <p:spPr>
          <a:xfrm>
            <a:off x="548640" y="5943600"/>
            <a:ext cx="11064240" cy="365760"/>
          </a:xfrm>
          <a:prstGeom prst="rect">
            <a:avLst/>
          </a:prstGeom>
          <a:noFill/>
          <a:ln/>
        </p:spPr>
        <p:txBody>
          <a:bodyPr wrap="square" lIns="0" tIns="0" rIns="0" bIns="0" rtlCol="0" anchor="ctr"/>
          <a:lstStyle/>
          <a:p>
            <a:pPr indent="0" marL="0">
              <a:buNone/>
            </a:pPr>
            <a:r>
              <a:rPr lang="en-US" sz="1100" i="1" dirty="0">
                <a:solidFill>
                  <a:schemeClr val="tx2"/>
                </a:solidFill>
              </a:rPr>
              <a:t>Paper 28 in our survey: Recognition of Handwritten MODI Numerals using Hu and Zernike features</a:t>
            </a:r>
            <a:endParaRPr lang="en-US" sz="11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731520"/>
          </a:xfrm>
          <a:prstGeom prst="rect">
            <a:avLst/>
          </a:prstGeom>
          <a:noFill/>
          <a:ln/>
        </p:spPr>
        <p:txBody>
          <a:bodyPr wrap="square" rtlCol="0" anchor="ctr"/>
          <a:lstStyle/>
          <a:p>
            <a:pPr indent="0" marL="0">
              <a:buNone/>
            </a:pPr>
            <a:r>
              <a:rPr lang="en-US" sz="3000" b="1" dirty="0">
                <a:solidFill>
                  <a:schemeClr val="tx2"/>
                </a:solidFill>
                <a:latin typeface="Cambria" pitchFamily="34" charset="0"/>
                <a:ea typeface="Cambria" pitchFamily="34" charset="-122"/>
                <a:cs typeface="Cambria" pitchFamily="34" charset="-120"/>
              </a:rPr>
              <a:t>The reported accuracies can't be ranked</a:t>
            </a:r>
            <a:endParaRPr lang="en-US" sz="3000" dirty="0"/>
          </a:p>
        </p:txBody>
      </p:sp>
      <p:graphicFrame>
        <p:nvGraphicFramePr>
          <p:cNvPr id="3" name="Reported accuracy chart" descr=""/>
          <p:cNvGraphicFramePr/>
          <p:nvPr/>
        </p:nvGraphicFramePr>
        <p:xfrm>
          <a:off x="548640" y="1234440"/>
          <a:ext cx="6766560" cy="4617720"/>
        </p:xfrm>
        <a:graphic xmlns:a="http://schemas.openxmlformats.org/drawingml/2006/main">
          <a:graphicData uri="http://schemas.openxmlformats.org/drawingml/2006/chart">
            <c:chart xmlns:c="http://schemas.openxmlformats.org/drawingml/2006/chart" r:id="rId1"/>
          </a:graphicData>
        </a:graphic>
      </p:graphicFrame>
      <p:sp>
        <p:nvSpPr>
          <p:cNvPr id="4" name="Why not comparable card"/>
          <p:cNvSpPr/>
          <p:nvPr/>
        </p:nvSpPr>
        <p:spPr>
          <a:xfrm>
            <a:off x="7680960" y="1325880"/>
            <a:ext cx="3931920" cy="4480560"/>
          </a:xfrm>
          <a:prstGeom prst="roundRect">
            <a:avLst>
              <a:gd name="adj" fmla="val 2791"/>
            </a:avLst>
          </a:prstGeom>
          <a:solidFill>
            <a:schemeClr val="bg2"/>
          </a:solidFill>
          <a:ln/>
        </p:spPr>
      </p:sp>
      <p:sp>
        <p:nvSpPr>
          <p:cNvPr id="5" name="Text 2"/>
          <p:cNvSpPr txBox="1"/>
          <p:nvPr/>
        </p:nvSpPr>
        <p:spPr>
          <a:xfrm>
            <a:off x="7909560" y="1463040"/>
            <a:ext cx="3474720" cy="457200"/>
          </a:xfrm>
          <a:prstGeom prst="rect">
            <a:avLst/>
          </a:prstGeom>
          <a:noFill/>
          <a:ln/>
        </p:spPr>
        <p:txBody>
          <a:bodyPr wrap="square" lIns="0" tIns="0" rIns="0" bIns="0" rtlCol="0" anchor="ctr"/>
          <a:lstStyle/>
          <a:p>
            <a:pPr indent="0" marL="0">
              <a:buNone/>
            </a:pPr>
            <a:r>
              <a:rPr lang="en-US" sz="1800" b="1" dirty="0">
                <a:solidFill>
                  <a:schemeClr val="tx1"/>
                </a:solidFill>
              </a:rPr>
              <a:t>Why we don't compare these</a:t>
            </a:r>
            <a:endParaRPr lang="en-US" sz="1800" dirty="0"/>
          </a:p>
        </p:txBody>
      </p:sp>
      <p:sp>
        <p:nvSpPr>
          <p:cNvPr id="6" name="Text 3"/>
          <p:cNvSpPr txBox="1"/>
          <p:nvPr/>
        </p:nvSpPr>
        <p:spPr>
          <a:xfrm>
            <a:off x="7909560" y="2011680"/>
            <a:ext cx="3520440" cy="3566160"/>
          </a:xfrm>
          <a:prstGeom prst="rect">
            <a:avLst/>
          </a:prstGeom>
          <a:noFill/>
          <a:ln/>
        </p:spPr>
        <p:txBody>
          <a:bodyPr wrap="square" rtlCol="0" anchor="t"/>
          <a:lstStyle/>
          <a:p>
            <a:pPr marL="342900" indent="-342900">
              <a:spcAft>
                <a:spcPts val="1000"/>
              </a:spcAft>
              <a:buSzPct val="100000"/>
              <a:buChar char="•"/>
            </a:pPr>
            <a:r>
              <a:rPr lang="en-US" sz="1500" dirty="0">
                <a:solidFill>
                  <a:schemeClr val="tx1"/>
                </a:solidFill>
              </a:rPr>
              <a:t>Different datasets, many of them private</a:t>
            </a:r>
            <a:endParaRPr lang="en-US" sz="1500" dirty="0"/>
          </a:p>
          <a:p>
            <a:pPr marL="342900" indent="-342900">
              <a:spcAft>
                <a:spcPts val="1000"/>
              </a:spcAft>
              <a:buSzPct val="100000"/>
              <a:buChar char="•"/>
            </a:pPr>
            <a:r>
              <a:rPr lang="en-US" sz="1500" dirty="0">
                <a:solidFill>
                  <a:schemeClr val="tx1"/>
                </a:solidFill>
              </a:rPr>
              <a:t>Different numbers of classes, from 10 digits to 360</a:t>
            </a:r>
            <a:endParaRPr lang="en-US" sz="1500" dirty="0"/>
          </a:p>
          <a:p>
            <a:pPr marL="342900" indent="-342900">
              <a:spcAft>
                <a:spcPts val="1000"/>
              </a:spcAft>
              <a:buSzPct val="100000"/>
              <a:buChar char="•"/>
            </a:pPr>
            <a:r>
              <a:rPr lang="en-US" sz="1500" dirty="0">
                <a:solidFill>
                  <a:schemeClr val="tx1"/>
                </a:solidFill>
              </a:rPr>
              <a:t>Some report validation or even training accuracy instead of test accuracy</a:t>
            </a:r>
            <a:endParaRPr lang="en-US" sz="1500" dirty="0"/>
          </a:p>
          <a:p>
            <a:pPr marL="342900" indent="-342900">
              <a:spcAft>
                <a:spcPts val="1000"/>
              </a:spcAft>
              <a:buSzPct val="100000"/>
              <a:buChar char="•"/>
            </a:pPr>
            <a:r>
              <a:rPr lang="en-US" sz="1500" dirty="0">
                <a:solidFill>
                  <a:schemeClr val="tx1"/>
                </a:solidFill>
              </a:rPr>
              <a:t>Several papers give two different numbers for the same model</a:t>
            </a:r>
            <a:endParaRPr lang="en-US" sz="15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731520"/>
          </a:xfrm>
          <a:prstGeom prst="rect">
            <a:avLst/>
          </a:prstGeom>
          <a:noFill/>
          <a:ln/>
        </p:spPr>
        <p:txBody>
          <a:bodyPr wrap="square" rtlCol="0" anchor="ctr"/>
          <a:lstStyle/>
          <a:p>
            <a:pPr indent="0" marL="0">
              <a:buNone/>
            </a:pPr>
            <a:r>
              <a:rPr lang="en-US" sz="3000" b="1" dirty="0">
                <a:solidFill>
                  <a:schemeClr val="tx2"/>
                </a:solidFill>
                <a:latin typeface="Cambria" pitchFamily="34" charset="0"/>
                <a:ea typeface="Cambria" pitchFamily="34" charset="-122"/>
                <a:cs typeface="Cambria" pitchFamily="34" charset="-120"/>
              </a:rPr>
              <a:t>Four gaps we found</a:t>
            </a:r>
            <a:endParaRPr lang="en-US" sz="3000" dirty="0"/>
          </a:p>
        </p:txBody>
      </p:sp>
      <p:sp>
        <p:nvSpPr>
          <p:cNvPr id="3" name="Gap 1 card"/>
          <p:cNvSpPr/>
          <p:nvPr/>
        </p:nvSpPr>
        <p:spPr>
          <a:xfrm>
            <a:off x="548640" y="1325880"/>
            <a:ext cx="5440680" cy="2103120"/>
          </a:xfrm>
          <a:prstGeom prst="roundRect">
            <a:avLst>
              <a:gd name="adj" fmla="val 5217"/>
            </a:avLst>
          </a:prstGeom>
          <a:solidFill>
            <a:schemeClr val="bg2"/>
          </a:solidFill>
          <a:ln/>
        </p:spPr>
      </p:sp>
      <p:sp>
        <p:nvSpPr>
          <p:cNvPr id="4" name="Gap 1 marker"/>
          <p:cNvSpPr/>
          <p:nvPr/>
        </p:nvSpPr>
        <p:spPr>
          <a:xfrm>
            <a:off x="822960" y="1600200"/>
            <a:ext cx="502920" cy="502920"/>
          </a:xfrm>
          <a:prstGeom prst="ellipse">
            <a:avLst/>
          </a:prstGeom>
          <a:solidFill>
            <a:schemeClr val="accent4"/>
          </a:solidFill>
          <a:ln/>
        </p:spPr>
      </p:sp>
      <p:sp>
        <p:nvSpPr>
          <p:cNvPr id="5" name="Gap 1 marker label"/>
          <p:cNvSpPr txBox="1"/>
          <p:nvPr/>
        </p:nvSpPr>
        <p:spPr>
          <a:xfrm>
            <a:off x="822960" y="160020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6" name="Text 4"/>
          <p:cNvSpPr txBox="1"/>
          <p:nvPr/>
        </p:nvSpPr>
        <p:spPr>
          <a:xfrm>
            <a:off x="1508760" y="1572768"/>
            <a:ext cx="4297680" cy="594360"/>
          </a:xfrm>
          <a:prstGeom prst="rect">
            <a:avLst/>
          </a:prstGeom>
          <a:noFill/>
          <a:ln/>
        </p:spPr>
        <p:txBody>
          <a:bodyPr wrap="square" lIns="0" tIns="0" rIns="0" bIns="0" rtlCol="0" anchor="ctr"/>
          <a:lstStyle/>
          <a:p>
            <a:pPr indent="0" marL="0">
              <a:buNone/>
            </a:pPr>
            <a:r>
              <a:rPr lang="en-US" sz="1800" b="1" dirty="0">
                <a:solidFill>
                  <a:schemeClr val="tx1"/>
                </a:solidFill>
              </a:rPr>
              <a:t>No proper features for classical models</a:t>
            </a:r>
            <a:endParaRPr lang="en-US" sz="1800" dirty="0"/>
          </a:p>
        </p:txBody>
      </p:sp>
      <p:sp>
        <p:nvSpPr>
          <p:cNvPr id="7" name="Text 5"/>
          <p:cNvSpPr txBox="1"/>
          <p:nvPr/>
        </p:nvSpPr>
        <p:spPr>
          <a:xfrm>
            <a:off x="1508760" y="2194560"/>
            <a:ext cx="4297680" cy="731520"/>
          </a:xfrm>
          <a:prstGeom prst="rect">
            <a:avLst/>
          </a:prstGeom>
          <a:noFill/>
          <a:ln/>
        </p:spPr>
        <p:txBody>
          <a:bodyPr wrap="square" lIns="0" tIns="0" rIns="0" bIns="0" rtlCol="0" anchor="t"/>
          <a:lstStyle/>
          <a:p>
            <a:pPr indent="0" marL="0">
              <a:buNone/>
            </a:pPr>
            <a:r>
              <a:rPr lang="en-US" sz="1500" dirty="0">
                <a:solidFill>
                  <a:schemeClr val="tx1"/>
                </a:solidFill>
              </a:rPr>
              <a:t>Classical models were given raw pixels or one feature at a time.</a:t>
            </a:r>
            <a:endParaRPr lang="en-US" sz="1500" dirty="0"/>
          </a:p>
        </p:txBody>
      </p:sp>
      <p:sp>
        <p:nvSpPr>
          <p:cNvPr id="8" name="Text 6"/>
          <p:cNvSpPr txBox="1"/>
          <p:nvPr/>
        </p:nvSpPr>
        <p:spPr>
          <a:xfrm>
            <a:off x="1508760" y="2971800"/>
            <a:ext cx="4297680" cy="320040"/>
          </a:xfrm>
          <a:prstGeom prst="rect">
            <a:avLst/>
          </a:prstGeom>
          <a:noFill/>
          <a:ln/>
        </p:spPr>
        <p:txBody>
          <a:bodyPr wrap="square" lIns="0" tIns="0" rIns="0" bIns="0" rtlCol="0" anchor="ctr"/>
          <a:lstStyle/>
          <a:p>
            <a:pPr indent="0" marL="0">
              <a:buNone/>
            </a:pPr>
            <a:r>
              <a:rPr lang="en-US" sz="1200" i="1" dirty="0">
                <a:solidFill>
                  <a:schemeClr val="tx2"/>
                </a:solidFill>
              </a:rPr>
              <a:t>Papers 14, 26, 28</a:t>
            </a:r>
            <a:endParaRPr lang="en-US" sz="1200" dirty="0"/>
          </a:p>
        </p:txBody>
      </p:sp>
      <p:sp>
        <p:nvSpPr>
          <p:cNvPr id="9" name="Gap 2 card"/>
          <p:cNvSpPr/>
          <p:nvPr/>
        </p:nvSpPr>
        <p:spPr>
          <a:xfrm>
            <a:off x="6172200" y="1325880"/>
            <a:ext cx="5440680" cy="2103120"/>
          </a:xfrm>
          <a:prstGeom prst="roundRect">
            <a:avLst>
              <a:gd name="adj" fmla="val 5217"/>
            </a:avLst>
          </a:prstGeom>
          <a:solidFill>
            <a:schemeClr val="bg2"/>
          </a:solidFill>
          <a:ln/>
        </p:spPr>
      </p:sp>
      <p:sp>
        <p:nvSpPr>
          <p:cNvPr id="10" name="Gap 2 marker"/>
          <p:cNvSpPr/>
          <p:nvPr/>
        </p:nvSpPr>
        <p:spPr>
          <a:xfrm>
            <a:off x="6446520" y="1600200"/>
            <a:ext cx="502920" cy="502920"/>
          </a:xfrm>
          <a:prstGeom prst="ellipse">
            <a:avLst/>
          </a:prstGeom>
          <a:solidFill>
            <a:schemeClr val="accent4"/>
          </a:solidFill>
          <a:ln/>
        </p:spPr>
      </p:sp>
      <p:sp>
        <p:nvSpPr>
          <p:cNvPr id="11" name="Gap 2 marker label"/>
          <p:cNvSpPr txBox="1"/>
          <p:nvPr/>
        </p:nvSpPr>
        <p:spPr>
          <a:xfrm>
            <a:off x="6446520" y="160020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2" name="Text 10"/>
          <p:cNvSpPr txBox="1"/>
          <p:nvPr/>
        </p:nvSpPr>
        <p:spPr>
          <a:xfrm>
            <a:off x="7132320" y="1572768"/>
            <a:ext cx="4297680" cy="594360"/>
          </a:xfrm>
          <a:prstGeom prst="rect">
            <a:avLst/>
          </a:prstGeom>
          <a:noFill/>
          <a:ln/>
        </p:spPr>
        <p:txBody>
          <a:bodyPr wrap="square" lIns="0" tIns="0" rIns="0" bIns="0" rtlCol="0" anchor="ctr"/>
          <a:lstStyle/>
          <a:p>
            <a:pPr indent="0" marL="0">
              <a:buNone/>
            </a:pPr>
            <a:r>
              <a:rPr lang="en-US" sz="1800" b="1" dirty="0">
                <a:solidFill>
                  <a:schemeClr val="tx1"/>
                </a:solidFill>
              </a:rPr>
              <a:t>Models never combined</a:t>
            </a:r>
            <a:endParaRPr lang="en-US" sz="1800" dirty="0"/>
          </a:p>
        </p:txBody>
      </p:sp>
      <p:sp>
        <p:nvSpPr>
          <p:cNvPr id="13" name="Text 11"/>
          <p:cNvSpPr txBox="1"/>
          <p:nvPr/>
        </p:nvSpPr>
        <p:spPr>
          <a:xfrm>
            <a:off x="7132320" y="2194560"/>
            <a:ext cx="4297680" cy="731520"/>
          </a:xfrm>
          <a:prstGeom prst="rect">
            <a:avLst/>
          </a:prstGeom>
          <a:noFill/>
          <a:ln/>
        </p:spPr>
        <p:txBody>
          <a:bodyPr wrap="square" lIns="0" tIns="0" rIns="0" bIns="0" rtlCol="0" anchor="t"/>
          <a:lstStyle/>
          <a:p>
            <a:pPr indent="0" marL="0">
              <a:buNone/>
            </a:pPr>
            <a:r>
              <a:rPr lang="en-US" sz="1500" dirty="0">
                <a:solidFill>
                  <a:schemeClr val="tx1"/>
                </a:solidFill>
              </a:rPr>
              <a:t>Random Forest and XGBoost were tried, but on deep features and one at a time.</a:t>
            </a:r>
            <a:endParaRPr lang="en-US" sz="1500" dirty="0"/>
          </a:p>
        </p:txBody>
      </p:sp>
      <p:sp>
        <p:nvSpPr>
          <p:cNvPr id="14" name="Text 12"/>
          <p:cNvSpPr txBox="1"/>
          <p:nvPr/>
        </p:nvSpPr>
        <p:spPr>
          <a:xfrm>
            <a:off x="7132320" y="2971800"/>
            <a:ext cx="4297680" cy="320040"/>
          </a:xfrm>
          <a:prstGeom prst="rect">
            <a:avLst/>
          </a:prstGeom>
          <a:noFill/>
          <a:ln/>
        </p:spPr>
        <p:txBody>
          <a:bodyPr wrap="square" lIns="0" tIns="0" rIns="0" bIns="0" rtlCol="0" anchor="ctr"/>
          <a:lstStyle/>
          <a:p>
            <a:pPr indent="0" marL="0">
              <a:buNone/>
            </a:pPr>
            <a:r>
              <a:rPr lang="en-US" sz="1200" i="1" dirty="0">
                <a:solidFill>
                  <a:schemeClr val="tx2"/>
                </a:solidFill>
              </a:rPr>
              <a:t>Paper 21</a:t>
            </a:r>
            <a:endParaRPr lang="en-US" sz="1200" dirty="0"/>
          </a:p>
        </p:txBody>
      </p:sp>
      <p:sp>
        <p:nvSpPr>
          <p:cNvPr id="15" name="Gap 3 card"/>
          <p:cNvSpPr/>
          <p:nvPr/>
        </p:nvSpPr>
        <p:spPr>
          <a:xfrm>
            <a:off x="548640" y="3657600"/>
            <a:ext cx="5440680" cy="2103120"/>
          </a:xfrm>
          <a:prstGeom prst="roundRect">
            <a:avLst>
              <a:gd name="adj" fmla="val 5217"/>
            </a:avLst>
          </a:prstGeom>
          <a:solidFill>
            <a:schemeClr val="bg2"/>
          </a:solidFill>
          <a:ln/>
        </p:spPr>
      </p:sp>
      <p:sp>
        <p:nvSpPr>
          <p:cNvPr id="16" name="Gap 3 marker"/>
          <p:cNvSpPr/>
          <p:nvPr/>
        </p:nvSpPr>
        <p:spPr>
          <a:xfrm>
            <a:off x="822960" y="3931920"/>
            <a:ext cx="502920" cy="502920"/>
          </a:xfrm>
          <a:prstGeom prst="ellipse">
            <a:avLst/>
          </a:prstGeom>
          <a:solidFill>
            <a:schemeClr val="accent4"/>
          </a:solidFill>
          <a:ln/>
        </p:spPr>
      </p:sp>
      <p:sp>
        <p:nvSpPr>
          <p:cNvPr id="17" name="Gap 3 marker label"/>
          <p:cNvSpPr txBox="1"/>
          <p:nvPr/>
        </p:nvSpPr>
        <p:spPr>
          <a:xfrm>
            <a:off x="822960" y="393192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8" name="Text 16"/>
          <p:cNvSpPr txBox="1"/>
          <p:nvPr/>
        </p:nvSpPr>
        <p:spPr>
          <a:xfrm>
            <a:off x="1508760" y="3904488"/>
            <a:ext cx="4297680" cy="594360"/>
          </a:xfrm>
          <a:prstGeom prst="rect">
            <a:avLst/>
          </a:prstGeom>
          <a:noFill/>
          <a:ln/>
        </p:spPr>
        <p:txBody>
          <a:bodyPr wrap="square" lIns="0" tIns="0" rIns="0" bIns="0" rtlCol="0" anchor="ctr"/>
          <a:lstStyle/>
          <a:p>
            <a:pPr indent="0" marL="0">
              <a:buNone/>
            </a:pPr>
            <a:r>
              <a:rPr lang="en-US" sz="1800" b="1" dirty="0">
                <a:solidFill>
                  <a:schemeClr val="tx1"/>
                </a:solidFill>
              </a:rPr>
              <a:t>No explanations, no list of confusions</a:t>
            </a:r>
            <a:endParaRPr lang="en-US" sz="1800" dirty="0"/>
          </a:p>
        </p:txBody>
      </p:sp>
      <p:sp>
        <p:nvSpPr>
          <p:cNvPr id="19" name="Text 17"/>
          <p:cNvSpPr txBox="1"/>
          <p:nvPr/>
        </p:nvSpPr>
        <p:spPr>
          <a:xfrm>
            <a:off x="1508760" y="4526280"/>
            <a:ext cx="4297680" cy="731520"/>
          </a:xfrm>
          <a:prstGeom prst="rect">
            <a:avLst/>
          </a:prstGeom>
          <a:noFill/>
          <a:ln/>
        </p:spPr>
        <p:txBody>
          <a:bodyPr wrap="square" lIns="0" tIns="0" rIns="0" bIns="0" rtlCol="0" anchor="t"/>
          <a:lstStyle/>
          <a:p>
            <a:pPr indent="0" marL="0">
              <a:buNone/>
            </a:pPr>
            <a:r>
              <a:rPr lang="en-US" sz="1500" dirty="0">
                <a:solidFill>
                  <a:schemeClr val="tx1"/>
                </a:solidFill>
              </a:rPr>
              <a:t>Everyone says look-alike letters are the problem, nobody lists them or shows why.</a:t>
            </a:r>
            <a:endParaRPr lang="en-US" sz="1500" dirty="0"/>
          </a:p>
        </p:txBody>
      </p:sp>
      <p:sp>
        <p:nvSpPr>
          <p:cNvPr id="20" name="Text 18"/>
          <p:cNvSpPr txBox="1"/>
          <p:nvPr/>
        </p:nvSpPr>
        <p:spPr>
          <a:xfrm>
            <a:off x="1508760" y="5303520"/>
            <a:ext cx="4297680" cy="320040"/>
          </a:xfrm>
          <a:prstGeom prst="rect">
            <a:avLst/>
          </a:prstGeom>
          <a:noFill/>
          <a:ln/>
        </p:spPr>
        <p:txBody>
          <a:bodyPr wrap="square" lIns="0" tIns="0" rIns="0" bIns="0" rtlCol="0" anchor="ctr"/>
          <a:lstStyle/>
          <a:p>
            <a:pPr indent="0" marL="0">
              <a:buNone/>
            </a:pPr>
            <a:r>
              <a:rPr lang="en-US" sz="1200" i="1" dirty="0">
                <a:solidFill>
                  <a:schemeClr val="tx2"/>
                </a:solidFill>
              </a:rPr>
              <a:t>Papers 6, 26</a:t>
            </a:r>
            <a:endParaRPr lang="en-US" sz="1200" dirty="0"/>
          </a:p>
        </p:txBody>
      </p:sp>
      <p:sp>
        <p:nvSpPr>
          <p:cNvPr id="21" name="Gap 4 card"/>
          <p:cNvSpPr/>
          <p:nvPr/>
        </p:nvSpPr>
        <p:spPr>
          <a:xfrm>
            <a:off x="6172200" y="3657600"/>
            <a:ext cx="5440680" cy="2103120"/>
          </a:xfrm>
          <a:prstGeom prst="roundRect">
            <a:avLst>
              <a:gd name="adj" fmla="val 5217"/>
            </a:avLst>
          </a:prstGeom>
          <a:solidFill>
            <a:schemeClr val="bg2"/>
          </a:solidFill>
          <a:ln/>
        </p:spPr>
      </p:sp>
      <p:sp>
        <p:nvSpPr>
          <p:cNvPr id="22" name="Gap 4 marker"/>
          <p:cNvSpPr/>
          <p:nvPr/>
        </p:nvSpPr>
        <p:spPr>
          <a:xfrm>
            <a:off x="6446520" y="3931920"/>
            <a:ext cx="502920" cy="502920"/>
          </a:xfrm>
          <a:prstGeom prst="ellipse">
            <a:avLst/>
          </a:prstGeom>
          <a:solidFill>
            <a:schemeClr val="accent4"/>
          </a:solidFill>
          <a:ln/>
        </p:spPr>
      </p:sp>
      <p:sp>
        <p:nvSpPr>
          <p:cNvPr id="23" name="Gap 4 marker label"/>
          <p:cNvSpPr txBox="1"/>
          <p:nvPr/>
        </p:nvSpPr>
        <p:spPr>
          <a:xfrm>
            <a:off x="6446520" y="393192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24" name="Text 22"/>
          <p:cNvSpPr txBox="1"/>
          <p:nvPr/>
        </p:nvSpPr>
        <p:spPr>
          <a:xfrm>
            <a:off x="7132320" y="3904488"/>
            <a:ext cx="4297680" cy="594360"/>
          </a:xfrm>
          <a:prstGeom prst="rect">
            <a:avLst/>
          </a:prstGeom>
          <a:noFill/>
          <a:ln/>
        </p:spPr>
        <p:txBody>
          <a:bodyPr wrap="square" lIns="0" tIns="0" rIns="0" bIns="0" rtlCol="0" anchor="ctr"/>
          <a:lstStyle/>
          <a:p>
            <a:pPr indent="0" marL="0">
              <a:buNone/>
            </a:pPr>
            <a:r>
              <a:rPr lang="en-US" sz="1800" b="1" dirty="0">
                <a:solidFill>
                  <a:schemeClr val="tx1"/>
                </a:solidFill>
              </a:rPr>
              <a:t>Big networks, small data</a:t>
            </a:r>
            <a:endParaRPr lang="en-US" sz="1800" dirty="0"/>
          </a:p>
        </p:txBody>
      </p:sp>
      <p:sp>
        <p:nvSpPr>
          <p:cNvPr id="25" name="Text 23"/>
          <p:cNvSpPr txBox="1"/>
          <p:nvPr/>
        </p:nvSpPr>
        <p:spPr>
          <a:xfrm>
            <a:off x="7132320" y="4526280"/>
            <a:ext cx="4297680" cy="731520"/>
          </a:xfrm>
          <a:prstGeom prst="rect">
            <a:avLst/>
          </a:prstGeom>
          <a:noFill/>
          <a:ln/>
        </p:spPr>
        <p:txBody>
          <a:bodyPr wrap="square" lIns="0" tIns="0" rIns="0" bIns="0" rtlCol="0" anchor="t"/>
          <a:lstStyle/>
          <a:p>
            <a:pPr indent="0" marL="0">
              <a:buNone/>
            </a:pPr>
            <a:r>
              <a:rPr lang="en-US" sz="1500" dirty="0">
                <a:solidFill>
                  <a:schemeClr val="tx1"/>
                </a:solidFill>
              </a:rPr>
              <a:t>CNNs trained on 90 or fewer images per letter overfit.</a:t>
            </a:r>
            <a:endParaRPr lang="en-US" sz="1500" dirty="0"/>
          </a:p>
        </p:txBody>
      </p:sp>
      <p:sp>
        <p:nvSpPr>
          <p:cNvPr id="26" name="Text 24"/>
          <p:cNvSpPr txBox="1"/>
          <p:nvPr/>
        </p:nvSpPr>
        <p:spPr>
          <a:xfrm>
            <a:off x="7132320" y="5303520"/>
            <a:ext cx="4297680" cy="320040"/>
          </a:xfrm>
          <a:prstGeom prst="rect">
            <a:avLst/>
          </a:prstGeom>
          <a:noFill/>
          <a:ln/>
        </p:spPr>
        <p:txBody>
          <a:bodyPr wrap="square" lIns="0" tIns="0" rIns="0" bIns="0" rtlCol="0" anchor="ctr"/>
          <a:lstStyle/>
          <a:p>
            <a:pPr indent="0" marL="0">
              <a:buNone/>
            </a:pPr>
            <a:r>
              <a:rPr lang="en-US" sz="1200" i="1" dirty="0">
                <a:solidFill>
                  <a:schemeClr val="tx2"/>
                </a:solidFill>
              </a:rPr>
              <a:t>Papers 4, 7</a:t>
            </a:r>
            <a:endParaRPr lang="en-US" sz="12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731520"/>
          </a:xfrm>
          <a:prstGeom prst="rect">
            <a:avLst/>
          </a:prstGeom>
          <a:noFill/>
          <a:ln/>
        </p:spPr>
        <p:txBody>
          <a:bodyPr wrap="square" rtlCol="0" anchor="ctr"/>
          <a:lstStyle/>
          <a:p>
            <a:pPr indent="0" marL="0">
              <a:buNone/>
            </a:pPr>
            <a:r>
              <a:rPr lang="en-US" sz="3000" b="1" dirty="0">
                <a:solidFill>
                  <a:schemeClr val="tx2"/>
                </a:solidFill>
                <a:latin typeface="Cambria" pitchFamily="34" charset="0"/>
                <a:ea typeface="Cambria" pitchFamily="34" charset="-122"/>
                <a:cs typeface="Cambria" pitchFamily="34" charset="-120"/>
              </a:rPr>
              <a:t>Our objectives</a:t>
            </a:r>
            <a:endParaRPr lang="en-US" sz="3000" dirty="0"/>
          </a:p>
        </p:txBody>
      </p:sp>
      <p:sp>
        <p:nvSpPr>
          <p:cNvPr id="3" name="Objective 1 marker"/>
          <p:cNvSpPr/>
          <p:nvPr/>
        </p:nvSpPr>
        <p:spPr>
          <a:xfrm>
            <a:off x="548640" y="1389888"/>
            <a:ext cx="640080" cy="640080"/>
          </a:xfrm>
          <a:prstGeom prst="ellipse">
            <a:avLst/>
          </a:prstGeom>
          <a:solidFill>
            <a:schemeClr val="accent1"/>
          </a:solidFill>
          <a:ln/>
        </p:spPr>
      </p:sp>
      <p:sp>
        <p:nvSpPr>
          <p:cNvPr id="4" name="Objective 1 marker label"/>
          <p:cNvSpPr txBox="1"/>
          <p:nvPr/>
        </p:nvSpPr>
        <p:spPr>
          <a:xfrm>
            <a:off x="548640" y="1389888"/>
            <a:ext cx="640080" cy="64008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5" name="Text 3"/>
          <p:cNvSpPr txBox="1"/>
          <p:nvPr/>
        </p:nvSpPr>
        <p:spPr>
          <a:xfrm>
            <a:off x="1417320" y="1280160"/>
            <a:ext cx="10149840" cy="548640"/>
          </a:xfrm>
          <a:prstGeom prst="rect">
            <a:avLst/>
          </a:prstGeom>
          <a:noFill/>
          <a:ln/>
        </p:spPr>
        <p:txBody>
          <a:bodyPr wrap="square" lIns="0" tIns="0" rIns="0" bIns="0" rtlCol="0" anchor="ctr"/>
          <a:lstStyle/>
          <a:p>
            <a:pPr indent="0" marL="0">
              <a:buNone/>
            </a:pPr>
            <a:r>
              <a:rPr lang="en-US" sz="1800" b="1" dirty="0">
                <a:solidFill>
                  <a:schemeClr val="tx1"/>
                </a:solidFill>
              </a:rPr>
              <a:t>Recognise 57 handwritten Modi characters using HOG, Zernike moments and LBP features instead of raw pixels</a:t>
            </a:r>
            <a:endParaRPr lang="en-US" sz="1800" dirty="0"/>
          </a:p>
        </p:txBody>
      </p:sp>
      <p:sp>
        <p:nvSpPr>
          <p:cNvPr id="6" name="Text 4"/>
          <p:cNvSpPr txBox="1"/>
          <p:nvPr/>
        </p:nvSpPr>
        <p:spPr>
          <a:xfrm>
            <a:off x="1417320" y="1828800"/>
            <a:ext cx="10149840" cy="365760"/>
          </a:xfrm>
          <a:prstGeom prst="rect">
            <a:avLst/>
          </a:prstGeom>
          <a:noFill/>
          <a:ln/>
        </p:spPr>
        <p:txBody>
          <a:bodyPr wrap="square" lIns="0" tIns="0" rIns="0" bIns="0" rtlCol="0" anchor="ctr"/>
          <a:lstStyle/>
          <a:p>
            <a:pPr indent="0" marL="0">
              <a:buNone/>
            </a:pPr>
            <a:r>
              <a:rPr lang="en-US" sz="1400" i="1" dirty="0">
                <a:solidFill>
                  <a:schemeClr val="tx2"/>
                </a:solidFill>
              </a:rPr>
              <a:t>Based on Kulkarni et al. 2014, Mandke et al. 2024, Anam &amp; Gupta 2015</a:t>
            </a:r>
            <a:endParaRPr lang="en-US" sz="1400" dirty="0"/>
          </a:p>
        </p:txBody>
      </p:sp>
      <p:sp>
        <p:nvSpPr>
          <p:cNvPr id="7" name="Objective 2 marker"/>
          <p:cNvSpPr/>
          <p:nvPr/>
        </p:nvSpPr>
        <p:spPr>
          <a:xfrm>
            <a:off x="548640" y="2578608"/>
            <a:ext cx="640080" cy="640080"/>
          </a:xfrm>
          <a:prstGeom prst="ellipse">
            <a:avLst/>
          </a:prstGeom>
          <a:solidFill>
            <a:schemeClr val="accent1"/>
          </a:solidFill>
          <a:ln/>
        </p:spPr>
      </p:sp>
      <p:sp>
        <p:nvSpPr>
          <p:cNvPr id="8" name="Objective 2 marker label"/>
          <p:cNvSpPr txBox="1"/>
          <p:nvPr/>
        </p:nvSpPr>
        <p:spPr>
          <a:xfrm>
            <a:off x="548640" y="2578608"/>
            <a:ext cx="640080" cy="64008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9" name="Text 7"/>
          <p:cNvSpPr txBox="1"/>
          <p:nvPr/>
        </p:nvSpPr>
        <p:spPr>
          <a:xfrm>
            <a:off x="1417320" y="2468880"/>
            <a:ext cx="10149840" cy="548640"/>
          </a:xfrm>
          <a:prstGeom prst="rect">
            <a:avLst/>
          </a:prstGeom>
          <a:noFill/>
          <a:ln/>
        </p:spPr>
        <p:txBody>
          <a:bodyPr wrap="square" lIns="0" tIns="0" rIns="0" bIns="0" rtlCol="0" anchor="ctr"/>
          <a:lstStyle/>
          <a:p>
            <a:pPr indent="0" marL="0">
              <a:buNone/>
            </a:pPr>
            <a:r>
              <a:rPr lang="en-US" sz="1800" b="1" dirty="0">
                <a:solidFill>
                  <a:schemeClr val="tx1"/>
                </a:solidFill>
              </a:rPr>
              <a:t>Compare Random Forest, SVM and XGBoost, and check whether stacking them gives better accuracy</a:t>
            </a:r>
            <a:endParaRPr lang="en-US" sz="1800" dirty="0"/>
          </a:p>
        </p:txBody>
      </p:sp>
      <p:sp>
        <p:nvSpPr>
          <p:cNvPr id="10" name="Text 8"/>
          <p:cNvSpPr txBox="1"/>
          <p:nvPr/>
        </p:nvSpPr>
        <p:spPr>
          <a:xfrm>
            <a:off x="1417320" y="3017520"/>
            <a:ext cx="10149840" cy="365760"/>
          </a:xfrm>
          <a:prstGeom prst="rect">
            <a:avLst/>
          </a:prstGeom>
          <a:noFill/>
          <a:ln/>
        </p:spPr>
        <p:txBody>
          <a:bodyPr wrap="square" lIns="0" tIns="0" rIns="0" bIns="0" rtlCol="0" anchor="ctr"/>
          <a:lstStyle/>
          <a:p>
            <a:pPr indent="0" marL="0">
              <a:buNone/>
            </a:pPr>
            <a:r>
              <a:rPr lang="en-US" sz="1400" i="1" dirty="0">
                <a:solidFill>
                  <a:schemeClr val="tx2"/>
                </a:solidFill>
              </a:rPr>
              <a:t>Based on Ekbote et al. 2022</a:t>
            </a:r>
            <a:endParaRPr lang="en-US" sz="1400" dirty="0"/>
          </a:p>
        </p:txBody>
      </p:sp>
      <p:sp>
        <p:nvSpPr>
          <p:cNvPr id="11" name="Objective 3 marker"/>
          <p:cNvSpPr/>
          <p:nvPr/>
        </p:nvSpPr>
        <p:spPr>
          <a:xfrm>
            <a:off x="548640" y="3767328"/>
            <a:ext cx="640080" cy="640080"/>
          </a:xfrm>
          <a:prstGeom prst="ellipse">
            <a:avLst/>
          </a:prstGeom>
          <a:solidFill>
            <a:schemeClr val="accent1"/>
          </a:solidFill>
          <a:ln/>
        </p:spPr>
      </p:sp>
      <p:sp>
        <p:nvSpPr>
          <p:cNvPr id="12" name="Objective 3 marker label"/>
          <p:cNvSpPr txBox="1"/>
          <p:nvPr/>
        </p:nvSpPr>
        <p:spPr>
          <a:xfrm>
            <a:off x="548640" y="3767328"/>
            <a:ext cx="640080" cy="64008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3" name="Text 11"/>
          <p:cNvSpPr txBox="1"/>
          <p:nvPr/>
        </p:nvSpPr>
        <p:spPr>
          <a:xfrm>
            <a:off x="1417320" y="3657600"/>
            <a:ext cx="10149840" cy="548640"/>
          </a:xfrm>
          <a:prstGeom prst="rect">
            <a:avLst/>
          </a:prstGeom>
          <a:noFill/>
          <a:ln/>
        </p:spPr>
        <p:txBody>
          <a:bodyPr wrap="square" lIns="0" tIns="0" rIns="0" bIns="0" rtlCol="0" anchor="ctr"/>
          <a:lstStyle/>
          <a:p>
            <a:pPr indent="0" marL="0">
              <a:buNone/>
            </a:pPr>
            <a:r>
              <a:rPr lang="en-US" sz="1800" b="1" dirty="0">
                <a:solidFill>
                  <a:schemeClr val="tx1"/>
                </a:solidFill>
              </a:rPr>
              <a:t>Use SHAP to show which part of a character the model looked at, and list the most confused pairs</a:t>
            </a:r>
            <a:endParaRPr lang="en-US" sz="1800" dirty="0"/>
          </a:p>
        </p:txBody>
      </p:sp>
      <p:sp>
        <p:nvSpPr>
          <p:cNvPr id="14" name="Text 12"/>
          <p:cNvSpPr txBox="1"/>
          <p:nvPr/>
        </p:nvSpPr>
        <p:spPr>
          <a:xfrm>
            <a:off x="1417320" y="4206240"/>
            <a:ext cx="10149840" cy="365760"/>
          </a:xfrm>
          <a:prstGeom prst="rect">
            <a:avLst/>
          </a:prstGeom>
          <a:noFill/>
          <a:ln/>
        </p:spPr>
        <p:txBody>
          <a:bodyPr wrap="square" lIns="0" tIns="0" rIns="0" bIns="0" rtlCol="0" anchor="ctr"/>
          <a:lstStyle/>
          <a:p>
            <a:pPr indent="0" marL="0">
              <a:buNone/>
            </a:pPr>
            <a:r>
              <a:rPr lang="en-US" sz="1400" i="1" dirty="0">
                <a:solidFill>
                  <a:schemeClr val="tx2"/>
                </a:solidFill>
              </a:rPr>
              <a:t>Based on Kolte &amp; Gupta 2025, Anam &amp; Gupta 2015</a:t>
            </a:r>
            <a:endParaRPr lang="en-US" sz="1400" dirty="0"/>
          </a:p>
        </p:txBody>
      </p:sp>
      <p:sp>
        <p:nvSpPr>
          <p:cNvPr id="15" name="Objective 4 marker"/>
          <p:cNvSpPr/>
          <p:nvPr/>
        </p:nvSpPr>
        <p:spPr>
          <a:xfrm>
            <a:off x="548640" y="4956048"/>
            <a:ext cx="640080" cy="640080"/>
          </a:xfrm>
          <a:prstGeom prst="ellipse">
            <a:avLst/>
          </a:prstGeom>
          <a:solidFill>
            <a:schemeClr val="accent1"/>
          </a:solidFill>
          <a:ln/>
        </p:spPr>
      </p:sp>
      <p:sp>
        <p:nvSpPr>
          <p:cNvPr id="16" name="Objective 4 marker label"/>
          <p:cNvSpPr txBox="1"/>
          <p:nvPr/>
        </p:nvSpPr>
        <p:spPr>
          <a:xfrm>
            <a:off x="548640" y="4956048"/>
            <a:ext cx="640080" cy="64008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17" name="Text 15"/>
          <p:cNvSpPr txBox="1"/>
          <p:nvPr/>
        </p:nvSpPr>
        <p:spPr>
          <a:xfrm>
            <a:off x="1417320" y="4846320"/>
            <a:ext cx="10149840" cy="548640"/>
          </a:xfrm>
          <a:prstGeom prst="rect">
            <a:avLst/>
          </a:prstGeom>
          <a:noFill/>
          <a:ln/>
        </p:spPr>
        <p:txBody>
          <a:bodyPr wrap="square" lIns="0" tIns="0" rIns="0" bIns="0" rtlCol="0" anchor="ctr"/>
          <a:lstStyle/>
          <a:p>
            <a:pPr indent="0" marL="0">
              <a:buNone/>
            </a:pPr>
            <a:r>
              <a:rPr lang="en-US" sz="1800" b="1" dirty="0">
                <a:solidFill>
                  <a:schemeClr val="tx1"/>
                </a:solidFill>
              </a:rPr>
              <a:t>Compare our model with a simple CNN trained on the same small amounts of data</a:t>
            </a:r>
            <a:endParaRPr lang="en-US" sz="1800" dirty="0"/>
          </a:p>
        </p:txBody>
      </p:sp>
      <p:sp>
        <p:nvSpPr>
          <p:cNvPr id="18" name="Text 16"/>
          <p:cNvSpPr txBox="1"/>
          <p:nvPr/>
        </p:nvSpPr>
        <p:spPr>
          <a:xfrm>
            <a:off x="1417320" y="5394960"/>
            <a:ext cx="10149840" cy="365760"/>
          </a:xfrm>
          <a:prstGeom prst="rect">
            <a:avLst/>
          </a:prstGeom>
          <a:noFill/>
          <a:ln/>
        </p:spPr>
        <p:txBody>
          <a:bodyPr wrap="square" lIns="0" tIns="0" rIns="0" bIns="0" rtlCol="0" anchor="ctr"/>
          <a:lstStyle/>
          <a:p>
            <a:pPr indent="0" marL="0">
              <a:buNone/>
            </a:pPr>
            <a:r>
              <a:rPr lang="en-US" sz="1400" i="1" dirty="0">
                <a:solidFill>
                  <a:schemeClr val="tx2"/>
                </a:solidFill>
              </a:rPr>
              <a:t>Based on Bhong &amp; Kulkarni 2025, Chandankhede et al. 2025, Mandke et al. 2024</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731520" y="1463040"/>
            <a:ext cx="10698480" cy="914400"/>
          </a:xfrm>
          <a:prstGeom prst="rect">
            <a:avLst/>
          </a:prstGeom>
          <a:noFill/>
          <a:ln/>
        </p:spPr>
        <p:txBody>
          <a:bodyPr wrap="square" lIns="0" tIns="0" rIns="0" bIns="0" rtlCol="0" anchor="ctr"/>
          <a:lstStyle/>
          <a:p>
            <a:pPr indent="0" marL="0">
              <a:buNone/>
            </a:pPr>
            <a:r>
              <a:rPr lang="en-US" sz="4400" b="1" dirty="0">
                <a:solidFill>
                  <a:schemeClr val="bg1"/>
                </a:solidFill>
                <a:latin typeface="Cambria" pitchFamily="34" charset="0"/>
                <a:ea typeface="Cambria" pitchFamily="34" charset="-122"/>
                <a:cs typeface="Cambria" pitchFamily="34" charset="-120"/>
              </a:rPr>
              <a:t>Thank you</a:t>
            </a:r>
            <a:endParaRPr lang="en-US" sz="4400" dirty="0"/>
          </a:p>
        </p:txBody>
      </p:sp>
      <p:sp>
        <p:nvSpPr>
          <p:cNvPr id="3" name="Text 1"/>
          <p:cNvSpPr txBox="1"/>
          <p:nvPr/>
        </p:nvSpPr>
        <p:spPr>
          <a:xfrm>
            <a:off x="731520" y="2743200"/>
            <a:ext cx="10698480" cy="457200"/>
          </a:xfrm>
          <a:prstGeom prst="rect">
            <a:avLst/>
          </a:prstGeom>
          <a:noFill/>
          <a:ln/>
        </p:spPr>
        <p:txBody>
          <a:bodyPr wrap="square" lIns="0" tIns="0" rIns="0" bIns="0" rtlCol="0" anchor="ctr"/>
          <a:lstStyle/>
          <a:p>
            <a:pPr indent="0" marL="0">
              <a:buNone/>
            </a:pPr>
            <a:r>
              <a:rPr lang="en-US" sz="1800" dirty="0">
                <a:solidFill>
                  <a:schemeClr val="accent6"/>
                </a:solidFill>
              </a:rPr>
              <a:t>All 30 papers (PDFs): </a:t>
            </a:r>
            <a:pPr indent="0" marL="0">
              <a:buNone/>
            </a:pPr>
            <a:r>
              <a:rPr lang="en-US" sz="1800" u="sng" dirty="0">
                <a:solidFill>
                  <a:schemeClr val="bg1"/>
                </a:solidFill>
                <a:hlinkClick r:id="rId1" invalidUrl="" action="" tgtFrame="" tooltip="Open the Drive folder" history="1" highlightClick="0" endSnd="0">
                  <a:extLst>
                    <a:ext uri="{A12FA001-AC4F-418D-AE19-62706E023703}">
                      <ahyp:hlinkClr xmlns:ahyp="http://schemas.microsoft.com/office/drawing/2018/hyperlinkcolor" val="tx"/>
                    </a:ext>
                  </a:extLst>
                </a:hlinkClick>
              </a:rPr>
              <a:t>Literature Review Papers folder on Google Drive</a:t>
            </a:r>
            <a:endParaRPr lang="en-US" sz="1800" dirty="0"/>
          </a:p>
        </p:txBody>
      </p:sp>
      <p:sp>
        <p:nvSpPr>
          <p:cNvPr id="4" name="Text 2"/>
          <p:cNvSpPr txBox="1"/>
          <p:nvPr/>
        </p:nvSpPr>
        <p:spPr>
          <a:xfrm>
            <a:off x="731520" y="3291840"/>
            <a:ext cx="10698480" cy="822960"/>
          </a:xfrm>
          <a:prstGeom prst="rect">
            <a:avLst/>
          </a:prstGeom>
          <a:noFill/>
          <a:ln/>
        </p:spPr>
        <p:txBody>
          <a:bodyPr wrap="square" lIns="0" tIns="0" rIns="0" bIns="0" rtlCol="0" anchor="ctr"/>
          <a:lstStyle/>
          <a:p>
            <a:pPr indent="0" marL="0">
              <a:buNone/>
            </a:pPr>
            <a:r>
              <a:rPr lang="en-US" sz="1600" dirty="0">
                <a:solidFill>
                  <a:schemeClr val="accent5"/>
                </a:solidFill>
              </a:rPr>
              <a:t>Full details of every paper are in our literature survey sheet (Literature_Survey_30_Papers.xlsx), with a second sheet for the 7 base papers.</a:t>
            </a:r>
            <a:endParaRPr lang="en-US" sz="1600" dirty="0"/>
          </a:p>
        </p:txBody>
      </p:sp>
      <p:pic>
        <p:nvPicPr>
          <p:cNvPr id="5" name="Modi characters footer image" descr="Handwritten Modi characters">    </p:cNvPr>
          <p:cNvPicPr>
            <a:picLocks noChangeAspect="1"/>
          </p:cNvPicPr>
          <p:nvPr/>
        </p:nvPicPr>
        <p:blipFill>
          <a:blip r:embed="rId2"/>
          <a:stretch>
            <a:fillRect/>
          </a:stretch>
        </p:blipFill>
        <p:spPr>
          <a:xfrm>
            <a:off x="731520" y="4754880"/>
            <a:ext cx="6400800" cy="800100"/>
          </a:xfrm>
          <a:prstGeom prst="rect">
            <a:avLst/>
          </a:prstGeom>
        </p:spPr>
      </p:pic>
    </p:spTree>
  </p:cSld>
  <p:clrMapOvr>
    <a:masterClrMapping/>
  </p:clrMapOvr>
</p:sld>
</file>

<file path=ppt/theme/theme1.xml><?xml version="1.0" encoding="utf-8"?>
<a:theme xmlns:a="http://schemas.openxmlformats.org/drawingml/2006/main" name="Modi Ink">
  <a:themeElements>
    <a:clrScheme name="Modi Ink">
      <a:dk1>
        <a:srgbClr val="1B2944"/>
      </a:dk1>
      <a:lt1>
        <a:srgbClr val="FFFFFF"/>
      </a:lt1>
      <a:dk2>
        <a:srgbClr val="15295A"/>
      </a:dk2>
      <a:lt2>
        <a:srgbClr val="EEF2F8"/>
      </a:lt2>
      <a:accent1>
        <a:srgbClr val="2F63A8"/>
      </a:accent1>
      <a:accent2>
        <a:srgbClr val="B88A3E"/>
      </a:accent2>
      <a:accent3>
        <a:srgbClr val="3D7A47"/>
      </a:accent3>
      <a:accent4>
        <a:srgbClr val="A8433A"/>
      </a:accent4>
      <a:accent5>
        <a:srgbClr val="6F97C8"/>
      </a:accent5>
      <a:accent6>
        <a:srgbClr val="E9D8B0"/>
      </a:accent6>
      <a:hlink>
        <a:srgbClr val="2F63A8"/>
      </a:hlink>
      <a:folHlink>
        <a:srgbClr val="6D4C9F"/>
      </a:folHlink>
    </a:clrScheme>
    <a:fontScheme name="Modi In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Literature Review: Handwritten Modi Character Recognition</dc:title>
  <dc:subject>PptxGenJS Presentation</dc:subject>
  <dc:creator>Group TY-A2</dc:creator>
  <cp:lastModifiedBy>Group TY-A2</cp:lastModifiedBy>
  <cp:revision>1</cp:revision>
  <dcterms:created xsi:type="dcterms:W3CDTF">2026-10-26T02:17:05Z</dcterms:created>
  <dcterms:modified xsi:type="dcterms:W3CDTF">2026-10-26T02:17:05Z</dcterms:modified>
</cp:coreProperties>
</file>